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66" r:id="rId3"/>
    <p:sldId id="267" r:id="rId4"/>
    <p:sldId id="268" r:id="rId5"/>
    <p:sldId id="269" r:id="rId6"/>
    <p:sldId id="270" r:id="rId7"/>
    <p:sldId id="271" r:id="rId8"/>
    <p:sldId id="272" r:id="rId9"/>
    <p:sldId id="273" r:id="rId10"/>
    <p:sldId id="274" r:id="rId11"/>
    <p:sldId id="275" r:id="rId12"/>
    <p:sldId id="284" r:id="rId13"/>
    <p:sldId id="276" r:id="rId14"/>
    <p:sldId id="277" r:id="rId15"/>
    <p:sldId id="278" r:id="rId16"/>
    <p:sldId id="279" r:id="rId17"/>
    <p:sldId id="288" r:id="rId18"/>
    <p:sldId id="287" r:id="rId19"/>
    <p:sldId id="281" r:id="rId20"/>
    <p:sldId id="286" r:id="rId21"/>
    <p:sldId id="282" r:id="rId22"/>
    <p:sldId id="283" r:id="rId23"/>
    <p:sldId id="257" r:id="rId24"/>
    <p:sldId id="258" r:id="rId25"/>
    <p:sldId id="259" r:id="rId26"/>
    <p:sldId id="260" r:id="rId27"/>
    <p:sldId id="261" r:id="rId28"/>
    <p:sldId id="262" r:id="rId29"/>
    <p:sldId id="263" r:id="rId30"/>
    <p:sldId id="264" r:id="rId31"/>
    <p:sldId id="265" r:id="rId32"/>
    <p:sldId id="285"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78" autoAdjust="0"/>
    <p:restoredTop sz="94660"/>
  </p:normalViewPr>
  <p:slideViewPr>
    <p:cSldViewPr snapToGrid="0" showGuides="1">
      <p:cViewPr varScale="1">
        <p:scale>
          <a:sx n="70" d="100"/>
          <a:sy n="70" d="100"/>
        </p:scale>
        <p:origin x="584" y="48"/>
      </p:cViewPr>
      <p:guideLst>
        <p:guide orient="horz" pos="2160"/>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oojitha Rani" userId="3757261eacbed403" providerId="LiveId" clId="{A0191508-77F2-4763-A482-B2F57D26C8AE}"/>
    <pc:docChg chg="undo custSel addSld delSld modSld">
      <pc:chgData name="Poojitha Rani" userId="3757261eacbed403" providerId="LiveId" clId="{A0191508-77F2-4763-A482-B2F57D26C8AE}" dt="2026-10-12T05:18:30.402" v="40" actId="1076"/>
      <pc:docMkLst>
        <pc:docMk/>
      </pc:docMkLst>
      <pc:sldChg chg="addSp delSp modSp mod">
        <pc:chgData name="Poojitha Rani" userId="3757261eacbed403" providerId="LiveId" clId="{A0191508-77F2-4763-A482-B2F57D26C8AE}" dt="2026-10-12T05:13:47.331" v="35" actId="14100"/>
        <pc:sldMkLst>
          <pc:docMk/>
          <pc:sldMk cId="0" sldId="278"/>
        </pc:sldMkLst>
        <pc:spChg chg="add del mod">
          <ac:chgData name="Poojitha Rani" userId="3757261eacbed403" providerId="LiveId" clId="{A0191508-77F2-4763-A482-B2F57D26C8AE}" dt="2026-10-12T05:11:13.330" v="13"/>
          <ac:spMkLst>
            <pc:docMk/>
            <pc:sldMk cId="0" sldId="278"/>
            <ac:spMk id="4" creationId="{DB66AABE-0750-411A-0E4A-4C966B84C17B}"/>
          </ac:spMkLst>
        </pc:spChg>
        <pc:spChg chg="add del mod">
          <ac:chgData name="Poojitha Rani" userId="3757261eacbed403" providerId="LiveId" clId="{A0191508-77F2-4763-A482-B2F57D26C8AE}" dt="2026-10-12T05:13:38.210" v="32" actId="478"/>
          <ac:spMkLst>
            <pc:docMk/>
            <pc:sldMk cId="0" sldId="278"/>
            <ac:spMk id="10" creationId="{140010DF-FF1D-25B4-1FA6-C9F1B7539206}"/>
          </ac:spMkLst>
        </pc:spChg>
        <pc:picChg chg="add del">
          <ac:chgData name="Poojitha Rani" userId="3757261eacbed403" providerId="LiveId" clId="{A0191508-77F2-4763-A482-B2F57D26C8AE}" dt="2026-10-12T05:11:01.110" v="12" actId="22"/>
          <ac:picMkLst>
            <pc:docMk/>
            <pc:sldMk cId="0" sldId="278"/>
            <ac:picMk id="6" creationId="{5DF73C90-372A-D4A0-DAD2-CD5DDEE41829}"/>
          </ac:picMkLst>
        </pc:picChg>
        <pc:picChg chg="add del mod">
          <ac:chgData name="Poojitha Rani" userId="3757261eacbed403" providerId="LiveId" clId="{A0191508-77F2-4763-A482-B2F57D26C8AE}" dt="2026-10-12T05:11:28.202" v="14" actId="478"/>
          <ac:picMkLst>
            <pc:docMk/>
            <pc:sldMk cId="0" sldId="278"/>
            <ac:picMk id="7" creationId="{75D2FFD6-EC70-406D-7664-6C2FBE0EC5DF}"/>
          </ac:picMkLst>
        </pc:picChg>
        <pc:picChg chg="del">
          <ac:chgData name="Poojitha Rani" userId="3757261eacbed403" providerId="LiveId" clId="{A0191508-77F2-4763-A482-B2F57D26C8AE}" dt="2026-10-12T05:10:57.669" v="10" actId="478"/>
          <ac:picMkLst>
            <pc:docMk/>
            <pc:sldMk cId="0" sldId="278"/>
            <ac:picMk id="8" creationId="{00000000-0000-0000-0000-000000000000}"/>
          </ac:picMkLst>
        </pc:picChg>
        <pc:picChg chg="add mod">
          <ac:chgData name="Poojitha Rani" userId="3757261eacbed403" providerId="LiveId" clId="{A0191508-77F2-4763-A482-B2F57D26C8AE}" dt="2026-10-12T05:13:47.331" v="35" actId="14100"/>
          <ac:picMkLst>
            <pc:docMk/>
            <pc:sldMk cId="0" sldId="278"/>
            <ac:picMk id="12" creationId="{05B9EBC6-F21C-B426-FA65-6CC834E69939}"/>
          </ac:picMkLst>
        </pc:picChg>
      </pc:sldChg>
      <pc:sldChg chg="addSp delSp modSp mod">
        <pc:chgData name="Poojitha Rani" userId="3757261eacbed403" providerId="LiveId" clId="{A0191508-77F2-4763-A482-B2F57D26C8AE}" dt="2026-10-12T05:13:15.054" v="31" actId="14100"/>
        <pc:sldMkLst>
          <pc:docMk/>
          <pc:sldMk cId="0" sldId="279"/>
        </pc:sldMkLst>
        <pc:spChg chg="del">
          <ac:chgData name="Poojitha Rani" userId="3757261eacbed403" providerId="LiveId" clId="{A0191508-77F2-4763-A482-B2F57D26C8AE}" dt="2026-10-12T05:12:20.487" v="23" actId="478"/>
          <ac:spMkLst>
            <pc:docMk/>
            <pc:sldMk cId="0" sldId="279"/>
            <ac:spMk id="2" creationId="{00000000-0000-0000-0000-000000000000}"/>
          </ac:spMkLst>
        </pc:spChg>
        <pc:spChg chg="add del mod">
          <ac:chgData name="Poojitha Rani" userId="3757261eacbed403" providerId="LiveId" clId="{A0191508-77F2-4763-A482-B2F57D26C8AE}" dt="2026-10-12T05:12:23.677" v="24" actId="478"/>
          <ac:spMkLst>
            <pc:docMk/>
            <pc:sldMk cId="0" sldId="279"/>
            <ac:spMk id="4" creationId="{E782CB2B-027D-8367-2996-A515E924D1FD}"/>
          </ac:spMkLst>
        </pc:spChg>
        <pc:picChg chg="add del mod">
          <ac:chgData name="Poojitha Rani" userId="3757261eacbed403" providerId="LiveId" clId="{A0191508-77F2-4763-A482-B2F57D26C8AE}" dt="2026-10-12T05:12:48.921" v="28" actId="478"/>
          <ac:picMkLst>
            <pc:docMk/>
            <pc:sldMk cId="0" sldId="279"/>
            <ac:picMk id="6" creationId="{B12F9EF4-838B-94A7-2C5D-E95627F224CA}"/>
          </ac:picMkLst>
        </pc:picChg>
        <pc:picChg chg="del">
          <ac:chgData name="Poojitha Rani" userId="3757261eacbed403" providerId="LiveId" clId="{A0191508-77F2-4763-A482-B2F57D26C8AE}" dt="2026-10-12T05:11:31.690" v="15" actId="478"/>
          <ac:picMkLst>
            <pc:docMk/>
            <pc:sldMk cId="0" sldId="279"/>
            <ac:picMk id="8" creationId="{00000000-0000-0000-0000-000000000000}"/>
          </ac:picMkLst>
        </pc:picChg>
        <pc:picChg chg="add mod">
          <ac:chgData name="Poojitha Rani" userId="3757261eacbed403" providerId="LiveId" clId="{A0191508-77F2-4763-A482-B2F57D26C8AE}" dt="2026-10-12T05:13:15.054" v="31" actId="14100"/>
          <ac:picMkLst>
            <pc:docMk/>
            <pc:sldMk cId="0" sldId="279"/>
            <ac:picMk id="9" creationId="{F385187D-DE69-FFE3-6276-A4AA1B322F22}"/>
          </ac:picMkLst>
        </pc:picChg>
      </pc:sldChg>
      <pc:sldChg chg="del">
        <pc:chgData name="Poojitha Rani" userId="3757261eacbed403" providerId="LiveId" clId="{A0191508-77F2-4763-A482-B2F57D26C8AE}" dt="2026-10-12T05:11:35.140" v="16" actId="47"/>
        <pc:sldMkLst>
          <pc:docMk/>
          <pc:sldMk cId="0" sldId="280"/>
        </pc:sldMkLst>
      </pc:sldChg>
      <pc:sldChg chg="addSp delSp modSp add mod">
        <pc:chgData name="Poojitha Rani" userId="3757261eacbed403" providerId="LiveId" clId="{A0191508-77F2-4763-A482-B2F57D26C8AE}" dt="2026-10-12T05:10:00.326" v="9" actId="1076"/>
        <pc:sldMkLst>
          <pc:docMk/>
          <pc:sldMk cId="2950611364" sldId="286"/>
        </pc:sldMkLst>
        <pc:spChg chg="del">
          <ac:chgData name="Poojitha Rani" userId="3757261eacbed403" providerId="LiveId" clId="{A0191508-77F2-4763-A482-B2F57D26C8AE}" dt="2026-10-12T05:09:14.469" v="2" actId="478"/>
          <ac:spMkLst>
            <pc:docMk/>
            <pc:sldMk cId="2950611364" sldId="286"/>
            <ac:spMk id="2" creationId="{0164E174-D3D2-24F2-9B77-69ACA122671E}"/>
          </ac:spMkLst>
        </pc:spChg>
        <pc:spChg chg="add del mod">
          <ac:chgData name="Poojitha Rani" userId="3757261eacbed403" providerId="LiveId" clId="{A0191508-77F2-4763-A482-B2F57D26C8AE}" dt="2026-10-12T05:09:18.793" v="4" actId="478"/>
          <ac:spMkLst>
            <pc:docMk/>
            <pc:sldMk cId="2950611364" sldId="286"/>
            <ac:spMk id="4" creationId="{34076468-1B33-EE85-41B3-5D6A2D3E655A}"/>
          </ac:spMkLst>
        </pc:spChg>
        <pc:spChg chg="add del">
          <ac:chgData name="Poojitha Rani" userId="3757261eacbed403" providerId="LiveId" clId="{A0191508-77F2-4763-A482-B2F57D26C8AE}" dt="2026-10-12T05:09:46.028" v="6" actId="22"/>
          <ac:spMkLst>
            <pc:docMk/>
            <pc:sldMk cId="2950611364" sldId="286"/>
            <ac:spMk id="6" creationId="{6084B2A0-DABB-2B5D-661A-8FFDFDC7F419}"/>
          </ac:spMkLst>
        </pc:spChg>
        <pc:picChg chg="del">
          <ac:chgData name="Poojitha Rani" userId="3757261eacbed403" providerId="LiveId" clId="{A0191508-77F2-4763-A482-B2F57D26C8AE}" dt="2026-10-12T05:09:12.238" v="1" actId="478"/>
          <ac:picMkLst>
            <pc:docMk/>
            <pc:sldMk cId="2950611364" sldId="286"/>
            <ac:picMk id="7" creationId="{89A2E528-2359-F1C7-41B1-7ED141C4729E}"/>
          </ac:picMkLst>
        </pc:picChg>
        <pc:picChg chg="add mod">
          <ac:chgData name="Poojitha Rani" userId="3757261eacbed403" providerId="LiveId" clId="{A0191508-77F2-4763-A482-B2F57D26C8AE}" dt="2026-10-12T05:10:00.326" v="9" actId="1076"/>
          <ac:picMkLst>
            <pc:docMk/>
            <pc:sldMk cId="2950611364" sldId="286"/>
            <ac:picMk id="9" creationId="{4DC88B02-4505-22B2-8F51-32ABD7240DA1}"/>
          </ac:picMkLst>
        </pc:picChg>
      </pc:sldChg>
      <pc:sldChg chg="addSp delSp modSp add mod">
        <pc:chgData name="Poojitha Rani" userId="3757261eacbed403" providerId="LiveId" clId="{A0191508-77F2-4763-A482-B2F57D26C8AE}" dt="2026-10-12T05:12:15.655" v="22" actId="478"/>
        <pc:sldMkLst>
          <pc:docMk/>
          <pc:sldMk cId="2224478796" sldId="287"/>
        </pc:sldMkLst>
        <pc:spChg chg="del">
          <ac:chgData name="Poojitha Rani" userId="3757261eacbed403" providerId="LiveId" clId="{A0191508-77F2-4763-A482-B2F57D26C8AE}" dt="2026-10-12T05:12:13.113" v="21" actId="478"/>
          <ac:spMkLst>
            <pc:docMk/>
            <pc:sldMk cId="2224478796" sldId="287"/>
            <ac:spMk id="2" creationId="{EF6F7D1A-26D0-8439-32B3-068D2DADE28D}"/>
          </ac:spMkLst>
        </pc:spChg>
        <pc:spChg chg="del">
          <ac:chgData name="Poojitha Rani" userId="3757261eacbed403" providerId="LiveId" clId="{A0191508-77F2-4763-A482-B2F57D26C8AE}" dt="2026-10-12T05:12:15.655" v="22" actId="478"/>
          <ac:spMkLst>
            <pc:docMk/>
            <pc:sldMk cId="2224478796" sldId="287"/>
            <ac:spMk id="4" creationId="{350571EB-9550-2D0D-62FE-0EE7A4DE78A7}"/>
          </ac:spMkLst>
        </pc:spChg>
        <pc:picChg chg="add mod">
          <ac:chgData name="Poojitha Rani" userId="3757261eacbed403" providerId="LiveId" clId="{A0191508-77F2-4763-A482-B2F57D26C8AE}" dt="2026-10-12T05:12:08.651" v="20" actId="1076"/>
          <ac:picMkLst>
            <pc:docMk/>
            <pc:sldMk cId="2224478796" sldId="287"/>
            <ac:picMk id="5" creationId="{18620A54-664B-0660-E634-8570AAE79D30}"/>
          </ac:picMkLst>
        </pc:picChg>
      </pc:sldChg>
      <pc:sldChg chg="addSp delSp modSp add mod">
        <pc:chgData name="Poojitha Rani" userId="3757261eacbed403" providerId="LiveId" clId="{A0191508-77F2-4763-A482-B2F57D26C8AE}" dt="2026-10-12T05:18:30.402" v="40" actId="1076"/>
        <pc:sldMkLst>
          <pc:docMk/>
          <pc:sldMk cId="1000013848" sldId="288"/>
        </pc:sldMkLst>
        <pc:picChg chg="add mod">
          <ac:chgData name="Poojitha Rani" userId="3757261eacbed403" providerId="LiveId" clId="{A0191508-77F2-4763-A482-B2F57D26C8AE}" dt="2026-10-12T05:18:30.402" v="40" actId="1076"/>
          <ac:picMkLst>
            <pc:docMk/>
            <pc:sldMk cId="1000013848" sldId="288"/>
            <ac:picMk id="3" creationId="{DD0EE356-75A0-2539-0B44-376957D7DCDF}"/>
          </ac:picMkLst>
        </pc:picChg>
        <pc:picChg chg="del">
          <ac:chgData name="Poojitha Rani" userId="3757261eacbed403" providerId="LiveId" clId="{A0191508-77F2-4763-A482-B2F57D26C8AE}" dt="2026-10-12T05:18:25.011" v="37" actId="478"/>
          <ac:picMkLst>
            <pc:docMk/>
            <pc:sldMk cId="1000013848" sldId="288"/>
            <ac:picMk id="9" creationId="{832E498A-8195-9876-34B0-0A67976F7ADD}"/>
          </ac:picMkLst>
        </pc:picChg>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1.xml"/><Relationship Id="rId5" Type="http://schemas.openxmlformats.org/officeDocument/2006/relationships/tags" Target="../tags/tag1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Master" Target="../slideMasters/slideMaster1.xml"/><Relationship Id="rId5" Type="http://schemas.openxmlformats.org/officeDocument/2006/relationships/tags" Target="../tags/tag21.xml"/><Relationship Id="rId4" Type="http://schemas.openxmlformats.org/officeDocument/2006/relationships/tags" Target="../tags/tag20.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5.xml"/><Relationship Id="rId3" Type="http://schemas.openxmlformats.org/officeDocument/2006/relationships/tags" Target="../tags/tag30.xml"/><Relationship Id="rId7" Type="http://schemas.openxmlformats.org/officeDocument/2006/relationships/tags" Target="../tags/tag34.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slideMaster" Target="../slideMasters/slideMaster1.xml"/><Relationship Id="rId4" Type="http://schemas.openxmlformats.org/officeDocument/2006/relationships/tags" Target="../tags/tag39.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5.xml"/><Relationship Id="rId7"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slideMaster" Target="../slideMasters/slideMaster1.xml"/><Relationship Id="rId5" Type="http://schemas.openxmlformats.org/officeDocument/2006/relationships/tags" Target="../tags/tag53.xml"/><Relationship Id="rId4" Type="http://schemas.openxmlformats.org/officeDocument/2006/relationships/tags" Target="../tags/tag52.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slideMaster" Target="../slideMasters/slideMaster1.xml"/><Relationship Id="rId4" Type="http://schemas.openxmlformats.org/officeDocument/2006/relationships/tags" Target="../tags/tag57.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slideMaster" Target="../slideMasters/slideMaster1.xml"/><Relationship Id="rId5" Type="http://schemas.openxmlformats.org/officeDocument/2006/relationships/tags" Target="../tags/tag62.xml"/><Relationship Id="rId4" Type="http://schemas.openxmlformats.org/officeDocument/2006/relationships/tags" Target="../tags/tag6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en-US" dirty="0"/>
              <a:t>Click to edit Master title style</a:t>
            </a:r>
          </a:p>
        </p:txBody>
      </p:sp>
      <p:sp>
        <p:nvSpPr>
          <p:cNvPr id="3" name="Subtitle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6" name="Date Placeholder 15"/>
          <p:cNvSpPr>
            <a:spLocks noGrp="1"/>
          </p:cNvSpPr>
          <p:nvPr>
            <p:ph type="dt" sz="half" idx="10"/>
            <p:custDataLst>
              <p:tags r:id="rId3"/>
            </p:custDataLst>
          </p:nvPr>
        </p:nvSpPr>
        <p:spPr/>
        <p:txBody>
          <a:bodyPr/>
          <a:lstStyle/>
          <a:p>
            <a:fld id="{760FBDFE-C587-4B4C-A407-44438C67B59E}" type="datetimeFigureOut">
              <a:rPr lang="en-US" smtClean="0"/>
              <a:t>10/12/2026</a:t>
            </a:fld>
            <a:endParaRPr lang="en-US"/>
          </a:p>
        </p:txBody>
      </p:sp>
      <p:sp>
        <p:nvSpPr>
          <p:cNvPr id="17" name="Footer Placeholder 16"/>
          <p:cNvSpPr>
            <a:spLocks noGrp="1"/>
          </p:cNvSpPr>
          <p:nvPr>
            <p:ph type="ftr" sz="quarter" idx="11"/>
            <p:custDataLst>
              <p:tags r:id="rId4"/>
            </p:custDataLst>
          </p:nvPr>
        </p:nvSpPr>
        <p:spPr/>
        <p:txBody>
          <a:bodyPr/>
          <a:lstStyle/>
          <a:p>
            <a:endParaRPr lang="en-US" dirty="0"/>
          </a:p>
        </p:txBody>
      </p:sp>
      <p:sp>
        <p:nvSpPr>
          <p:cNvPr id="18" name="Slide Number Placeholder 17"/>
          <p:cNvSpPr>
            <a:spLocks noGrp="1"/>
          </p:cNvSpPr>
          <p:nvPr>
            <p:ph type="sldNum" sz="quarter" idx="12"/>
            <p:custDataLst>
              <p:tags r:id="rId5"/>
            </p:custDataLst>
          </p:nvPr>
        </p:nvSpPr>
        <p:spPr/>
        <p:txBody>
          <a:bodyPr/>
          <a:lstStyle/>
          <a:p>
            <a:fld id="{49AE70B2-8BF9-45C0-BB95-33D1B9D3A854}"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en-US"/>
              <a:t>Click to edit Master title style</a:t>
            </a:r>
          </a:p>
        </p:txBody>
      </p:sp>
      <p:sp>
        <p:nvSpPr>
          <p:cNvPr id="3" name="Content Placeholder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custDataLst>
              <p:tags r:id="rId3"/>
            </p:custDataLst>
          </p:nvPr>
        </p:nvSpPr>
        <p:spPr/>
        <p:txBody>
          <a:bodyPr/>
          <a:lstStyle/>
          <a:p>
            <a:fld id="{760FBDFE-C587-4B4C-A407-44438C67B59E}" type="datetimeFigureOut">
              <a:rPr lang="en-US" smtClean="0"/>
              <a:t>10/12/2026</a:t>
            </a:fld>
            <a:endParaRPr lang="en-US"/>
          </a:p>
        </p:txBody>
      </p:sp>
      <p:sp>
        <p:nvSpPr>
          <p:cNvPr id="5" name="Footer Placeholder 4"/>
          <p:cNvSpPr>
            <a:spLocks noGrp="1"/>
          </p:cNvSpPr>
          <p:nvPr>
            <p:ph type="ftr" sz="quarter" idx="11"/>
            <p:custDataLst>
              <p:tags r:id="rId4"/>
            </p:custDataLst>
          </p:nvPr>
        </p:nvSpPr>
        <p:spPr/>
        <p:txBody>
          <a:bodyPr/>
          <a:lstStyle/>
          <a:p>
            <a:endParaRPr lang="en-US"/>
          </a:p>
        </p:txBody>
      </p:sp>
      <p:sp>
        <p:nvSpPr>
          <p:cNvPr id="6" name="Slide Number Placeholder 5"/>
          <p:cNvSpPr>
            <a:spLocks noGrp="1"/>
          </p:cNvSpPr>
          <p:nvPr>
            <p:ph type="sldNum" sz="quarter" idx="12"/>
            <p:custDataLst>
              <p:tags r:id="rId5"/>
            </p:custDataLst>
          </p:nvPr>
        </p:nvSpPr>
        <p:spPr/>
        <p:txBody>
          <a:bodyPr/>
          <a:lstStyle/>
          <a:p>
            <a:fld id="{49AE70B2-8BF9-45C0-BB95-33D1B9D3A854}"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en-US" dirty="0"/>
              <a:t>Click to edit title</a:t>
            </a:r>
          </a:p>
        </p:txBody>
      </p:sp>
      <p:sp>
        <p:nvSpPr>
          <p:cNvPr id="3" name="Text Placeholder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p>
        </p:txBody>
      </p:sp>
      <p:sp>
        <p:nvSpPr>
          <p:cNvPr id="4" name="Date Placeholder 3"/>
          <p:cNvSpPr>
            <a:spLocks noGrp="1"/>
          </p:cNvSpPr>
          <p:nvPr>
            <p:ph type="dt" sz="half" idx="10"/>
            <p:custDataLst>
              <p:tags r:id="rId3"/>
            </p:custDataLst>
          </p:nvPr>
        </p:nvSpPr>
        <p:spPr/>
        <p:txBody>
          <a:bodyPr/>
          <a:lstStyle/>
          <a:p>
            <a:fld id="{760FBDFE-C587-4B4C-A407-44438C67B59E}" type="datetimeFigureOut">
              <a:rPr lang="en-US" smtClean="0"/>
              <a:t>10/12/2026</a:t>
            </a:fld>
            <a:endParaRPr lang="en-US"/>
          </a:p>
        </p:txBody>
      </p:sp>
      <p:sp>
        <p:nvSpPr>
          <p:cNvPr id="5" name="Footer Placeholder 4"/>
          <p:cNvSpPr>
            <a:spLocks noGrp="1"/>
          </p:cNvSpPr>
          <p:nvPr>
            <p:ph type="ftr" sz="quarter" idx="11"/>
            <p:custDataLst>
              <p:tags r:id="rId4"/>
            </p:custDataLst>
          </p:nvPr>
        </p:nvSpPr>
        <p:spPr/>
        <p:txBody>
          <a:bodyPr/>
          <a:lstStyle/>
          <a:p>
            <a:endParaRPr lang="en-US"/>
          </a:p>
        </p:txBody>
      </p:sp>
      <p:sp>
        <p:nvSpPr>
          <p:cNvPr id="6" name="Slide Number Placeholder 5"/>
          <p:cNvSpPr>
            <a:spLocks noGrp="1"/>
          </p:cNvSpPr>
          <p:nvPr>
            <p:ph type="sldNum" sz="quarter" idx="12"/>
            <p:custDataLst>
              <p:tags r:id="rId5"/>
            </p:custDataLst>
          </p:nvPr>
        </p:nvSpPr>
        <p:spPr/>
        <p:txBody>
          <a:bodyPr/>
          <a:lstStyle/>
          <a:p>
            <a:fld id="{49AE70B2-8BF9-45C0-BB95-33D1B9D3A854}"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en-US"/>
              <a:t>Click to edit Master title style</a:t>
            </a:r>
          </a:p>
        </p:txBody>
      </p:sp>
      <p:sp>
        <p:nvSpPr>
          <p:cNvPr id="3" name="Content Placeholder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custDataLst>
              <p:tags r:id="rId4"/>
            </p:custDataLst>
          </p:nvPr>
        </p:nvSpPr>
        <p:spPr/>
        <p:txBody>
          <a:bodyPr/>
          <a:lstStyle/>
          <a:p>
            <a:fld id="{760FBDFE-C587-4B4C-A407-44438C67B59E}" type="datetimeFigureOut">
              <a:rPr lang="en-US" smtClean="0"/>
              <a:t>10/12/2026</a:t>
            </a:fld>
            <a:endParaRPr lang="en-US"/>
          </a:p>
        </p:txBody>
      </p:sp>
      <p:sp>
        <p:nvSpPr>
          <p:cNvPr id="6" name="Footer Placeholder 5"/>
          <p:cNvSpPr>
            <a:spLocks noGrp="1"/>
          </p:cNvSpPr>
          <p:nvPr>
            <p:ph type="ftr" sz="quarter" idx="11"/>
            <p:custDataLst>
              <p:tags r:id="rId5"/>
            </p:custDataLst>
          </p:nvPr>
        </p:nvSpPr>
        <p:spPr/>
        <p:txBody>
          <a:bodyPr/>
          <a:lstStyle/>
          <a:p>
            <a:endParaRPr lang="en-US"/>
          </a:p>
        </p:txBody>
      </p:sp>
      <p:sp>
        <p:nvSpPr>
          <p:cNvPr id="7" name="Slide Number Placeholder 6"/>
          <p:cNvSpPr>
            <a:spLocks noGrp="1"/>
          </p:cNvSpPr>
          <p:nvPr>
            <p:ph type="sldNum" sz="quarter" idx="12"/>
            <p:custDataLst>
              <p:tags r:id="rId6"/>
            </p:custDataLst>
          </p:nvPr>
        </p:nvSpPr>
        <p:spPr/>
        <p:txBody>
          <a:bodyPr/>
          <a:lstStyle/>
          <a:p>
            <a:fld id="{49AE70B2-8BF9-45C0-BB95-33D1B9D3A854}"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en-US"/>
              <a:t>Click to edit Master title style</a:t>
            </a:r>
          </a:p>
        </p:txBody>
      </p:sp>
      <p:sp>
        <p:nvSpPr>
          <p:cNvPr id="3" name="Text Placeholder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p>
        </p:txBody>
      </p:sp>
      <p:sp>
        <p:nvSpPr>
          <p:cNvPr id="4" name="Content Placeholder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text</a:t>
            </a:r>
          </a:p>
        </p:txBody>
      </p:sp>
      <p:sp>
        <p:nvSpPr>
          <p:cNvPr id="6" name="Content Placeholder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custDataLst>
              <p:tags r:id="rId6"/>
            </p:custDataLst>
          </p:nvPr>
        </p:nvSpPr>
        <p:spPr/>
        <p:txBody>
          <a:bodyPr/>
          <a:lstStyle/>
          <a:p>
            <a:fld id="{760FBDFE-C587-4B4C-A407-44438C67B59E}" type="datetimeFigureOut">
              <a:rPr lang="en-US" smtClean="0"/>
              <a:t>10/12/2026</a:t>
            </a:fld>
            <a:endParaRPr lang="en-US"/>
          </a:p>
        </p:txBody>
      </p:sp>
      <p:sp>
        <p:nvSpPr>
          <p:cNvPr id="8" name="Footer Placeholder 7"/>
          <p:cNvSpPr>
            <a:spLocks noGrp="1"/>
          </p:cNvSpPr>
          <p:nvPr>
            <p:ph type="ftr" sz="quarter" idx="11"/>
            <p:custDataLst>
              <p:tags r:id="rId7"/>
            </p:custDataLst>
          </p:nvPr>
        </p:nvSpPr>
        <p:spPr/>
        <p:txBody>
          <a:bodyPr/>
          <a:lstStyle/>
          <a:p>
            <a:endParaRPr lang="en-US"/>
          </a:p>
        </p:txBody>
      </p:sp>
      <p:sp>
        <p:nvSpPr>
          <p:cNvPr id="9" name="Slide Number Placeholder 8"/>
          <p:cNvSpPr>
            <a:spLocks noGrp="1"/>
          </p:cNvSpPr>
          <p:nvPr>
            <p:ph type="sldNum" sz="quarter" idx="12"/>
            <p:custDataLst>
              <p:tags r:id="rId8"/>
            </p:custDataLst>
          </p:nvPr>
        </p:nvSpPr>
        <p:spPr/>
        <p:txBody>
          <a:bodyPr/>
          <a:lstStyle/>
          <a:p>
            <a:fld id="{49AE70B2-8BF9-45C0-BB95-33D1B9D3A854}"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en-US"/>
              <a:t>Click to edit Master title style</a:t>
            </a:r>
          </a:p>
        </p:txBody>
      </p:sp>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t>10/12/2026</a:t>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custDataLst>
              <p:tags r:id="rId1"/>
            </p:custDataLst>
          </p:nvPr>
        </p:nvSpPr>
        <p:spPr/>
        <p:txBody>
          <a:bodyPr/>
          <a:lstStyle/>
          <a:p>
            <a:fld id="{760FBDFE-C587-4B4C-A407-44438C67B59E}" type="datetimeFigureOut">
              <a:rPr lang="en-US" smtClean="0"/>
              <a:t>10/12/2026</a:t>
            </a:fld>
            <a:endParaRPr lang="en-US"/>
          </a:p>
        </p:txBody>
      </p:sp>
      <p:sp>
        <p:nvSpPr>
          <p:cNvPr id="3" name="Footer Placeholder 2"/>
          <p:cNvSpPr>
            <a:spLocks noGrp="1"/>
          </p:cNvSpPr>
          <p:nvPr>
            <p:ph type="ftr" sz="quarter" idx="11"/>
            <p:custDataLst>
              <p:tags r:id="rId2"/>
            </p:custDataLst>
          </p:nvPr>
        </p:nvSpPr>
        <p:spPr/>
        <p:txBody>
          <a:bodyPr/>
          <a:lstStyle/>
          <a:p>
            <a:endParaRPr lang="en-US"/>
          </a:p>
        </p:txBody>
      </p:sp>
      <p:sp>
        <p:nvSpPr>
          <p:cNvPr id="4" name="Slide Number Placeholder 3"/>
          <p:cNvSpPr>
            <a:spLocks noGrp="1"/>
          </p:cNvSpPr>
          <p:nvPr>
            <p:ph type="sldNum" sz="quarter" idx="12"/>
            <p:custDataLst>
              <p:tags r:id="rId3"/>
            </p:custDataLst>
          </p:nvPr>
        </p:nvSpPr>
        <p:spPr/>
        <p:txBody>
          <a:bodyPr/>
          <a:lstStyle/>
          <a:p>
            <a:fld id="{49AE70B2-8BF9-45C0-BB95-33D1B9D3A854}"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en-US"/>
          </a:p>
        </p:txBody>
      </p:sp>
      <p:sp>
        <p:nvSpPr>
          <p:cNvPr id="4" name="Text Placeholder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en-US"/>
              <a:t>Click to edit Master text styles</a:t>
            </a:r>
          </a:p>
        </p:txBody>
      </p:sp>
      <p:sp>
        <p:nvSpPr>
          <p:cNvPr id="5" name="Date Placeholder 4"/>
          <p:cNvSpPr>
            <a:spLocks noGrp="1"/>
          </p:cNvSpPr>
          <p:nvPr>
            <p:ph type="dt" sz="half" idx="10"/>
            <p:custDataLst>
              <p:tags r:id="rId3"/>
            </p:custDataLst>
          </p:nvPr>
        </p:nvSpPr>
        <p:spPr/>
        <p:txBody>
          <a:bodyPr/>
          <a:lstStyle/>
          <a:p>
            <a:fld id="{9EFD9D74-47D9-4702-A33C-335B63B48DBF}" type="datetimeFigureOut">
              <a:rPr lang="en-US" smtClean="0"/>
              <a:t>10/12/2026</a:t>
            </a:fld>
            <a:endParaRPr lang="en-US" dirty="0"/>
          </a:p>
        </p:txBody>
      </p:sp>
      <p:sp>
        <p:nvSpPr>
          <p:cNvPr id="6" name="Footer Placeholder 5"/>
          <p:cNvSpPr>
            <a:spLocks noGrp="1"/>
          </p:cNvSpPr>
          <p:nvPr>
            <p:ph type="ftr" sz="quarter" idx="11"/>
            <p:custDataLst>
              <p:tags r:id="rId4"/>
            </p:custDataLst>
          </p:nvPr>
        </p:nvSpPr>
        <p:spPr/>
        <p:txBody>
          <a:bodyPr/>
          <a:lstStyle/>
          <a:p>
            <a:endParaRPr lang="en-US" dirty="0"/>
          </a:p>
        </p:txBody>
      </p:sp>
      <p:sp>
        <p:nvSpPr>
          <p:cNvPr id="7" name="Slide Number Placeholder 6"/>
          <p:cNvSpPr>
            <a:spLocks noGrp="1"/>
          </p:cNvSpPr>
          <p:nvPr>
            <p:ph type="sldNum" sz="quarter" idx="12"/>
            <p:custDataLst>
              <p:tags r:id="rId5"/>
            </p:custDataLst>
          </p:nvPr>
        </p:nvSpPr>
        <p:spPr/>
        <p:txBody>
          <a:bodyPr/>
          <a:lstStyle/>
          <a:p>
            <a:fld id="{FABC47A4-756D-490B-A52F-7D9E2C9FC05F}" type="slidenum">
              <a:rPr lang="en-US" smtClean="0"/>
              <a:t>‹#›</a:t>
            </a:fld>
            <a:endParaRPr lang="en-US"/>
          </a:p>
        </p:txBody>
      </p:sp>
      <p:sp>
        <p:nvSpPr>
          <p:cNvPr id="9" name="Title 8"/>
          <p:cNvSpPr>
            <a:spLocks noGrp="1"/>
          </p:cNvSpPr>
          <p:nvPr>
            <p:ph type="title"/>
            <p:custDataLst>
              <p:tags r:id="rId6"/>
            </p:custDataLst>
          </p:nvPr>
        </p:nvSpPr>
        <p:spPr/>
        <p:txBody>
          <a:bodyPr/>
          <a:lstStyle/>
          <a:p>
            <a:r>
              <a:rPr lang="en-US"/>
              <a:t>Click to edit Master title style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en-US"/>
              <a:t>Click to edit title</a:t>
            </a:r>
          </a:p>
        </p:txBody>
      </p:sp>
      <p:sp>
        <p:nvSpPr>
          <p:cNvPr id="3" name="Vertical Text Placeholder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custDataLst>
              <p:tags r:id="rId3"/>
            </p:custDataLst>
          </p:nvPr>
        </p:nvSpPr>
        <p:spPr/>
        <p:txBody>
          <a:bodyPr/>
          <a:lstStyle/>
          <a:p>
            <a:fld id="{760FBDFE-C587-4B4C-A407-44438C67B59E}" type="datetimeFigureOut">
              <a:rPr lang="en-US" smtClean="0"/>
              <a:t>10/12/2026</a:t>
            </a:fld>
            <a:endParaRPr lang="en-US"/>
          </a:p>
        </p:txBody>
      </p:sp>
      <p:sp>
        <p:nvSpPr>
          <p:cNvPr id="5" name="Footer Placeholder 4"/>
          <p:cNvSpPr>
            <a:spLocks noGrp="1"/>
          </p:cNvSpPr>
          <p:nvPr>
            <p:ph type="ftr" sz="quarter" idx="11"/>
            <p:custDataLst>
              <p:tags r:id="rId4"/>
            </p:custDataLst>
          </p:nvPr>
        </p:nvSpPr>
        <p:spPr/>
        <p:txBody>
          <a:bodyPr/>
          <a:lstStyle/>
          <a:p>
            <a:endParaRPr lang="en-US"/>
          </a:p>
        </p:txBody>
      </p:sp>
      <p:sp>
        <p:nvSpPr>
          <p:cNvPr id="6" name="Slide Number Placeholder 5"/>
          <p:cNvSpPr>
            <a:spLocks noGrp="1"/>
          </p:cNvSpPr>
          <p:nvPr>
            <p:ph type="sldNum" sz="quarter" idx="12"/>
            <p:custDataLst>
              <p:tags r:id="rId5"/>
            </p:custDataLst>
          </p:nvPr>
        </p:nvSpPr>
        <p:spPr/>
        <p:txBody>
          <a:bodyPr/>
          <a:lstStyle/>
          <a:p>
            <a:fld id="{49AE70B2-8BF9-45C0-BB95-33D1B9D3A854}"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1"/>
            </p:custDataLst>
          </p:nvPr>
        </p:nvSpPr>
        <p:spPr/>
        <p:txBody>
          <a:bodyPr/>
          <a:lstStyle/>
          <a:p>
            <a:fld id="{760FBDFE-C587-4B4C-A407-44438C67B59E}" type="datetimeFigureOut">
              <a:rPr lang="en-US" smtClean="0"/>
              <a:t>10/12/2026</a:t>
            </a:fld>
            <a:endParaRPr lang="en-US"/>
          </a:p>
        </p:txBody>
      </p:sp>
      <p:sp>
        <p:nvSpPr>
          <p:cNvPr id="4" name="Footer Placeholder 3"/>
          <p:cNvSpPr>
            <a:spLocks noGrp="1"/>
          </p:cNvSpPr>
          <p:nvPr>
            <p:ph type="ftr" sz="quarter" idx="11"/>
            <p:custDataLst>
              <p:tags r:id="rId2"/>
            </p:custDataLst>
          </p:nvPr>
        </p:nvSpPr>
        <p:spPr/>
        <p:txBody>
          <a:bodyPr/>
          <a:lstStyle/>
          <a:p>
            <a:endParaRPr lang="en-US"/>
          </a:p>
        </p:txBody>
      </p:sp>
      <p:sp>
        <p:nvSpPr>
          <p:cNvPr id="5" name="Slide Number Placeholder 4"/>
          <p:cNvSpPr>
            <a:spLocks noGrp="1"/>
          </p:cNvSpPr>
          <p:nvPr>
            <p:ph type="sldNum" sz="quarter" idx="12"/>
            <p:custDataLst>
              <p:tags r:id="rId3"/>
            </p:custDataLst>
          </p:nvPr>
        </p:nvSpPr>
        <p:spPr/>
        <p:txBody>
          <a:bodyPr/>
          <a:lstStyle/>
          <a:p>
            <a:fld id="{49AE70B2-8BF9-45C0-BB95-33D1B9D3A854}" type="slidenum">
              <a:rPr lang="en-US" smtClean="0"/>
              <a:t>‹#›</a:t>
            </a:fld>
            <a:endParaRPr lang="en-US"/>
          </a:p>
        </p:txBody>
      </p:sp>
      <p:sp>
        <p:nvSpPr>
          <p:cNvPr id="7" name="Content Placeholder 6"/>
          <p:cNvSpPr>
            <a:spLocks noGrp="1"/>
          </p:cNvSpPr>
          <p:nvPr>
            <p:ph sz="quarter" idx="13"/>
            <p:custDataLst>
              <p:tags r:id="rId4"/>
            </p:custDataLst>
          </p:nvPr>
        </p:nvSpPr>
        <p:spPr>
          <a:xfrm>
            <a:off x="608400" y="774000"/>
            <a:ext cx="10972800" cy="5482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1"/>
            </p:custDataLst>
          </p:nvPr>
        </p:nvSpPr>
        <p:spPr/>
        <p:txBody>
          <a:bodyPr/>
          <a:lstStyle/>
          <a:p>
            <a:fld id="{760FBDFE-C587-4B4C-A407-44438C67B59E}" type="datetimeFigureOut">
              <a:rPr lang="en-US" smtClean="0"/>
              <a:t>10/12/2026</a:t>
            </a:fld>
            <a:endParaRPr lang="en-US"/>
          </a:p>
        </p:txBody>
      </p:sp>
      <p:sp>
        <p:nvSpPr>
          <p:cNvPr id="4" name="Footer Placeholder 3"/>
          <p:cNvSpPr>
            <a:spLocks noGrp="1"/>
          </p:cNvSpPr>
          <p:nvPr>
            <p:ph type="ftr" sz="quarter" idx="11"/>
            <p:custDataLst>
              <p:tags r:id="rId2"/>
            </p:custDataLst>
          </p:nvPr>
        </p:nvSpPr>
        <p:spPr/>
        <p:txBody>
          <a:bodyPr/>
          <a:lstStyle/>
          <a:p>
            <a:endParaRPr lang="en-US"/>
          </a:p>
        </p:txBody>
      </p:sp>
      <p:sp>
        <p:nvSpPr>
          <p:cNvPr id="5" name="Slide Number Placeholder 4"/>
          <p:cNvSpPr>
            <a:spLocks noGrp="1"/>
          </p:cNvSpPr>
          <p:nvPr>
            <p:ph type="sldNum" sz="quarter" idx="12"/>
            <p:custDataLst>
              <p:tags r:id="rId3"/>
            </p:custDataLst>
          </p:nvPr>
        </p:nvSpPr>
        <p:spPr/>
        <p:txBody>
          <a:bodyPr/>
          <a:lstStyle/>
          <a:p>
            <a:fld id="{49AE70B2-8BF9-45C0-BB95-33D1B9D3A854}" type="slidenum">
              <a:rPr lang="en-US" smtClean="0"/>
              <a:t>‹#›</a:t>
            </a:fld>
            <a:endParaRPr lang="en-US"/>
          </a:p>
        </p:txBody>
      </p:sp>
      <p:sp>
        <p:nvSpPr>
          <p:cNvPr id="2" name="Title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en-US"/>
              <a:t>Click to edit title</a:t>
            </a:r>
          </a:p>
        </p:txBody>
      </p:sp>
      <p:sp>
        <p:nvSpPr>
          <p:cNvPr id="7" name="Text Placeholder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en-US" dirty="0"/>
              <a:t>Click to edit Master text styles</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18" Type="http://schemas.openxmlformats.org/officeDocument/2006/relationships/tags" Target="../tags/tag6.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tags" Target="../tags/tag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en-US" dirty="0"/>
              <a:t>Click to edit Master title style</a:t>
            </a:r>
          </a:p>
        </p:txBody>
      </p:sp>
      <p:sp>
        <p:nvSpPr>
          <p:cNvPr id="3" name="Text Placeholder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en-US" smtClean="0"/>
              <a:t>10/12/2026</a:t>
            </a:fld>
            <a:endParaRPr lang="en-US"/>
          </a:p>
        </p:txBody>
      </p:sp>
      <p:sp>
        <p:nvSpPr>
          <p:cNvPr id="5" name="Footer Placeholder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en-US" dirty="0"/>
          </a:p>
        </p:txBody>
      </p:sp>
      <p:sp>
        <p:nvSpPr>
          <p:cNvPr id="6" name="Slide Number Placeholder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en-US" smtClean="0"/>
              <a:t>‹#›</a:t>
            </a:fld>
            <a:endParaRPr lang="en-US" dirty="0"/>
          </a:p>
        </p:txBody>
      </p:sp>
    </p:spTree>
    <p:custDataLst>
      <p:tags r:id="rId13"/>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4.xml"/><Relationship Id="rId1" Type="http://schemas.openxmlformats.org/officeDocument/2006/relationships/tags" Target="../tags/tag63.xml"/><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tags" Target="../tags/tag67.xml"/><Relationship Id="rId2" Type="http://schemas.openxmlformats.org/officeDocument/2006/relationships/tags" Target="../tags/tag66.xml"/><Relationship Id="rId1" Type="http://schemas.openxmlformats.org/officeDocument/2006/relationships/tags" Target="../tags/tag65.xml"/><Relationship Id="rId5" Type="http://schemas.openxmlformats.org/officeDocument/2006/relationships/image" Target="../media/image1.jpeg"/><Relationship Id="rId4"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tags" Target="../tags/tag68.xml"/><Relationship Id="rId5" Type="http://schemas.openxmlformats.org/officeDocument/2006/relationships/image" Target="../media/image1.jpeg"/><Relationship Id="rId4"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tags" Target="../tags/tag73.xml"/><Relationship Id="rId2" Type="http://schemas.openxmlformats.org/officeDocument/2006/relationships/tags" Target="../tags/tag72.xml"/><Relationship Id="rId1" Type="http://schemas.openxmlformats.org/officeDocument/2006/relationships/tags" Target="../tags/tag71.xml"/><Relationship Id="rId5" Type="http://schemas.openxmlformats.org/officeDocument/2006/relationships/image" Target="../media/image1.jpeg"/><Relationship Id="rId4"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tags" Target="../tags/tag76.xml"/><Relationship Id="rId2" Type="http://schemas.openxmlformats.org/officeDocument/2006/relationships/tags" Target="../tags/tag75.xml"/><Relationship Id="rId1" Type="http://schemas.openxmlformats.org/officeDocument/2006/relationships/tags" Target="../tags/tag74.xml"/><Relationship Id="rId5" Type="http://schemas.openxmlformats.org/officeDocument/2006/relationships/image" Target="../media/image1.jpeg"/><Relationship Id="rId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tags" Target="../tags/tag79.xml"/><Relationship Id="rId2" Type="http://schemas.openxmlformats.org/officeDocument/2006/relationships/tags" Target="../tags/tag78.xml"/><Relationship Id="rId1" Type="http://schemas.openxmlformats.org/officeDocument/2006/relationships/tags" Target="../tags/tag77.xml"/><Relationship Id="rId5" Type="http://schemas.openxmlformats.org/officeDocument/2006/relationships/image" Target="../media/image1.jpeg"/><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tags" Target="../tags/tag82.xml"/><Relationship Id="rId2" Type="http://schemas.openxmlformats.org/officeDocument/2006/relationships/tags" Target="../tags/tag81.xml"/><Relationship Id="rId1" Type="http://schemas.openxmlformats.org/officeDocument/2006/relationships/tags" Target="../tags/tag80.xml"/><Relationship Id="rId5" Type="http://schemas.openxmlformats.org/officeDocument/2006/relationships/image" Target="../media/image1.jpeg"/><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tags" Target="../tags/tag85.xml"/><Relationship Id="rId2" Type="http://schemas.openxmlformats.org/officeDocument/2006/relationships/tags" Target="../tags/tag84.xml"/><Relationship Id="rId1" Type="http://schemas.openxmlformats.org/officeDocument/2006/relationships/tags" Target="../tags/tag83.xml"/><Relationship Id="rId5" Type="http://schemas.openxmlformats.org/officeDocument/2006/relationships/image" Target="../media/image1.jpeg"/><Relationship Id="rId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tags" Target="../tags/tag88.xml"/><Relationship Id="rId2" Type="http://schemas.openxmlformats.org/officeDocument/2006/relationships/tags" Target="../tags/tag87.xml"/><Relationship Id="rId1" Type="http://schemas.openxmlformats.org/officeDocument/2006/relationships/tags" Target="../tags/tag86.xml"/><Relationship Id="rId5" Type="http://schemas.openxmlformats.org/officeDocument/2006/relationships/image" Target="../media/image1.jpeg"/><Relationship Id="rId4"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tags" Target="../tags/tag91.xml"/><Relationship Id="rId2" Type="http://schemas.openxmlformats.org/officeDocument/2006/relationships/tags" Target="../tags/tag90.xml"/><Relationship Id="rId1" Type="http://schemas.openxmlformats.org/officeDocument/2006/relationships/tags" Target="../tags/tag89.xml"/><Relationship Id="rId5" Type="http://schemas.openxmlformats.org/officeDocument/2006/relationships/image" Target="../media/image1.jpeg"/><Relationship Id="rId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3.xml"/><Relationship Id="rId1" Type="http://schemas.openxmlformats.org/officeDocument/2006/relationships/tags" Target="../tags/tag92.xml"/><Relationship Id="rId4" Type="http://schemas.openxmlformats.org/officeDocument/2006/relationships/image" Target="../media/image1.jpe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5.xml"/><Relationship Id="rId1" Type="http://schemas.openxmlformats.org/officeDocument/2006/relationships/tags" Target="../tags/tag94.xml"/><Relationship Id="rId4" Type="http://schemas.openxmlformats.org/officeDocument/2006/relationships/image" Target="../media/image1.jpeg"/></Relationships>
</file>

<file path=ppt/slides/_rels/slide13.xml.rels><?xml version="1.0" encoding="UTF-8" standalone="yes"?>
<Relationships xmlns="http://schemas.openxmlformats.org/package/2006/relationships"><Relationship Id="rId3" Type="http://schemas.openxmlformats.org/officeDocument/2006/relationships/tags" Target="../tags/tag98.xml"/><Relationship Id="rId2" Type="http://schemas.openxmlformats.org/officeDocument/2006/relationships/tags" Target="../tags/tag97.xml"/><Relationship Id="rId1" Type="http://schemas.openxmlformats.org/officeDocument/2006/relationships/tags" Target="../tags/tag96.xml"/><Relationship Id="rId6" Type="http://schemas.openxmlformats.org/officeDocument/2006/relationships/image" Target="../media/image1.jpeg"/><Relationship Id="rId5" Type="http://schemas.openxmlformats.org/officeDocument/2006/relationships/image" Target="../media/image2.png"/><Relationship Id="rId4"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tags" Target="../tags/tag99.xml"/><Relationship Id="rId5" Type="http://schemas.openxmlformats.org/officeDocument/2006/relationships/image" Target="../media/image1.jpeg"/><Relationship Id="rId4"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3.xml"/><Relationship Id="rId1" Type="http://schemas.openxmlformats.org/officeDocument/2006/relationships/tags" Target="../tags/tag102.xml"/><Relationship Id="rId5" Type="http://schemas.openxmlformats.org/officeDocument/2006/relationships/image" Target="../media/image3.png"/><Relationship Id="rId4" Type="http://schemas.openxmlformats.org/officeDocument/2006/relationships/image" Target="../media/image1.jpe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tags" Target="../tags/tag104.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tags" Target="../tags/tag105.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tags" Target="../tags/tag106.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tags" Target="../tags/tag109.xml"/><Relationship Id="rId2" Type="http://schemas.openxmlformats.org/officeDocument/2006/relationships/tags" Target="../tags/tag108.xml"/><Relationship Id="rId1" Type="http://schemas.openxmlformats.org/officeDocument/2006/relationships/tags" Target="../tags/tag107.xml"/><Relationship Id="rId6" Type="http://schemas.openxmlformats.org/officeDocument/2006/relationships/image" Target="../media/image1.jpeg"/><Relationship Id="rId5" Type="http://schemas.openxmlformats.org/officeDocument/2006/relationships/image" Target="../media/image7.png"/><Relationship Id="rId4"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tags" Target="../tags/tag110.xml"/><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tags" Target="../tags/tag113.xml"/><Relationship Id="rId2" Type="http://schemas.openxmlformats.org/officeDocument/2006/relationships/tags" Target="../tags/tag112.xml"/><Relationship Id="rId1" Type="http://schemas.openxmlformats.org/officeDocument/2006/relationships/tags" Target="../tags/tag111.xml"/><Relationship Id="rId5" Type="http://schemas.openxmlformats.org/officeDocument/2006/relationships/image" Target="../media/image1.jpeg"/><Relationship Id="rId4"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tags" Target="../tags/tag116.xml"/><Relationship Id="rId2" Type="http://schemas.openxmlformats.org/officeDocument/2006/relationships/tags" Target="../tags/tag115.xml"/><Relationship Id="rId1" Type="http://schemas.openxmlformats.org/officeDocument/2006/relationships/tags" Target="../tags/tag114.xml"/><Relationship Id="rId5" Type="http://schemas.openxmlformats.org/officeDocument/2006/relationships/image" Target="../media/image1.jpeg"/><Relationship Id="rId4"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tags" Target="../tags/tag119.xml"/><Relationship Id="rId2" Type="http://schemas.openxmlformats.org/officeDocument/2006/relationships/tags" Target="../tags/tag118.xml"/><Relationship Id="rId1" Type="http://schemas.openxmlformats.org/officeDocument/2006/relationships/tags" Target="../tags/tag117.xml"/><Relationship Id="rId5" Type="http://schemas.openxmlformats.org/officeDocument/2006/relationships/image" Target="../media/image1.jpeg"/><Relationship Id="rId4"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tags" Target="../tags/tag122.xml"/><Relationship Id="rId2" Type="http://schemas.openxmlformats.org/officeDocument/2006/relationships/tags" Target="../tags/tag121.xml"/><Relationship Id="rId1" Type="http://schemas.openxmlformats.org/officeDocument/2006/relationships/tags" Target="../tags/tag120.xml"/><Relationship Id="rId5" Type="http://schemas.openxmlformats.org/officeDocument/2006/relationships/image" Target="../media/image1.jpeg"/><Relationship Id="rId4"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4.xml"/><Relationship Id="rId1" Type="http://schemas.openxmlformats.org/officeDocument/2006/relationships/tags" Target="../tags/tag123.xml"/><Relationship Id="rId4" Type="http://schemas.openxmlformats.org/officeDocument/2006/relationships/image" Target="../media/image1.jpe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6.xml"/><Relationship Id="rId1" Type="http://schemas.openxmlformats.org/officeDocument/2006/relationships/tags" Target="../tags/tag125.xml"/><Relationship Id="rId4" Type="http://schemas.openxmlformats.org/officeDocument/2006/relationships/image" Target="../media/image1.jpeg"/></Relationships>
</file>

<file path=ppt/slides/_rels/slide27.xml.rels><?xml version="1.0" encoding="UTF-8" standalone="yes"?>
<Relationships xmlns="http://schemas.openxmlformats.org/package/2006/relationships"><Relationship Id="rId3" Type="http://schemas.openxmlformats.org/officeDocument/2006/relationships/tags" Target="../tags/tag129.xml"/><Relationship Id="rId2" Type="http://schemas.openxmlformats.org/officeDocument/2006/relationships/tags" Target="../tags/tag128.xml"/><Relationship Id="rId1" Type="http://schemas.openxmlformats.org/officeDocument/2006/relationships/tags" Target="../tags/tag127.xml"/><Relationship Id="rId5" Type="http://schemas.openxmlformats.org/officeDocument/2006/relationships/image" Target="../media/image1.jpeg"/><Relationship Id="rId4"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tags" Target="../tags/tag132.xml"/><Relationship Id="rId2" Type="http://schemas.openxmlformats.org/officeDocument/2006/relationships/tags" Target="../tags/tag131.xml"/><Relationship Id="rId1" Type="http://schemas.openxmlformats.org/officeDocument/2006/relationships/tags" Target="../tags/tag130.xml"/><Relationship Id="rId5" Type="http://schemas.openxmlformats.org/officeDocument/2006/relationships/image" Target="../media/image1.jpeg"/><Relationship Id="rId4"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tags" Target="../tags/tag135.xml"/><Relationship Id="rId2" Type="http://schemas.openxmlformats.org/officeDocument/2006/relationships/tags" Target="../tags/tag134.xml"/><Relationship Id="rId1" Type="http://schemas.openxmlformats.org/officeDocument/2006/relationships/tags" Target="../tags/tag133.xml"/><Relationship Id="rId5" Type="http://schemas.openxmlformats.org/officeDocument/2006/relationships/image" Target="../media/image1.jpeg"/><Relationship Id="rId4"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tags" Target="../tags/tag138.xml"/><Relationship Id="rId2" Type="http://schemas.openxmlformats.org/officeDocument/2006/relationships/tags" Target="../tags/tag137.xml"/><Relationship Id="rId1" Type="http://schemas.openxmlformats.org/officeDocument/2006/relationships/tags" Target="../tags/tag136.xml"/><Relationship Id="rId5" Type="http://schemas.openxmlformats.org/officeDocument/2006/relationships/image" Target="../media/image1.jpeg"/><Relationship Id="rId4"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tags" Target="../tags/tag141.xml"/><Relationship Id="rId2" Type="http://schemas.openxmlformats.org/officeDocument/2006/relationships/tags" Target="../tags/tag140.xml"/><Relationship Id="rId1" Type="http://schemas.openxmlformats.org/officeDocument/2006/relationships/tags" Target="../tags/tag139.xml"/><Relationship Id="rId5" Type="http://schemas.openxmlformats.org/officeDocument/2006/relationships/image" Target="../media/image1.jpeg"/><Relationship Id="rId4"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3.xml"/><Relationship Id="rId1" Type="http://schemas.openxmlformats.org/officeDocument/2006/relationships/tags" Target="../tags/tag142.xml"/><Relationship Id="rId4"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a:xfrm>
            <a:off x="1252775" y="1380490"/>
            <a:ext cx="9799200" cy="2570400"/>
          </a:xfrm>
        </p:spPr>
        <p:txBody>
          <a:bodyPr>
            <a:normAutofit fontScale="90000"/>
          </a:bodyPr>
          <a:lstStyle/>
          <a:p>
            <a:r>
              <a:rPr lang="en-US" b="1" dirty="0">
                <a:solidFill>
                  <a:srgbClr val="000000"/>
                </a:solidFill>
                <a:latin typeface="Goudy Old Style" panose="02020502050305020303"/>
                <a:ea typeface="Segoe UI" panose="020B0502040204020203"/>
                <a:cs typeface="Segoe UI" panose="020B0502040204020203"/>
                <a:sym typeface="+mn-ea"/>
              </a:rPr>
              <a:t>Intelligent Urban Mobility Analytics Using GPS and Traffic Data</a:t>
            </a:r>
            <a:r>
              <a:rPr dirty="0">
                <a:solidFill>
                  <a:srgbClr val="000000"/>
                </a:solidFill>
                <a:latin typeface="Goudy Old Style" panose="02020502050305020303"/>
                <a:ea typeface="Goudy Old Style" panose="02020502050305020303"/>
                <a:cs typeface="Goudy Old Style" panose="02020502050305020303"/>
                <a:sym typeface="+mn-ea"/>
              </a:rPr>
              <a:t>​</a:t>
            </a:r>
            <a:endParaRPr lang="en-US"/>
          </a:p>
        </p:txBody>
      </p:sp>
      <p:pic>
        <p:nvPicPr>
          <p:cNvPr id="21506" name="Picture 2" descr="Koneru Lakshmaiah Education Foundation, Bachupally Campus Courses ..."/>
          <p:cNvPicPr>
            <a:picLocks noChangeAspect="1" noChangeArrowheads="1"/>
          </p:cNvPicPr>
          <p:nvPr/>
        </p:nvPicPr>
        <p:blipFill>
          <a:blip r:embed="rId4"/>
          <a:srcRect t="16961" b="27101"/>
          <a:stretch>
            <a:fillRect/>
          </a:stretch>
        </p:blipFill>
        <p:spPr bwMode="auto">
          <a:xfrm>
            <a:off x="0" y="60960"/>
            <a:ext cx="2095500" cy="1145540"/>
          </a:xfrm>
          <a:prstGeom prst="rect">
            <a:avLst/>
          </a:prstGeom>
          <a:noFill/>
        </p:spPr>
      </p:pic>
      <p:sp>
        <p:nvSpPr>
          <p:cNvPr id="4" name="Text Box 3"/>
          <p:cNvSpPr txBox="1"/>
          <p:nvPr/>
        </p:nvSpPr>
        <p:spPr>
          <a:xfrm>
            <a:off x="328930" y="4676775"/>
            <a:ext cx="4834255" cy="1753235"/>
          </a:xfrm>
          <a:prstGeom prst="rect">
            <a:avLst/>
          </a:prstGeom>
          <a:noFill/>
        </p:spPr>
        <p:txBody>
          <a:bodyPr wrap="square" rtlCol="0" anchor="t">
            <a:spAutoFit/>
          </a:bodyPr>
          <a:lstStyle/>
          <a:p>
            <a:pPr algn="just">
              <a:buNone/>
            </a:pPr>
            <a:r>
              <a:rPr lang="en-US" b="1" dirty="0">
                <a:latin typeface="Times New Roman" panose="02020603050405020304" pitchFamily="18" charset="0"/>
                <a:cs typeface="Times New Roman" panose="02020603050405020304" pitchFamily="18" charset="0"/>
                <a:sym typeface="+mn-ea"/>
              </a:rPr>
              <a:t>BATCH NO – 07</a:t>
            </a:r>
            <a:endParaRPr lang="en-US" dirty="0">
              <a:latin typeface="Times New Roman" panose="02020603050405020304" pitchFamily="18" charset="0"/>
              <a:cs typeface="Times New Roman" panose="02020603050405020304" pitchFamily="18" charset="0"/>
            </a:endParaRPr>
          </a:p>
          <a:p>
            <a:pPr algn="just">
              <a:buNone/>
            </a:pPr>
            <a:r>
              <a:rPr lang="en-US" b="1" dirty="0">
                <a:latin typeface="Times New Roman" panose="02020603050405020304" pitchFamily="18" charset="0"/>
                <a:cs typeface="Times New Roman" panose="02020603050405020304" pitchFamily="18" charset="0"/>
                <a:sym typeface="+mn-ea"/>
              </a:rPr>
              <a:t>Team members</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sym typeface="+mn-ea"/>
              </a:rPr>
              <a:t>2420030066 -  P.Likhith Sai</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sym typeface="+mn-ea"/>
              </a:rPr>
              <a:t>2420030225 - Sanivarapu Sadhana</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sym typeface="+mn-ea"/>
              </a:rPr>
              <a:t>2420030336 -  M.Pavani Sree</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sym typeface="+mn-ea"/>
              </a:rPr>
              <a:t>2420030780 -  B.Sai Bharghav Reddy</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2650490" y="384810"/>
            <a:ext cx="6554470" cy="705485"/>
          </a:xfrm>
        </p:spPr>
        <p:txBody>
          <a:bodyPr/>
          <a:lstStyle/>
          <a:p>
            <a:pPr algn="ctr"/>
            <a:r>
              <a:rPr b="1">
                <a:latin typeface="Times New Roman" panose="02020603050405020304" pitchFamily="18" charset="0"/>
                <a:cs typeface="Times New Roman" panose="02020603050405020304" pitchFamily="18" charset="0"/>
                <a:sym typeface="+mn-ea"/>
              </a:rPr>
              <a:t>Problem Statement</a:t>
            </a:r>
            <a:endParaRPr lang="en-US" b="1"/>
          </a:p>
        </p:txBody>
      </p:sp>
      <p:sp>
        <p:nvSpPr>
          <p:cNvPr id="3" name="Content Placeholder 2"/>
          <p:cNvSpPr>
            <a:spLocks noGrp="1"/>
          </p:cNvSpPr>
          <p:nvPr>
            <p:ph idx="1"/>
            <p:custDataLst>
              <p:tags r:id="rId3"/>
            </p:custDataLst>
          </p:nvPr>
        </p:nvSpPr>
        <p:spPr/>
        <p:txBody>
          <a:bodyPr/>
          <a:lstStyle/>
          <a:p>
            <a:pPr algn="just">
              <a:buNone/>
              <a:defRPr sz="2200"/>
            </a:pPr>
            <a:r>
              <a:rPr lang="en-US" sz="2000" dirty="0">
                <a:solidFill>
                  <a:schemeClr val="tx1">
                    <a:lumMod val="95000"/>
                    <a:lumOff val="5000"/>
                  </a:schemeClr>
                </a:solidFill>
                <a:latin typeface="Times New Roman" panose="02020603050405020304" pitchFamily="18" charset="0"/>
                <a:ea typeface="+mn-lt"/>
                <a:cs typeface="Times New Roman" panose="02020603050405020304" pitchFamily="18" charset="0"/>
                <a:sym typeface="+mn-ea"/>
              </a:rPr>
              <a:t> Rapid urbanization and the growing number of vehicles have led to traffic congestion, road accidents, and longer travel times, affecting road safety and transportation efficiency. Existing systems often analyze GPS, weather, and accident data separately, limiting comprehensive mobility analysis.</a:t>
            </a:r>
            <a:endParaRPr lang="en-US" sz="2000" dirty="0">
              <a:solidFill>
                <a:schemeClr val="tx1">
                  <a:lumMod val="95000"/>
                  <a:lumOff val="5000"/>
                </a:schemeClr>
              </a:solidFill>
              <a:latin typeface="Times New Roman" panose="02020603050405020304" pitchFamily="18" charset="0"/>
              <a:cs typeface="Times New Roman" panose="02020603050405020304" pitchFamily="18" charset="0"/>
            </a:endParaRPr>
          </a:p>
          <a:p>
            <a:pPr algn="just">
              <a:buNone/>
              <a:defRPr sz="2200"/>
            </a:pPr>
            <a:r>
              <a:rPr lang="en-US" sz="2000" dirty="0">
                <a:solidFill>
                  <a:schemeClr val="tx1">
                    <a:lumMod val="95000"/>
                    <a:lumOff val="5000"/>
                  </a:schemeClr>
                </a:solidFill>
                <a:latin typeface="Times New Roman" panose="02020603050405020304" pitchFamily="18" charset="0"/>
                <a:ea typeface="+mn-lt"/>
                <a:cs typeface="Times New Roman" panose="02020603050405020304" pitchFamily="18" charset="0"/>
                <a:sym typeface="+mn-ea"/>
              </a:rPr>
              <a:t>     This project develops an </a:t>
            </a:r>
            <a:r>
              <a:rPr lang="en-US" sz="2000" b="1" dirty="0">
                <a:solidFill>
                  <a:schemeClr val="tx1">
                    <a:lumMod val="95000"/>
                    <a:lumOff val="5000"/>
                  </a:schemeClr>
                </a:solidFill>
                <a:latin typeface="Times New Roman" panose="02020603050405020304" pitchFamily="18" charset="0"/>
                <a:ea typeface="+mn-lt"/>
                <a:cs typeface="Times New Roman" panose="02020603050405020304" pitchFamily="18" charset="0"/>
                <a:sym typeface="+mn-ea"/>
              </a:rPr>
              <a:t>Intelligent Urban Mobility Analytics</a:t>
            </a:r>
            <a:r>
              <a:rPr lang="en-US" sz="2000" dirty="0">
                <a:solidFill>
                  <a:schemeClr val="tx1">
                    <a:lumMod val="95000"/>
                    <a:lumOff val="5000"/>
                  </a:schemeClr>
                </a:solidFill>
                <a:latin typeface="Times New Roman" panose="02020603050405020304" pitchFamily="18" charset="0"/>
                <a:ea typeface="+mn-lt"/>
                <a:cs typeface="Times New Roman" panose="02020603050405020304" pitchFamily="18" charset="0"/>
                <a:sym typeface="+mn-ea"/>
              </a:rPr>
              <a:t> platform that integrates </a:t>
            </a:r>
            <a:r>
              <a:rPr lang="en-US" sz="2000" b="1" dirty="0">
                <a:solidFill>
                  <a:schemeClr val="tx1">
                    <a:lumMod val="95000"/>
                    <a:lumOff val="5000"/>
                  </a:schemeClr>
                </a:solidFill>
                <a:latin typeface="Times New Roman" panose="02020603050405020304" pitchFamily="18" charset="0"/>
                <a:ea typeface="+mn-lt"/>
                <a:cs typeface="Times New Roman" panose="02020603050405020304" pitchFamily="18" charset="0"/>
                <a:sym typeface="+mn-ea"/>
              </a:rPr>
              <a:t>GPS trajectory, weather, and road accident data</a:t>
            </a:r>
            <a:r>
              <a:rPr lang="en-US" sz="2000" dirty="0">
                <a:solidFill>
                  <a:schemeClr val="tx1">
                    <a:lumMod val="95000"/>
                    <a:lumOff val="5000"/>
                  </a:schemeClr>
                </a:solidFill>
                <a:latin typeface="Times New Roman" panose="02020603050405020304" pitchFamily="18" charset="0"/>
                <a:ea typeface="+mn-lt"/>
                <a:cs typeface="Times New Roman" panose="02020603050405020304" pitchFamily="18" charset="0"/>
                <a:sym typeface="+mn-ea"/>
              </a:rPr>
              <a:t> to analyze mobility patterns, predict accident risks, and provide actionable insights through an interactive dashboard for smarter transportation planning.</a:t>
            </a:r>
          </a:p>
        </p:txBody>
      </p:sp>
      <p:pic>
        <p:nvPicPr>
          <p:cNvPr id="21506" name="Picture 2" descr="Koneru Lakshmaiah Education Foundation, Bachupally Campus Courses ..."/>
          <p:cNvPicPr>
            <a:picLocks noChangeAspect="1" noChangeArrowheads="1"/>
          </p:cNvPicPr>
          <p:nvPr/>
        </p:nvPicPr>
        <p:blipFill>
          <a:blip r:embed="rId5"/>
          <a:srcRect t="16961" b="27101"/>
          <a:stretch>
            <a:fillRect/>
          </a:stretch>
        </p:blipFill>
        <p:spPr bwMode="auto">
          <a:xfrm>
            <a:off x="0" y="0"/>
            <a:ext cx="2095500" cy="1145540"/>
          </a:xfrm>
          <a:prstGeom prst="rect">
            <a:avLst/>
          </a:prstGeom>
          <a:noFill/>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3387090" y="440055"/>
            <a:ext cx="4573270" cy="705485"/>
          </a:xfrm>
        </p:spPr>
        <p:txBody>
          <a:bodyPr/>
          <a:lstStyle/>
          <a:p>
            <a:pPr algn="ctr"/>
            <a:r>
              <a:rPr b="1">
                <a:solidFill>
                  <a:schemeClr val="tx1"/>
                </a:solidFill>
                <a:latin typeface="Times New Roman" panose="02020603050405020304" pitchFamily="18" charset="0"/>
                <a:cs typeface="Times New Roman" panose="02020603050405020304" pitchFamily="18" charset="0"/>
                <a:sym typeface="+mn-ea"/>
              </a:rPr>
              <a:t>Objectives</a:t>
            </a:r>
            <a:endParaRPr lang="en-US" b="1">
              <a:solidFill>
                <a:schemeClr val="tx1"/>
              </a:solidFill>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custDataLst>
              <p:tags r:id="rId3"/>
            </p:custDataLst>
          </p:nvPr>
        </p:nvSpPr>
        <p:spPr>
          <a:xfrm>
            <a:off x="608330" y="1490345"/>
            <a:ext cx="10968990" cy="4008120"/>
          </a:xfrm>
        </p:spPr>
        <p:txBody>
          <a:bodyPr>
            <a:noAutofit/>
          </a:bodyPr>
          <a:lstStyle/>
          <a:p>
            <a:pPr algn="just">
              <a:lnSpc>
                <a:spcPct val="100000"/>
              </a:lnSpc>
              <a:defRPr sz="2200"/>
            </a:pPr>
            <a:r>
              <a:rPr lang="en-US" altLang="en-US" sz="1600" dirty="0">
                <a:solidFill>
                  <a:schemeClr val="tx1">
                    <a:lumMod val="95000"/>
                    <a:lumOff val="5000"/>
                  </a:schemeClr>
                </a:solidFill>
                <a:latin typeface="Times New Roman" panose="02020603050405020304" pitchFamily="18" charset="0"/>
                <a:cs typeface="Times New Roman" panose="02020603050405020304" pitchFamily="18" charset="0"/>
              </a:rPr>
              <a:t>To integrate GPS trajectory, weather, traffic, and road accident data to provide a comprehensive view of urban mobility.</a:t>
            </a:r>
          </a:p>
          <a:p>
            <a:pPr algn="just">
              <a:lnSpc>
                <a:spcPct val="100000"/>
              </a:lnSpc>
              <a:defRPr sz="2200"/>
            </a:pPr>
            <a:r>
              <a:rPr lang="en-US" altLang="en-US" sz="1600" dirty="0">
                <a:solidFill>
                  <a:schemeClr val="tx1">
                    <a:lumMod val="95000"/>
                    <a:lumOff val="5000"/>
                  </a:schemeClr>
                </a:solidFill>
                <a:latin typeface="Times New Roman" panose="02020603050405020304" pitchFamily="18" charset="0"/>
                <a:cs typeface="Times New Roman" panose="02020603050405020304" pitchFamily="18" charset="0"/>
              </a:rPr>
              <a:t>To analyze travel patterns and examine how weather conditions, traffic conditions, and road factors influence mobility and accident risks.</a:t>
            </a:r>
          </a:p>
          <a:p>
            <a:pPr algn="just">
              <a:lnSpc>
                <a:spcPct val="100000"/>
              </a:lnSpc>
              <a:defRPr sz="2200"/>
            </a:pPr>
            <a:r>
              <a:rPr lang="en-US" altLang="en-US" sz="1600" dirty="0">
                <a:solidFill>
                  <a:schemeClr val="tx1">
                    <a:lumMod val="95000"/>
                    <a:lumOff val="5000"/>
                  </a:schemeClr>
                </a:solidFill>
                <a:latin typeface="Times New Roman" panose="02020603050405020304" pitchFamily="18" charset="0"/>
                <a:cs typeface="Times New Roman" panose="02020603050405020304" pitchFamily="18" charset="0"/>
              </a:rPr>
              <a:t>To apply and compare machine learning models for accident-risk prediction and identify the model with better predictive performance.</a:t>
            </a:r>
          </a:p>
          <a:p>
            <a:pPr algn="just">
              <a:lnSpc>
                <a:spcPct val="100000"/>
              </a:lnSpc>
              <a:defRPr sz="2200"/>
            </a:pPr>
            <a:r>
              <a:rPr lang="en-US" altLang="en-US" sz="1600" dirty="0">
                <a:solidFill>
                  <a:schemeClr val="tx1">
                    <a:lumMod val="95000"/>
                    <a:lumOff val="5000"/>
                  </a:schemeClr>
                </a:solidFill>
                <a:latin typeface="Times New Roman" panose="02020603050405020304" pitchFamily="18" charset="0"/>
                <a:cs typeface="Times New Roman" panose="02020603050405020304" pitchFamily="18" charset="0"/>
              </a:rPr>
              <a:t>To analyze accident-prone locations and mobility patterns using geospatial visualizations and analytical techniques.</a:t>
            </a:r>
          </a:p>
          <a:p>
            <a:pPr algn="just">
              <a:lnSpc>
                <a:spcPct val="100000"/>
              </a:lnSpc>
              <a:defRPr sz="2200"/>
            </a:pPr>
            <a:r>
              <a:rPr lang="en-US" altLang="en-US" sz="1600" dirty="0">
                <a:solidFill>
                  <a:schemeClr val="tx1">
                    <a:lumMod val="95000"/>
                    <a:lumOff val="5000"/>
                  </a:schemeClr>
                </a:solidFill>
                <a:latin typeface="Times New Roman" panose="02020603050405020304" pitchFamily="18" charset="0"/>
                <a:cs typeface="Times New Roman" panose="02020603050405020304" pitchFamily="18" charset="0"/>
              </a:rPr>
              <a:t>To present mobility patterns, accident hotspots, prediction results, geospatial visualizations, and analytical reports through an interactive dashboard for better transportation planning.</a:t>
            </a:r>
          </a:p>
          <a:p>
            <a:pPr algn="just">
              <a:lnSpc>
                <a:spcPct val="100000"/>
              </a:lnSpc>
              <a:defRPr sz="2200"/>
            </a:pPr>
            <a:r>
              <a:rPr lang="en-US" altLang="en-US" sz="1600" dirty="0">
                <a:solidFill>
                  <a:schemeClr val="tx1">
                    <a:lumMod val="95000"/>
                    <a:lumOff val="5000"/>
                  </a:schemeClr>
                </a:solidFill>
                <a:latin typeface="Times New Roman" panose="02020603050405020304" pitchFamily="18" charset="0"/>
                <a:cs typeface="Times New Roman" panose="02020603050405020304" pitchFamily="18" charset="0"/>
              </a:rPr>
              <a:t>To provide a foundation for real-time mobility monitoring by enabling future integration of live GPS and traffic data for dynamic transportation analysis.</a:t>
            </a:r>
          </a:p>
        </p:txBody>
      </p:sp>
      <p:pic>
        <p:nvPicPr>
          <p:cNvPr id="21506" name="Picture 2" descr="Koneru Lakshmaiah Education Foundation, Bachupally Campus Courses ..."/>
          <p:cNvPicPr>
            <a:picLocks noChangeAspect="1" noChangeArrowheads="1"/>
          </p:cNvPicPr>
          <p:nvPr/>
        </p:nvPicPr>
        <p:blipFill>
          <a:blip r:embed="rId5"/>
          <a:srcRect t="16961" b="27101"/>
          <a:stretch>
            <a:fillRect/>
          </a:stretch>
        </p:blipFill>
        <p:spPr bwMode="auto">
          <a:xfrm>
            <a:off x="0" y="0"/>
            <a:ext cx="2095500" cy="1145540"/>
          </a:xfrm>
          <a:prstGeom prst="rect">
            <a:avLst/>
          </a:prstGeom>
          <a:noFill/>
        </p:spPr>
      </p:pic>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2865755" y="537210"/>
            <a:ext cx="6267450" cy="543560"/>
          </a:xfrm>
        </p:spPr>
        <p:txBody>
          <a:bodyPr>
            <a:normAutofit fontScale="90000"/>
          </a:bodyPr>
          <a:lstStyle/>
          <a:p>
            <a:pPr algn="ctr"/>
            <a:r>
              <a:rPr lang="en-US" b="1" dirty="0">
                <a:latin typeface="Times New Roman" panose="02020603050405020304" pitchFamily="18" charset="0"/>
                <a:cs typeface="Times New Roman" panose="02020603050405020304" pitchFamily="18" charset="0"/>
                <a:sym typeface="+mn-ea"/>
              </a:rPr>
              <a:t>Literature Survey</a:t>
            </a:r>
            <a:br>
              <a:rPr lang="en-US" b="1" dirty="0">
                <a:latin typeface="Times New Roman" panose="02020603050405020304" pitchFamily="18" charset="0"/>
                <a:cs typeface="Times New Roman" panose="02020603050405020304" pitchFamily="18" charset="0"/>
                <a:sym typeface="+mn-ea"/>
              </a:rPr>
            </a:br>
            <a:endParaRPr lang="en-US" b="1"/>
          </a:p>
        </p:txBody>
      </p:sp>
      <p:graphicFrame>
        <p:nvGraphicFramePr>
          <p:cNvPr id="12" name="Content Placeholder 11"/>
          <p:cNvGraphicFramePr>
            <a:graphicFrameLocks noGrp="1"/>
          </p:cNvGraphicFramePr>
          <p:nvPr>
            <p:ph idx="1"/>
            <p:custDataLst>
              <p:tags r:id="rId3"/>
            </p:custDataLst>
          </p:nvPr>
        </p:nvGraphicFramePr>
        <p:xfrm>
          <a:off x="608400" y="1490400"/>
          <a:ext cx="10970260" cy="4481342"/>
        </p:xfrm>
        <a:graphic>
          <a:graphicData uri="http://schemas.openxmlformats.org/drawingml/2006/table">
            <a:tbl>
              <a:tblPr firstRow="1" bandRow="1">
                <a:tableStyleId>{5940675A-B579-460E-94D1-54222C63F5DA}</a:tableStyleId>
              </a:tblPr>
              <a:tblGrid>
                <a:gridCol w="2742565">
                  <a:extLst>
                    <a:ext uri="{9D8B030D-6E8A-4147-A177-3AD203B41FA5}">
                      <a16:colId xmlns:a16="http://schemas.microsoft.com/office/drawing/2014/main" val="20000"/>
                    </a:ext>
                  </a:extLst>
                </a:gridCol>
                <a:gridCol w="2742565">
                  <a:extLst>
                    <a:ext uri="{9D8B030D-6E8A-4147-A177-3AD203B41FA5}">
                      <a16:colId xmlns:a16="http://schemas.microsoft.com/office/drawing/2014/main" val="20001"/>
                    </a:ext>
                  </a:extLst>
                </a:gridCol>
                <a:gridCol w="2742565">
                  <a:extLst>
                    <a:ext uri="{9D8B030D-6E8A-4147-A177-3AD203B41FA5}">
                      <a16:colId xmlns:a16="http://schemas.microsoft.com/office/drawing/2014/main" val="20002"/>
                    </a:ext>
                  </a:extLst>
                </a:gridCol>
                <a:gridCol w="2742565">
                  <a:extLst>
                    <a:ext uri="{9D8B030D-6E8A-4147-A177-3AD203B41FA5}">
                      <a16:colId xmlns:a16="http://schemas.microsoft.com/office/drawing/2014/main" val="20003"/>
                    </a:ext>
                  </a:extLst>
                </a:gridCol>
              </a:tblGrid>
              <a:tr h="0">
                <a:tc>
                  <a:txBody>
                    <a:bodyPr/>
                    <a:lstStyle/>
                    <a:p>
                      <a:pPr algn="ctr"/>
                      <a:r>
                        <a:rPr lang="en-US" sz="1400" b="1" dirty="0">
                          <a:latin typeface="Times New Roman" panose="02020603050405020304" pitchFamily="18" charset="0"/>
                          <a:cs typeface="Times New Roman" panose="02020603050405020304" pitchFamily="18" charset="0"/>
                        </a:rPr>
                        <a:t>Paper</a:t>
                      </a:r>
                    </a:p>
                  </a:txBody>
                  <a:tcPr/>
                </a:tc>
                <a:tc>
                  <a:txBody>
                    <a:bodyPr/>
                    <a:lstStyle/>
                    <a:p>
                      <a:pPr algn="ctr"/>
                      <a:r>
                        <a:rPr lang="en-US" sz="1400" b="1" dirty="0">
                          <a:latin typeface="Times New Roman" panose="02020603050405020304" pitchFamily="18" charset="0"/>
                          <a:cs typeface="Times New Roman" panose="02020603050405020304" pitchFamily="18" charset="0"/>
                        </a:rPr>
                        <a:t>Publication </a:t>
                      </a:r>
                    </a:p>
                  </a:txBody>
                  <a:tcPr/>
                </a:tc>
                <a:tc>
                  <a:txBody>
                    <a:bodyPr/>
                    <a:lstStyle/>
                    <a:p>
                      <a:pPr algn="ctr"/>
                      <a:r>
                        <a:rPr lang="en-US" sz="1400" b="1" dirty="0">
                          <a:latin typeface="Times New Roman" panose="02020603050405020304" pitchFamily="18" charset="0"/>
                          <a:cs typeface="Times New Roman" panose="02020603050405020304" pitchFamily="18" charset="0"/>
                        </a:rPr>
                        <a:t>Key Contribution </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1400" b="1" dirty="0">
                          <a:latin typeface="Times New Roman" panose="02020603050405020304" pitchFamily="18" charset="0"/>
                          <a:cs typeface="Times New Roman" panose="02020603050405020304" pitchFamily="18" charset="0"/>
                        </a:rPr>
                        <a:t>Limitation</a:t>
                      </a:r>
                    </a:p>
                    <a:p>
                      <a:pPr marL="0" marR="0" indent="0" algn="ctr" defTabSz="914400" rtl="0" eaLnBrk="1" fontAlgn="auto" latinLnBrk="0" hangingPunct="1">
                        <a:lnSpc>
                          <a:spcPct val="100000"/>
                        </a:lnSpc>
                        <a:spcBef>
                          <a:spcPts val="0"/>
                        </a:spcBef>
                        <a:spcAft>
                          <a:spcPts val="0"/>
                        </a:spcAft>
                        <a:buClrTx/>
                        <a:buSzTx/>
                        <a:buFontTx/>
                        <a:buNone/>
                        <a:defRPr/>
                      </a:pPr>
                      <a:endParaRPr lang="en-US" sz="14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370840">
                <a:tc>
                  <a:txBody>
                    <a:bodyPr/>
                    <a:lstStyle/>
                    <a:p>
                      <a:pPr algn="ctr"/>
                      <a:r>
                        <a:rPr lang="en-US" sz="1400" dirty="0">
                          <a:latin typeface="Times New Roman" panose="02020603050405020304" pitchFamily="18" charset="0"/>
                          <a:cs typeface="Times New Roman" panose="02020603050405020304" pitchFamily="18" charset="0"/>
                        </a:rPr>
                        <a:t>A Prediction Model for Expressway Traffic Accidents Under Extreme Weather Conditions Using SVM (2024)</a:t>
                      </a:r>
                    </a:p>
                  </a:txBody>
                  <a:tcPr/>
                </a:tc>
                <a:tc>
                  <a:txBody>
                    <a:bodyPr/>
                    <a:lstStyle/>
                    <a:p>
                      <a:pPr algn="ctr"/>
                      <a:r>
                        <a:rPr lang="en-US" sz="1400" dirty="0">
                          <a:latin typeface="Times New Roman" panose="02020603050405020304" pitchFamily="18" charset="0"/>
                          <a:cs typeface="Times New Roman" panose="02020603050405020304" pitchFamily="18" charset="0"/>
                        </a:rPr>
                        <a:t>SAGE – Journal of Computational Methods in Sciences and Engineering</a:t>
                      </a:r>
                    </a:p>
                  </a:txBody>
                  <a:tcPr/>
                </a:tc>
                <a:tc>
                  <a:txBody>
                    <a:bodyPr/>
                    <a:lstStyle/>
                    <a:p>
                      <a:pPr algn="ctr"/>
                      <a:r>
                        <a:rPr lang="en-US" sz="1400" dirty="0">
                          <a:latin typeface="Times New Roman" panose="02020603050405020304" pitchFamily="18" charset="0"/>
                          <a:cs typeface="Times New Roman" panose="02020603050405020304" pitchFamily="18" charset="0"/>
                        </a:rPr>
                        <a:t>Studies the relationship between </a:t>
                      </a:r>
                      <a:r>
                        <a:rPr lang="en-US" sz="1400" b="1" dirty="0">
                          <a:latin typeface="Times New Roman" panose="02020603050405020304" pitchFamily="18" charset="0"/>
                          <a:cs typeface="Times New Roman" panose="02020603050405020304" pitchFamily="18" charset="0"/>
                        </a:rPr>
                        <a:t>extreme weather and traffic accidents</a:t>
                      </a:r>
                      <a:r>
                        <a:rPr lang="en-US" sz="1400" dirty="0">
                          <a:latin typeface="Times New Roman" panose="02020603050405020304" pitchFamily="18" charset="0"/>
                          <a:cs typeface="Times New Roman" panose="02020603050405020304" pitchFamily="18" charset="0"/>
                        </a:rPr>
                        <a:t> and applies an optimized </a:t>
                      </a:r>
                      <a:r>
                        <a:rPr lang="en-US" sz="1400" b="1" dirty="0">
                          <a:latin typeface="Times New Roman" panose="02020603050405020304" pitchFamily="18" charset="0"/>
                          <a:cs typeface="Times New Roman" panose="02020603050405020304" pitchFamily="18" charset="0"/>
                        </a:rPr>
                        <a:t>SVM</a:t>
                      </a:r>
                      <a:r>
                        <a:rPr lang="en-US" sz="1400" dirty="0">
                          <a:latin typeface="Times New Roman" panose="02020603050405020304" pitchFamily="18" charset="0"/>
                          <a:cs typeface="Times New Roman" panose="02020603050405020304" pitchFamily="18" charset="0"/>
                        </a:rPr>
                        <a:t> model for prediction. </a:t>
                      </a:r>
                    </a:p>
                  </a:txBody>
                  <a:tcPr/>
                </a:tc>
                <a:tc>
                  <a:txBody>
                    <a:bodyPr/>
                    <a:lstStyle/>
                    <a:p>
                      <a:pPr algn="ctr"/>
                      <a:r>
                        <a:rPr lang="en-US" sz="1400" dirty="0">
                          <a:latin typeface="Times New Roman" panose="02020603050405020304" pitchFamily="18" charset="0"/>
                          <a:cs typeface="Times New Roman" panose="02020603050405020304" pitchFamily="18" charset="0"/>
                        </a:rPr>
                        <a:t>Focuses on </a:t>
                      </a:r>
                      <a:r>
                        <a:rPr lang="en-US" sz="1400" b="1" dirty="0">
                          <a:latin typeface="Times New Roman" panose="02020603050405020304" pitchFamily="18" charset="0"/>
                          <a:cs typeface="Times New Roman" panose="02020603050405020304" pitchFamily="18" charset="0"/>
                        </a:rPr>
                        <a:t>expressways and extreme weather</a:t>
                      </a:r>
                      <a:r>
                        <a:rPr lang="en-US" sz="1400" dirty="0">
                          <a:latin typeface="Times New Roman" panose="02020603050405020304" pitchFamily="18" charset="0"/>
                          <a:cs typeface="Times New Roman" panose="02020603050405020304" pitchFamily="18" charset="0"/>
                        </a:rPr>
                        <a:t>, limiting its applicability to broader urban mobility scenarios.</a:t>
                      </a:r>
                    </a:p>
                  </a:txBody>
                  <a:tcPr/>
                </a:tc>
                <a:extLst>
                  <a:ext uri="{0D108BD9-81ED-4DB2-BD59-A6C34878D82A}">
                    <a16:rowId xmlns:a16="http://schemas.microsoft.com/office/drawing/2014/main" val="10001"/>
                  </a:ext>
                </a:extLst>
              </a:tr>
              <a:tr h="370840">
                <a:tc>
                  <a:txBody>
                    <a:bodyPr/>
                    <a:lstStyle/>
                    <a:p>
                      <a:pPr algn="ctr"/>
                      <a:r>
                        <a:rPr lang="en-US" sz="1400" dirty="0">
                          <a:latin typeface="Times New Roman" panose="02020603050405020304" pitchFamily="18" charset="0"/>
                          <a:cs typeface="Times New Roman" panose="02020603050405020304" pitchFamily="18" charset="0"/>
                        </a:rPr>
                        <a:t>From Prediction to Prevention: Leveraging Deep Learning in Traffic Accident Prediction Systems (2023)</a:t>
                      </a:r>
                    </a:p>
                  </a:txBody>
                  <a:tcPr/>
                </a:tc>
                <a:tc>
                  <a:txBody>
                    <a:bodyPr/>
                    <a:lstStyle/>
                    <a:p>
                      <a:pPr algn="ctr"/>
                      <a:r>
                        <a:rPr lang="en-US" sz="1400" dirty="0">
                          <a:latin typeface="Times New Roman" panose="02020603050405020304" pitchFamily="18" charset="0"/>
                          <a:cs typeface="Times New Roman" panose="02020603050405020304" pitchFamily="18" charset="0"/>
                        </a:rPr>
                        <a:t>MDPI – Electronics</a:t>
                      </a:r>
                    </a:p>
                  </a:txBody>
                  <a:tcPr/>
                </a:tc>
                <a:tc>
                  <a:txBody>
                    <a:bodyPr/>
                    <a:lstStyle/>
                    <a:p>
                      <a:pPr algn="ctr"/>
                      <a:r>
                        <a:rPr lang="en-US" sz="1400" dirty="0">
                          <a:latin typeface="Times New Roman" panose="02020603050405020304" pitchFamily="18" charset="0"/>
                          <a:cs typeface="Times New Roman" panose="02020603050405020304" pitchFamily="18" charset="0"/>
                        </a:rPr>
                        <a:t>Uses </a:t>
                      </a:r>
                      <a:r>
                        <a:rPr lang="en-US" sz="1400" b="1" dirty="0">
                          <a:latin typeface="Times New Roman" panose="02020603050405020304" pitchFamily="18" charset="0"/>
                          <a:cs typeface="Times New Roman" panose="02020603050405020304" pitchFamily="18" charset="0"/>
                        </a:rPr>
                        <a:t>CNN and DNN</a:t>
                      </a:r>
                      <a:r>
                        <a:rPr lang="en-US" sz="1400" dirty="0">
                          <a:latin typeface="Times New Roman" panose="02020603050405020304" pitchFamily="18" charset="0"/>
                          <a:cs typeface="Times New Roman" panose="02020603050405020304" pitchFamily="18" charset="0"/>
                        </a:rPr>
                        <a:t> for urban accident prediction and addresses the challenge of imbalanced accident data. </a:t>
                      </a:r>
                    </a:p>
                  </a:txBody>
                  <a:tcPr/>
                </a:tc>
                <a:tc>
                  <a:txBody>
                    <a:bodyPr/>
                    <a:lstStyle/>
                    <a:p>
                      <a:pPr algn="ctr"/>
                      <a:r>
                        <a:rPr lang="en-US" altLang="en-US" sz="1400" dirty="0">
                          <a:latin typeface="Times New Roman" panose="02020603050405020304" pitchFamily="18" charset="0"/>
                          <a:cs typeface="Times New Roman" panose="02020603050405020304" pitchFamily="18" charset="0"/>
                        </a:rPr>
                        <a:t>Mainly focuses on accident prediction and severity, with limited integration of multiple urban data sources.</a:t>
                      </a:r>
                      <a:r>
                        <a:rPr lang="en-US" sz="1400" dirty="0">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10002"/>
                  </a:ext>
                </a:extLst>
              </a:tr>
              <a:tr h="2073422">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1600" dirty="0">
                          <a:latin typeface="Times New Roman" panose="02020603050405020304" pitchFamily="18" charset="0"/>
                          <a:cs typeface="Times New Roman" panose="02020603050405020304" pitchFamily="18" charset="0"/>
                        </a:rPr>
                        <a:t>Traffic Accident Risk Prediction Based on Deep Learning and Spatiotemporal Features of Vehicle Trajectories (2025)</a:t>
                      </a:r>
                    </a:p>
                    <a:p>
                      <a:pPr marL="0" marR="0" indent="0" algn="ctr" defTabSz="914400" rtl="0" eaLnBrk="1" fontAlgn="auto" latinLnBrk="0" hangingPunct="1">
                        <a:lnSpc>
                          <a:spcPct val="100000"/>
                        </a:lnSpc>
                        <a:spcBef>
                          <a:spcPts val="0"/>
                        </a:spcBef>
                        <a:spcAft>
                          <a:spcPts val="0"/>
                        </a:spcAft>
                        <a:buClrTx/>
                        <a:buSzTx/>
                        <a:buFontTx/>
                        <a:buNone/>
                        <a:defRPr/>
                      </a:pPr>
                      <a:endParaRPr lang="en-US" sz="1600" dirty="0">
                        <a:latin typeface="Times New Roman" panose="02020603050405020304" pitchFamily="18" charset="0"/>
                        <a:cs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1600" dirty="0">
                          <a:latin typeface="Times New Roman" panose="02020603050405020304" pitchFamily="18" charset="0"/>
                          <a:cs typeface="Times New Roman" panose="02020603050405020304" pitchFamily="18" charset="0"/>
                        </a:rPr>
                        <a:t>PLOS ONE</a:t>
                      </a:r>
                    </a:p>
                    <a:p>
                      <a:pPr marL="0" marR="0" indent="0" algn="ctr" defTabSz="914400" rtl="0" eaLnBrk="1" fontAlgn="auto" latinLnBrk="0" hangingPunct="1">
                        <a:lnSpc>
                          <a:spcPct val="100000"/>
                        </a:lnSpc>
                        <a:spcBef>
                          <a:spcPts val="0"/>
                        </a:spcBef>
                        <a:spcAft>
                          <a:spcPts val="0"/>
                        </a:spcAft>
                        <a:buClrTx/>
                        <a:buSzTx/>
                        <a:buFontTx/>
                        <a:buNone/>
                        <a:defRPr/>
                      </a:pPr>
                      <a:endParaRPr lang="en-US" sz="1600" dirty="0">
                        <a:latin typeface="Times New Roman" panose="02020603050405020304" pitchFamily="18" charset="0"/>
                        <a:cs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1600" dirty="0">
                          <a:latin typeface="Times New Roman" panose="02020603050405020304" pitchFamily="18" charset="0"/>
                          <a:cs typeface="Times New Roman" panose="02020603050405020304" pitchFamily="18" charset="0"/>
                        </a:rPr>
                        <a:t>Uses </a:t>
                      </a:r>
                      <a:r>
                        <a:rPr lang="en-US" sz="1600" b="1" dirty="0">
                          <a:latin typeface="Times New Roman" panose="02020603050405020304" pitchFamily="18" charset="0"/>
                          <a:cs typeface="Times New Roman" panose="02020603050405020304" pitchFamily="18" charset="0"/>
                        </a:rPr>
                        <a:t>CNN, LSTM and GNN</a:t>
                      </a:r>
                      <a:r>
                        <a:rPr lang="en-US" sz="1600" dirty="0">
                          <a:latin typeface="Times New Roman" panose="02020603050405020304" pitchFamily="18" charset="0"/>
                          <a:cs typeface="Times New Roman" panose="02020603050405020304" pitchFamily="18" charset="0"/>
                        </a:rPr>
                        <a:t> with vehicle trajectory features such as speed, acceleration and location for accident-risk prediction.</a:t>
                      </a:r>
                    </a:p>
                    <a:p>
                      <a:pPr marL="0" marR="0" indent="0" algn="ctr" defTabSz="914400" rtl="0" eaLnBrk="1" fontAlgn="auto" latinLnBrk="0" hangingPunct="1">
                        <a:lnSpc>
                          <a:spcPct val="100000"/>
                        </a:lnSpc>
                        <a:spcBef>
                          <a:spcPts val="0"/>
                        </a:spcBef>
                        <a:spcAft>
                          <a:spcPts val="0"/>
                        </a:spcAft>
                        <a:buClrTx/>
                        <a:buSzTx/>
                        <a:buFontTx/>
                        <a:buNone/>
                        <a:defRPr/>
                      </a:pPr>
                      <a:endParaRPr lang="en-US"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rPr>
                        <a:t>Uses mainly </a:t>
                      </a:r>
                      <a:r>
                        <a:rPr lang="en-US" sz="1600" b="1" dirty="0">
                          <a:latin typeface="Times New Roman" panose="02020603050405020304" pitchFamily="18" charset="0"/>
                          <a:cs typeface="Times New Roman" panose="02020603050405020304" pitchFamily="18" charset="0"/>
                        </a:rPr>
                        <a:t>vehicle trajectory and traffic-network information</a:t>
                      </a:r>
                      <a:r>
                        <a:rPr lang="en-US" sz="1600" dirty="0">
                          <a:latin typeface="Times New Roman" panose="02020603050405020304" pitchFamily="18" charset="0"/>
                          <a:cs typeface="Times New Roman" panose="02020603050405020304" pitchFamily="18" charset="0"/>
                        </a:rPr>
                        <a:t> and does not provide a unified GPS + weather + accident analytics platform</a:t>
                      </a:r>
                    </a:p>
                  </a:txBody>
                  <a:tcPr/>
                </a:tc>
                <a:extLst>
                  <a:ext uri="{0D108BD9-81ED-4DB2-BD59-A6C34878D82A}">
                    <a16:rowId xmlns:a16="http://schemas.microsoft.com/office/drawing/2014/main" val="10003"/>
                  </a:ext>
                </a:extLst>
              </a:tr>
            </a:tbl>
          </a:graphicData>
        </a:graphic>
      </p:graphicFrame>
      <p:pic>
        <p:nvPicPr>
          <p:cNvPr id="21506" name="Picture 2" descr="Koneru Lakshmaiah Education Foundation, Bachupally Campus Courses ..."/>
          <p:cNvPicPr>
            <a:picLocks noChangeAspect="1" noChangeArrowheads="1"/>
          </p:cNvPicPr>
          <p:nvPr/>
        </p:nvPicPr>
        <p:blipFill>
          <a:blip r:embed="rId5"/>
          <a:srcRect t="16961" b="27101"/>
          <a:stretch>
            <a:fillRect/>
          </a:stretch>
        </p:blipFill>
        <p:spPr bwMode="auto">
          <a:xfrm>
            <a:off x="0" y="0"/>
            <a:ext cx="2095500" cy="1145540"/>
          </a:xfrm>
          <a:prstGeom prst="rect">
            <a:avLst/>
          </a:prstGeom>
          <a:noFill/>
        </p:spPr>
      </p:pic>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3009265" y="440055"/>
            <a:ext cx="6840220" cy="705485"/>
          </a:xfrm>
        </p:spPr>
        <p:txBody>
          <a:bodyPr/>
          <a:lstStyle/>
          <a:p>
            <a:pPr algn="ctr"/>
            <a:r>
              <a:rPr lang="en-US" b="1" dirty="0">
                <a:latin typeface="Times New Roman" panose="02020603050405020304" pitchFamily="18" charset="0"/>
                <a:cs typeface="Times New Roman" panose="02020603050405020304" pitchFamily="18" charset="0"/>
                <a:sym typeface="+mn-ea"/>
              </a:rPr>
              <a:t>Literature Survey</a:t>
            </a:r>
            <a:endParaRPr lang="en-US"/>
          </a:p>
        </p:txBody>
      </p:sp>
      <p:graphicFrame>
        <p:nvGraphicFramePr>
          <p:cNvPr id="8" name="Content Placeholder 7"/>
          <p:cNvGraphicFramePr>
            <a:graphicFrameLocks noGrp="1"/>
          </p:cNvGraphicFramePr>
          <p:nvPr>
            <p:ph idx="1"/>
            <p:custDataLst>
              <p:tags r:id="rId3"/>
            </p:custDataLst>
          </p:nvPr>
        </p:nvGraphicFramePr>
        <p:xfrm>
          <a:off x="608400" y="1490400"/>
          <a:ext cx="10970260" cy="4058920"/>
        </p:xfrm>
        <a:graphic>
          <a:graphicData uri="http://schemas.openxmlformats.org/drawingml/2006/table">
            <a:tbl>
              <a:tblPr firstRow="1" bandRow="1">
                <a:tableStyleId>{5940675A-B579-460E-94D1-54222C63F5DA}</a:tableStyleId>
              </a:tblPr>
              <a:tblGrid>
                <a:gridCol w="2742565">
                  <a:extLst>
                    <a:ext uri="{9D8B030D-6E8A-4147-A177-3AD203B41FA5}">
                      <a16:colId xmlns:a16="http://schemas.microsoft.com/office/drawing/2014/main" val="20000"/>
                    </a:ext>
                  </a:extLst>
                </a:gridCol>
                <a:gridCol w="2742565">
                  <a:extLst>
                    <a:ext uri="{9D8B030D-6E8A-4147-A177-3AD203B41FA5}">
                      <a16:colId xmlns:a16="http://schemas.microsoft.com/office/drawing/2014/main" val="20001"/>
                    </a:ext>
                  </a:extLst>
                </a:gridCol>
                <a:gridCol w="2742565">
                  <a:extLst>
                    <a:ext uri="{9D8B030D-6E8A-4147-A177-3AD203B41FA5}">
                      <a16:colId xmlns:a16="http://schemas.microsoft.com/office/drawing/2014/main" val="20002"/>
                    </a:ext>
                  </a:extLst>
                </a:gridCol>
                <a:gridCol w="2742565">
                  <a:extLst>
                    <a:ext uri="{9D8B030D-6E8A-4147-A177-3AD203B41FA5}">
                      <a16:colId xmlns:a16="http://schemas.microsoft.com/office/drawing/2014/main" val="20003"/>
                    </a:ext>
                  </a:extLst>
                </a:gridCol>
              </a:tblGrid>
              <a:tr h="370840">
                <a:tc>
                  <a:txBody>
                    <a:bodyPr/>
                    <a:lstStyle/>
                    <a:p>
                      <a:pPr algn="ctr"/>
                      <a:r>
                        <a:rPr lang="en-US" sz="1400" b="1" dirty="0">
                          <a:latin typeface="Times New Roman" panose="02020603050405020304" pitchFamily="18" charset="0"/>
                          <a:cs typeface="Times New Roman" panose="02020603050405020304" pitchFamily="18" charset="0"/>
                        </a:rPr>
                        <a:t>Paper</a:t>
                      </a:r>
                    </a:p>
                  </a:txBody>
                  <a:tcPr/>
                </a:tc>
                <a:tc>
                  <a:txBody>
                    <a:bodyPr/>
                    <a:lstStyle/>
                    <a:p>
                      <a:pPr algn="ctr"/>
                      <a:r>
                        <a:rPr lang="en-US" sz="1400" b="1" dirty="0">
                          <a:latin typeface="Times New Roman" panose="02020603050405020304" pitchFamily="18" charset="0"/>
                          <a:cs typeface="Times New Roman" panose="02020603050405020304" pitchFamily="18" charset="0"/>
                        </a:rPr>
                        <a:t>Publication </a:t>
                      </a:r>
                    </a:p>
                  </a:txBody>
                  <a:tcPr/>
                </a:tc>
                <a:tc>
                  <a:txBody>
                    <a:bodyPr/>
                    <a:lstStyle/>
                    <a:p>
                      <a:pPr algn="ctr"/>
                      <a:r>
                        <a:rPr lang="en-US" sz="1400" b="1" dirty="0">
                          <a:latin typeface="Times New Roman" panose="02020603050405020304" pitchFamily="18" charset="0"/>
                          <a:cs typeface="Times New Roman" panose="02020603050405020304" pitchFamily="18" charset="0"/>
                        </a:rPr>
                        <a:t>Key Contribution </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1400" b="1" dirty="0">
                          <a:latin typeface="Times New Roman" panose="02020603050405020304" pitchFamily="18" charset="0"/>
                          <a:cs typeface="Times New Roman" panose="02020603050405020304" pitchFamily="18" charset="0"/>
                        </a:rPr>
                        <a:t>Limitation</a:t>
                      </a:r>
                    </a:p>
                  </a:txBody>
                  <a:tcPr/>
                </a:tc>
                <a:extLst>
                  <a:ext uri="{0D108BD9-81ED-4DB2-BD59-A6C34878D82A}">
                    <a16:rowId xmlns:a16="http://schemas.microsoft.com/office/drawing/2014/main" val="10000"/>
                  </a:ext>
                </a:extLst>
              </a:tr>
              <a:tr h="370840">
                <a:tc>
                  <a:txBody>
                    <a:bodyPr/>
                    <a:lstStyle/>
                    <a:p>
                      <a:pPr algn="ctr"/>
                      <a:r>
                        <a:rPr lang="en-US" sz="1400" dirty="0">
                          <a:latin typeface="Times New Roman" panose="02020603050405020304" pitchFamily="18" charset="0"/>
                          <a:cs typeface="Times New Roman" panose="02020603050405020304" pitchFamily="18" charset="0"/>
                        </a:rPr>
                        <a:t>An Explainable Machine Learning Approach to Traffic Accident Fatality Prediction (2024)</a:t>
                      </a:r>
                    </a:p>
                  </a:txBody>
                  <a:tcPr/>
                </a:tc>
                <a:tc>
                  <a:txBody>
                    <a:bodyPr/>
                    <a:lstStyle/>
                    <a:p>
                      <a:pPr algn="ctr"/>
                      <a:r>
                        <a:rPr lang="en-US" sz="1400" dirty="0" err="1">
                          <a:latin typeface="Times New Roman" panose="02020603050405020304" pitchFamily="18" charset="0"/>
                          <a:cs typeface="Times New Roman" panose="02020603050405020304" pitchFamily="18" charset="0"/>
                        </a:rPr>
                        <a:t>Procedia</a:t>
                      </a:r>
                      <a:r>
                        <a:rPr lang="en-US" sz="1400" dirty="0">
                          <a:latin typeface="Times New Roman" panose="02020603050405020304" pitchFamily="18" charset="0"/>
                          <a:cs typeface="Times New Roman" panose="02020603050405020304" pitchFamily="18" charset="0"/>
                        </a:rPr>
                        <a:t> Computer Science</a:t>
                      </a:r>
                    </a:p>
                  </a:txBody>
                  <a:tcPr/>
                </a:tc>
                <a:tc>
                  <a:txBody>
                    <a:bodyPr/>
                    <a:lstStyle/>
                    <a:p>
                      <a:pPr algn="ctr"/>
                      <a:r>
                        <a:rPr lang="en-US" altLang="en-US" sz="1400" dirty="0">
                          <a:latin typeface="Times New Roman" panose="02020603050405020304" pitchFamily="18" charset="0"/>
                          <a:cs typeface="Times New Roman" panose="02020603050405020304" pitchFamily="18" charset="0"/>
                        </a:rPr>
                        <a:t>Compares machine-learning models including Logistic Regression, Random Forest, and Decision Tree for traffic accident fatality prediction.</a:t>
                      </a:r>
                    </a:p>
                  </a:txBody>
                  <a:tcPr/>
                </a:tc>
                <a:tc>
                  <a:txBody>
                    <a:bodyPr/>
                    <a:lstStyle/>
                    <a:p>
                      <a:pPr algn="ctr"/>
                      <a:r>
                        <a:rPr lang="en-US" altLang="en-US" sz="1400" dirty="0">
                          <a:latin typeface="Times New Roman" panose="02020603050405020304" pitchFamily="18" charset="0"/>
                          <a:cs typeface="Times New Roman" panose="02020603050405020304" pitchFamily="18" charset="0"/>
                        </a:rPr>
                        <a:t>Focuses on fatality classification rather than comprehensive urban mobility, GPS analysis, weather impact, and integrated dashboard analytics.</a:t>
                      </a:r>
                    </a:p>
                  </a:txBody>
                  <a:tcPr/>
                </a:tc>
                <a:extLst>
                  <a:ext uri="{0D108BD9-81ED-4DB2-BD59-A6C34878D82A}">
                    <a16:rowId xmlns:a16="http://schemas.microsoft.com/office/drawing/2014/main" val="10001"/>
                  </a:ext>
                </a:extLst>
              </a:tr>
              <a:tr h="370840">
                <a:tc>
                  <a:txBody>
                    <a:bodyPr/>
                    <a:lstStyle/>
                    <a:p>
                      <a:pPr algn="ctr"/>
                      <a:r>
                        <a:rPr lang="en-US" sz="1400" dirty="0">
                          <a:latin typeface="Times New Roman" panose="02020603050405020304" pitchFamily="18" charset="0"/>
                          <a:cs typeface="Times New Roman" panose="02020603050405020304" pitchFamily="18" charset="0"/>
                        </a:rPr>
                        <a:t>A Methodological Framework for Road Accident Severity Prediction for Indian Highways Using Machine Learning Models (2025)</a:t>
                      </a:r>
                    </a:p>
                  </a:txBody>
                  <a:tcPr/>
                </a:tc>
                <a:tc>
                  <a:txBody>
                    <a:bodyPr/>
                    <a:lstStyle/>
                    <a:p>
                      <a:pPr algn="ctr"/>
                      <a:r>
                        <a:rPr lang="en-US" sz="1400" dirty="0">
                          <a:latin typeface="Times New Roman" panose="02020603050405020304" pitchFamily="18" charset="0"/>
                          <a:cs typeface="Times New Roman" panose="02020603050405020304" pitchFamily="18" charset="0"/>
                        </a:rPr>
                        <a:t>Elsevier – </a:t>
                      </a:r>
                      <a:r>
                        <a:rPr lang="en-US" sz="1400" i="1" dirty="0" err="1">
                          <a:latin typeface="Times New Roman" panose="02020603050405020304" pitchFamily="18" charset="0"/>
                          <a:cs typeface="Times New Roman" panose="02020603050405020304" pitchFamily="18" charset="0"/>
                        </a:rPr>
                        <a:t>MethodsX</a:t>
                      </a:r>
                      <a:endParaRPr lang="en-US" sz="1400" dirty="0">
                        <a:latin typeface="Times New Roman" panose="02020603050405020304" pitchFamily="18" charset="0"/>
                        <a:cs typeface="Times New Roman" panose="02020603050405020304" pitchFamily="18" charset="0"/>
                      </a:endParaRPr>
                    </a:p>
                  </a:txBody>
                  <a:tcPr/>
                </a:tc>
                <a:tc>
                  <a:txBody>
                    <a:bodyPr/>
                    <a:lstStyle/>
                    <a:p>
                      <a:pPr algn="ctr"/>
                      <a:r>
                        <a:rPr lang="en-US" altLang="en-US" sz="1400" dirty="0">
                          <a:latin typeface="Times New Roman" panose="02020603050405020304" pitchFamily="18" charset="0"/>
                          <a:cs typeface="Times New Roman" panose="02020603050405020304" pitchFamily="18" charset="0"/>
                        </a:rPr>
                        <a:t>Uses Random Forest and Gradient Boosting for accident-severity prediction using factors such as vehicle type, weather, and road conditions</a:t>
                      </a:r>
                      <a:r>
                        <a:rPr lang="en-US" sz="1400" dirty="0">
                          <a:latin typeface="Times New Roman" panose="02020603050405020304" pitchFamily="18" charset="0"/>
                          <a:cs typeface="Times New Roman" panose="02020603050405020304" pitchFamily="18" charset="0"/>
                        </a:rPr>
                        <a:t> </a:t>
                      </a:r>
                    </a:p>
                  </a:txBody>
                  <a:tcPr/>
                </a:tc>
                <a:tc>
                  <a:txBody>
                    <a:bodyPr/>
                    <a:lstStyle/>
                    <a:p>
                      <a:pPr algn="ctr"/>
                      <a:r>
                        <a:rPr lang="en-US" altLang="en-US" sz="1400" dirty="0">
                          <a:latin typeface="Times New Roman" panose="02020603050405020304" pitchFamily="18" charset="0"/>
                          <a:cs typeface="Times New Roman" panose="02020603050405020304" pitchFamily="18" charset="0"/>
                        </a:rPr>
                        <a:t>Focuses mainly on accident severity on Indian highways rather than general urban mobility and route analysis.</a:t>
                      </a:r>
                    </a:p>
                  </a:txBody>
                  <a:tcPr/>
                </a:tc>
                <a:extLst>
                  <a:ext uri="{0D108BD9-81ED-4DB2-BD59-A6C34878D82A}">
                    <a16:rowId xmlns:a16="http://schemas.microsoft.com/office/drawing/2014/main" val="10002"/>
                  </a:ext>
                </a:extLst>
              </a:tr>
              <a:tr h="370840">
                <a:tc>
                  <a:txBody>
                    <a:bodyPr/>
                    <a:lstStyle/>
                    <a:p>
                      <a:pPr algn="ctr"/>
                      <a:r>
                        <a:rPr lang="en-US" sz="1400" dirty="0">
                          <a:latin typeface="Times New Roman" panose="02020603050405020304" pitchFamily="18" charset="0"/>
                          <a:cs typeface="Times New Roman" panose="02020603050405020304" pitchFamily="18" charset="0"/>
                        </a:rPr>
                        <a:t>Urban Flow Prediction from Spatiotemporal Data Using Machine Learning: A Survey (2020)</a:t>
                      </a:r>
                    </a:p>
                  </a:txBody>
                  <a:tcPr/>
                </a:tc>
                <a:tc>
                  <a:txBody>
                    <a:bodyPr/>
                    <a:lstStyle/>
                    <a:p>
                      <a:pPr algn="ctr"/>
                      <a:r>
                        <a:rPr lang="en-US" sz="1400" dirty="0">
                          <a:latin typeface="Times New Roman" panose="02020603050405020304" pitchFamily="18" charset="0"/>
                          <a:cs typeface="Times New Roman" panose="02020603050405020304" pitchFamily="18" charset="0"/>
                        </a:rPr>
                        <a:t>Elsevier – </a:t>
                      </a:r>
                      <a:r>
                        <a:rPr lang="en-US" sz="1400" i="1" dirty="0">
                          <a:latin typeface="Times New Roman" panose="02020603050405020304" pitchFamily="18" charset="0"/>
                          <a:cs typeface="Times New Roman" panose="02020603050405020304" pitchFamily="18" charset="0"/>
                        </a:rPr>
                        <a:t>Information Fusion</a:t>
                      </a:r>
                      <a:endParaRPr lang="en-US" sz="1400" dirty="0">
                        <a:latin typeface="Times New Roman" panose="02020603050405020304" pitchFamily="18" charset="0"/>
                        <a:cs typeface="Times New Roman" panose="02020603050405020304" pitchFamily="18" charset="0"/>
                      </a:endParaRPr>
                    </a:p>
                  </a:txBody>
                  <a:tcPr/>
                </a:tc>
                <a:tc>
                  <a:txBody>
                    <a:bodyPr/>
                    <a:lstStyle/>
                    <a:p>
                      <a:pPr algn="ctr"/>
                      <a:r>
                        <a:rPr lang="en-US" altLang="en-US" sz="1400" dirty="0">
                          <a:latin typeface="Times New Roman" panose="02020603050405020304" pitchFamily="18" charset="0"/>
                          <a:cs typeface="Times New Roman" panose="02020603050405020304" pitchFamily="18" charset="0"/>
                        </a:rPr>
                        <a:t>Reviews machine-learning approaches for urban spatiotemporal flow prediction, focusing on traffic management, public safety, datasets, algorithms, and evaluation methods.</a:t>
                      </a:r>
                    </a:p>
                  </a:txBody>
                  <a:tcPr/>
                </a:tc>
                <a:tc>
                  <a:txBody>
                    <a:bodyPr/>
                    <a:lstStyle/>
                    <a:p>
                      <a:pPr algn="ctr"/>
                      <a:r>
                        <a:rPr lang="en-US" altLang="en-US" sz="1400" dirty="0">
                          <a:latin typeface="Times New Roman" panose="02020603050405020304" pitchFamily="18" charset="0"/>
                          <a:cs typeface="Times New Roman" panose="02020603050405020304" pitchFamily="18" charset="0"/>
                        </a:rPr>
                        <a:t>Focuses primarily on traffic-flow prediction and does not integrate accident, weather, and GPS analysis into one platform.</a:t>
                      </a:r>
                    </a:p>
                  </a:txBody>
                  <a:tcPr/>
                </a:tc>
                <a:extLst>
                  <a:ext uri="{0D108BD9-81ED-4DB2-BD59-A6C34878D82A}">
                    <a16:rowId xmlns:a16="http://schemas.microsoft.com/office/drawing/2014/main" val="10003"/>
                  </a:ext>
                </a:extLst>
              </a:tr>
            </a:tbl>
          </a:graphicData>
        </a:graphic>
      </p:graphicFrame>
      <p:pic>
        <p:nvPicPr>
          <p:cNvPr id="21506" name="Picture 2" descr="Koneru Lakshmaiah Education Foundation, Bachupally Campus Courses ..."/>
          <p:cNvPicPr>
            <a:picLocks noChangeAspect="1" noChangeArrowheads="1"/>
          </p:cNvPicPr>
          <p:nvPr/>
        </p:nvPicPr>
        <p:blipFill>
          <a:blip r:embed="rId5"/>
          <a:srcRect t="16961" b="27101"/>
          <a:stretch>
            <a:fillRect/>
          </a:stretch>
        </p:blipFill>
        <p:spPr bwMode="auto">
          <a:xfrm>
            <a:off x="0" y="0"/>
            <a:ext cx="2095500" cy="1145540"/>
          </a:xfrm>
          <a:prstGeom prst="rect">
            <a:avLst/>
          </a:prstGeom>
          <a:noFill/>
        </p:spPr>
      </p:pic>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2284730" y="440055"/>
            <a:ext cx="7806690" cy="705485"/>
          </a:xfrm>
        </p:spPr>
        <p:txBody>
          <a:bodyPr>
            <a:normAutofit/>
          </a:bodyPr>
          <a:lstStyle/>
          <a:p>
            <a:pPr algn="ctr"/>
            <a:r>
              <a:rPr lang="en-US" b="1" dirty="0">
                <a:latin typeface="Times New Roman" panose="02020603050405020304" pitchFamily="18" charset="0"/>
                <a:ea typeface="+mj-lt"/>
                <a:cs typeface="Times New Roman" panose="02020603050405020304" pitchFamily="18" charset="0"/>
                <a:sym typeface="+mn-ea"/>
              </a:rPr>
              <a:t>       Research Gap Identification</a:t>
            </a:r>
            <a:endParaRPr lang="en-US" b="1">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custDataLst>
              <p:tags r:id="rId3"/>
            </p:custDataLst>
          </p:nvPr>
        </p:nvSpPr>
        <p:spPr/>
        <p:txBody>
          <a:bodyPr>
            <a:normAutofit fontScale="90000" lnSpcReduction="10000"/>
          </a:bodyPr>
          <a:lstStyle/>
          <a:p>
            <a:pPr marL="285750" indent="-285750" algn="just">
              <a:buFont typeface="Arial" panose="020B0604020202020204"/>
              <a:buChar char="•"/>
            </a:pPr>
            <a:r>
              <a:rPr lang="en-US" b="1" dirty="0">
                <a:solidFill>
                  <a:schemeClr val="tx1">
                    <a:lumMod val="95000"/>
                    <a:lumOff val="5000"/>
                  </a:schemeClr>
                </a:solidFill>
                <a:latin typeface="Times New Roman" panose="02020603050405020304" pitchFamily="18" charset="0"/>
                <a:cs typeface="Times New Roman" panose="02020603050405020304" pitchFamily="18" charset="0"/>
                <a:sym typeface="+mn-ea"/>
              </a:rPr>
              <a:t>Fragmented Mobility Data:</a:t>
            </a:r>
            <a:r>
              <a:rPr lang="en-US" dirty="0">
                <a:solidFill>
                  <a:schemeClr val="tx1">
                    <a:lumMod val="95000"/>
                    <a:lumOff val="5000"/>
                  </a:schemeClr>
                </a:solidFill>
                <a:latin typeface="Times New Roman" panose="02020603050405020304" pitchFamily="18" charset="0"/>
                <a:cs typeface="Times New Roman" panose="02020603050405020304" pitchFamily="18" charset="0"/>
                <a:sym typeface="+mn-ea"/>
              </a:rPr>
              <a:t> Existing systems often analyze GPS, weather, traffic, and road accident data independently, making it difficult to obtain a comprehensive view of urban mobility. </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a:p>
            <a:pPr marL="285750" indent="-285750" algn="just">
              <a:buFont typeface="Arial" panose="020B0604020202020204"/>
              <a:buChar char="•"/>
            </a:pPr>
            <a:r>
              <a:rPr lang="en-US" b="1" dirty="0">
                <a:solidFill>
                  <a:schemeClr val="tx1">
                    <a:lumMod val="95000"/>
                    <a:lumOff val="5000"/>
                  </a:schemeClr>
                </a:solidFill>
                <a:latin typeface="Times New Roman" panose="02020603050405020304" pitchFamily="18" charset="0"/>
                <a:cs typeface="Times New Roman" panose="02020603050405020304" pitchFamily="18" charset="0"/>
                <a:sym typeface="+mn-ea"/>
              </a:rPr>
              <a:t>Limited Mobility &amp; Safety Analysis:</a:t>
            </a:r>
            <a:r>
              <a:rPr lang="en-US" dirty="0">
                <a:solidFill>
                  <a:schemeClr val="tx1">
                    <a:lumMod val="95000"/>
                    <a:lumOff val="5000"/>
                  </a:schemeClr>
                </a:solidFill>
                <a:latin typeface="Times New Roman" panose="02020603050405020304" pitchFamily="18" charset="0"/>
                <a:cs typeface="Times New Roman" panose="02020603050405020304" pitchFamily="18" charset="0"/>
                <a:sym typeface="+mn-ea"/>
              </a:rPr>
              <a:t> The combined effects of travel patterns, weather conditions, traffic conditions, and road factors on mobility and accident risks are not sufficiently analyzed.</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a:p>
            <a:pPr marL="285750" indent="-285750" algn="just">
              <a:buFont typeface="Arial" panose="020B0604020202020204"/>
              <a:buChar char="•"/>
            </a:pPr>
            <a:r>
              <a:rPr lang="en-US" dirty="0">
                <a:solidFill>
                  <a:schemeClr val="tx1">
                    <a:lumMod val="95000"/>
                    <a:lumOff val="5000"/>
                  </a:schemeClr>
                </a:solidFill>
                <a:latin typeface="Times New Roman" panose="02020603050405020304" pitchFamily="18" charset="0"/>
                <a:cs typeface="Times New Roman" panose="02020603050405020304" pitchFamily="18" charset="0"/>
                <a:sym typeface="+mn-ea"/>
              </a:rPr>
              <a:t> </a:t>
            </a:r>
            <a:r>
              <a:rPr lang="en-US" b="1" dirty="0">
                <a:solidFill>
                  <a:schemeClr val="tx1">
                    <a:lumMod val="95000"/>
                    <a:lumOff val="5000"/>
                  </a:schemeClr>
                </a:solidFill>
                <a:latin typeface="Times New Roman" panose="02020603050405020304" pitchFamily="18" charset="0"/>
                <a:cs typeface="Times New Roman" panose="02020603050405020304" pitchFamily="18" charset="0"/>
                <a:sym typeface="+mn-ea"/>
              </a:rPr>
              <a:t>Limited Predictive Analysis:</a:t>
            </a:r>
            <a:r>
              <a:rPr lang="en-US" dirty="0">
                <a:solidFill>
                  <a:schemeClr val="tx1">
                    <a:lumMod val="95000"/>
                    <a:lumOff val="5000"/>
                  </a:schemeClr>
                </a:solidFill>
                <a:latin typeface="Times New Roman" panose="02020603050405020304" pitchFamily="18" charset="0"/>
                <a:cs typeface="Times New Roman" panose="02020603050405020304" pitchFamily="18" charset="0"/>
                <a:sym typeface="+mn-ea"/>
              </a:rPr>
              <a:t> Many existing systems mainly provide historical or descriptive analysis, with limited use of machine learning for predicting accident risks and comparing prediction performance.</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a:p>
            <a:pPr marL="285750" indent="-285750" algn="just">
              <a:buFont typeface="Arial" panose="020B0604020202020204"/>
              <a:buChar char="•"/>
            </a:pPr>
            <a:r>
              <a:rPr lang="en-US" dirty="0">
                <a:solidFill>
                  <a:schemeClr val="tx1">
                    <a:lumMod val="95000"/>
                    <a:lumOff val="5000"/>
                  </a:schemeClr>
                </a:solidFill>
                <a:latin typeface="Times New Roman" panose="02020603050405020304" pitchFamily="18" charset="0"/>
                <a:cs typeface="Times New Roman" panose="02020603050405020304" pitchFamily="18" charset="0"/>
                <a:sym typeface="+mn-ea"/>
              </a:rPr>
              <a:t> </a:t>
            </a:r>
            <a:r>
              <a:rPr lang="en-US" b="1" dirty="0">
                <a:solidFill>
                  <a:schemeClr val="tx1">
                    <a:lumMod val="95000"/>
                    <a:lumOff val="5000"/>
                  </a:schemeClr>
                </a:solidFill>
                <a:latin typeface="Times New Roman" panose="02020603050405020304" pitchFamily="18" charset="0"/>
                <a:cs typeface="Times New Roman" panose="02020603050405020304" pitchFamily="18" charset="0"/>
                <a:sym typeface="+mn-ea"/>
              </a:rPr>
              <a:t>Limited Explainability:</a:t>
            </a:r>
            <a:r>
              <a:rPr lang="en-US" dirty="0">
                <a:solidFill>
                  <a:schemeClr val="tx1">
                    <a:lumMod val="95000"/>
                    <a:lumOff val="5000"/>
                  </a:schemeClr>
                </a:solidFill>
                <a:latin typeface="Times New Roman" panose="02020603050405020304" pitchFamily="18" charset="0"/>
                <a:cs typeface="Times New Roman" panose="02020603050405020304" pitchFamily="18" charset="0"/>
                <a:sym typeface="+mn-ea"/>
              </a:rPr>
              <a:t> Existing prediction models often provide accident-risk predictions without clearly explaining the factors that influence their results.</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a:p>
            <a:pPr marL="285750" indent="-285750" algn="just">
              <a:buFont typeface="Arial" panose="020B0604020202020204"/>
              <a:buChar char="•"/>
            </a:pPr>
            <a:r>
              <a:rPr lang="en-US" dirty="0">
                <a:solidFill>
                  <a:schemeClr val="tx1">
                    <a:lumMod val="95000"/>
                    <a:lumOff val="5000"/>
                  </a:schemeClr>
                </a:solidFill>
                <a:latin typeface="Times New Roman" panose="02020603050405020304" pitchFamily="18" charset="0"/>
                <a:cs typeface="Times New Roman" panose="02020603050405020304" pitchFamily="18" charset="0"/>
                <a:sym typeface="+mn-ea"/>
              </a:rPr>
              <a:t> </a:t>
            </a:r>
            <a:r>
              <a:rPr lang="en-US" b="1" dirty="0">
                <a:solidFill>
                  <a:schemeClr val="tx1">
                    <a:lumMod val="95000"/>
                    <a:lumOff val="5000"/>
                  </a:schemeClr>
                </a:solidFill>
                <a:latin typeface="Times New Roman" panose="02020603050405020304" pitchFamily="18" charset="0"/>
                <a:cs typeface="Times New Roman" panose="02020603050405020304" pitchFamily="18" charset="0"/>
                <a:sym typeface="+mn-ea"/>
              </a:rPr>
              <a:t>Limited Integrated Visualization:</a:t>
            </a:r>
            <a:r>
              <a:rPr lang="en-US" dirty="0">
                <a:solidFill>
                  <a:schemeClr val="tx1">
                    <a:lumMod val="95000"/>
                    <a:lumOff val="5000"/>
                  </a:schemeClr>
                </a:solidFill>
                <a:latin typeface="Times New Roman" panose="02020603050405020304" pitchFamily="18" charset="0"/>
                <a:cs typeface="Times New Roman" panose="02020603050405020304" pitchFamily="18" charset="0"/>
                <a:sym typeface="+mn-ea"/>
              </a:rPr>
              <a:t> Existing solutions often lack a unified platform that combines mobility analysis, accident-risk prediction, geospatial visualization, and analytical reports.</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a:p>
            <a:pPr marL="285750" indent="-285750" algn="just">
              <a:buFont typeface="Arial" panose="020B0604020202020204"/>
              <a:buChar char="•"/>
            </a:pPr>
            <a:r>
              <a:rPr lang="en-US" b="1" dirty="0">
                <a:solidFill>
                  <a:schemeClr val="tx1">
                    <a:lumMod val="95000"/>
                    <a:lumOff val="5000"/>
                  </a:schemeClr>
                </a:solidFill>
                <a:latin typeface="Times New Roman" panose="02020603050405020304" pitchFamily="18" charset="0"/>
                <a:cs typeface="Times New Roman" panose="02020603050405020304" pitchFamily="18" charset="0"/>
                <a:sym typeface="+mn-ea"/>
              </a:rPr>
              <a:t>Limited Real-Time Mobility Insights:</a:t>
            </a:r>
            <a:r>
              <a:rPr lang="en-US" dirty="0">
                <a:solidFill>
                  <a:schemeClr val="tx1">
                    <a:lumMod val="95000"/>
                    <a:lumOff val="5000"/>
                  </a:schemeClr>
                </a:solidFill>
                <a:latin typeface="Times New Roman" panose="02020603050405020304" pitchFamily="18" charset="0"/>
                <a:cs typeface="Times New Roman" panose="02020603050405020304" pitchFamily="18" charset="0"/>
                <a:sym typeface="+mn-ea"/>
              </a:rPr>
              <a:t> Many existing systems rely on static or historical datasets and provide limited scope for dynamic mobility monitoring and real-time transportation insights.</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a:p>
            <a:pPr algn="just"/>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21506" name="Picture 2" descr="Koneru Lakshmaiah Education Foundation, Bachupally Campus Courses ..."/>
          <p:cNvPicPr>
            <a:picLocks noChangeAspect="1" noChangeArrowheads="1"/>
          </p:cNvPicPr>
          <p:nvPr/>
        </p:nvPicPr>
        <p:blipFill>
          <a:blip r:embed="rId5"/>
          <a:srcRect t="16961" b="27101"/>
          <a:stretch>
            <a:fillRect/>
          </a:stretch>
        </p:blipFill>
        <p:spPr bwMode="auto">
          <a:xfrm>
            <a:off x="0" y="0"/>
            <a:ext cx="2095500" cy="1145540"/>
          </a:xfrm>
          <a:prstGeom prst="rect">
            <a:avLst/>
          </a:prstGeom>
          <a:noFill/>
        </p:spPr>
      </p:pic>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3256280" y="314325"/>
            <a:ext cx="5412105" cy="705485"/>
          </a:xfrm>
        </p:spPr>
        <p:txBody>
          <a:bodyPr/>
          <a:lstStyle/>
          <a:p>
            <a:pPr algn="ctr"/>
            <a:r>
              <a:rPr lang="en-US" b="1" dirty="0">
                <a:latin typeface="Times New Roman" panose="02020603050405020304" pitchFamily="18" charset="0"/>
                <a:cs typeface="Times New Roman" panose="02020603050405020304" pitchFamily="18" charset="0"/>
                <a:sym typeface="+mn-ea"/>
              </a:rPr>
              <a:t>Innovation</a:t>
            </a:r>
            <a:endParaRPr lang="en-US" b="1"/>
          </a:p>
        </p:txBody>
      </p:sp>
      <p:sp>
        <p:nvSpPr>
          <p:cNvPr id="3" name="Content Placeholder 2"/>
          <p:cNvSpPr>
            <a:spLocks noGrp="1"/>
          </p:cNvSpPr>
          <p:nvPr>
            <p:ph idx="1"/>
            <p:custDataLst>
              <p:tags r:id="rId3"/>
            </p:custDataLst>
          </p:nvPr>
        </p:nvSpPr>
        <p:spPr/>
        <p:txBody>
          <a:bodyPr>
            <a:noAutofit/>
          </a:bodyPr>
          <a:lstStyle/>
          <a:p>
            <a:pPr algn="just"/>
            <a:r>
              <a:rPr lang="en-US" altLang="en-US" sz="1600">
                <a:solidFill>
                  <a:schemeClr val="tx1">
                    <a:lumMod val="95000"/>
                    <a:lumOff val="5000"/>
                  </a:schemeClr>
                </a:solidFill>
                <a:latin typeface="Times New Roman" panose="02020603050405020304" pitchFamily="18" charset="0"/>
                <a:cs typeface="Times New Roman" panose="02020603050405020304" pitchFamily="18" charset="0"/>
              </a:rPr>
              <a:t>Multi-Source Urban Mobility Integration: Combines GPS trajectory, weather, traffic, and accident data in a unified analytics platform.</a:t>
            </a:r>
          </a:p>
          <a:p>
            <a:pPr algn="just"/>
            <a:r>
              <a:rPr lang="en-US" altLang="en-US" sz="1600">
                <a:solidFill>
                  <a:schemeClr val="tx1">
                    <a:lumMod val="95000"/>
                    <a:lumOff val="5000"/>
                  </a:schemeClr>
                </a:solidFill>
                <a:latin typeface="Times New Roman" panose="02020603050405020304" pitchFamily="18" charset="0"/>
                <a:cs typeface="Times New Roman" panose="02020603050405020304" pitchFamily="18" charset="0"/>
              </a:rPr>
              <a:t>AI-Based Accident Risk Prediction: Uses Decision Tree, Random Forest, XGBoost, and Logistic Regression to identify accident-risk patterns.</a:t>
            </a:r>
          </a:p>
          <a:p>
            <a:pPr algn="just"/>
            <a:r>
              <a:rPr lang="en-US" altLang="en-US" sz="1600">
                <a:solidFill>
                  <a:schemeClr val="tx1">
                    <a:lumMod val="95000"/>
                    <a:lumOff val="5000"/>
                  </a:schemeClr>
                </a:solidFill>
                <a:latin typeface="Times New Roman" panose="02020603050405020304" pitchFamily="18" charset="0"/>
                <a:cs typeface="Times New Roman" panose="02020603050405020304" pitchFamily="18" charset="0"/>
              </a:rPr>
              <a:t>Geospatial Mobility Insights: Uses GPS coordinates to visualize routes, mobility patterns, and accident hotspots through interactive maps.</a:t>
            </a:r>
          </a:p>
          <a:p>
            <a:pPr algn="just"/>
            <a:r>
              <a:rPr lang="en-US" altLang="en-US" sz="1600">
                <a:solidFill>
                  <a:schemeClr val="tx1">
                    <a:lumMod val="95000"/>
                    <a:lumOff val="5000"/>
                  </a:schemeClr>
                </a:solidFill>
                <a:latin typeface="Times New Roman" panose="02020603050405020304" pitchFamily="18" charset="0"/>
                <a:cs typeface="Times New Roman" panose="02020603050405020304" pitchFamily="18" charset="0"/>
              </a:rPr>
              <a:t>Integrated Intelligent Dashboard: Combines mobility analytics, weather impact, accident analysis, prediction results, and visual reports in a single dashboard.</a:t>
            </a:r>
          </a:p>
          <a:p>
            <a:pPr algn="just"/>
            <a:r>
              <a:rPr lang="en-US" altLang="en-US" sz="1600">
                <a:solidFill>
                  <a:schemeClr val="tx1">
                    <a:lumMod val="95000"/>
                    <a:lumOff val="5000"/>
                  </a:schemeClr>
                </a:solidFill>
                <a:latin typeface="Times New Roman" panose="02020603050405020304" pitchFamily="18" charset="0"/>
                <a:cs typeface="Times New Roman" panose="02020603050405020304" pitchFamily="18" charset="0"/>
              </a:rPr>
              <a:t>Hybrid Model Comparison: Compares different machine-learning and hybrid prediction approaches to identify the better-performing model for the given datasets.</a:t>
            </a:r>
          </a:p>
          <a:p>
            <a:pPr algn="just"/>
            <a:r>
              <a:rPr lang="en-US" altLang="en-US" sz="1600">
                <a:solidFill>
                  <a:schemeClr val="tx1">
                    <a:lumMod val="95000"/>
                    <a:lumOff val="5000"/>
                  </a:schemeClr>
                </a:solidFill>
                <a:latin typeface="Times New Roman" panose="02020603050405020304" pitchFamily="18" charset="0"/>
                <a:cs typeface="Times New Roman" panose="02020603050405020304" pitchFamily="18" charset="0"/>
              </a:rPr>
              <a:t>Future-Ready Architecture: Can be extended with real-time GPS, live traffic data, smart route recommendations, cloud deployment, and mobile applications.</a:t>
            </a:r>
          </a:p>
        </p:txBody>
      </p:sp>
      <p:pic>
        <p:nvPicPr>
          <p:cNvPr id="21506" name="Picture 2" descr="Koneru Lakshmaiah Education Foundation, Bachupally Campus Courses ..."/>
          <p:cNvPicPr>
            <a:picLocks noChangeAspect="1" noChangeArrowheads="1"/>
          </p:cNvPicPr>
          <p:nvPr/>
        </p:nvPicPr>
        <p:blipFill>
          <a:blip r:embed="rId5"/>
          <a:srcRect t="16961" b="27101"/>
          <a:stretch>
            <a:fillRect/>
          </a:stretch>
        </p:blipFill>
        <p:spPr bwMode="auto">
          <a:xfrm>
            <a:off x="0" y="0"/>
            <a:ext cx="2095500" cy="1145540"/>
          </a:xfrm>
          <a:prstGeom prst="rect">
            <a:avLst/>
          </a:prstGeom>
          <a:noFill/>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3737610" y="220345"/>
            <a:ext cx="4034790" cy="705485"/>
          </a:xfrm>
        </p:spPr>
        <p:txBody>
          <a:bodyPr>
            <a:normAutofit fontScale="90000"/>
          </a:bodyPr>
          <a:lstStyle/>
          <a:p>
            <a:pPr algn="ctr"/>
            <a:br>
              <a:rPr lang="en-US" b="1" dirty="0">
                <a:latin typeface="Times New Roman" panose="02020603050405020304" pitchFamily="18" charset="0"/>
                <a:ea typeface="Calibri" panose="020F0502020204030204"/>
                <a:cs typeface="Times New Roman" panose="02020603050405020304" pitchFamily="18" charset="0"/>
              </a:rPr>
            </a:br>
            <a:r>
              <a:rPr lang="en-US" b="1" dirty="0">
                <a:latin typeface="Times New Roman" panose="02020603050405020304" pitchFamily="18" charset="0"/>
                <a:cs typeface="Times New Roman" panose="02020603050405020304" pitchFamily="18" charset="0"/>
                <a:sym typeface="+mn-ea"/>
              </a:rPr>
              <a:t>Feasibility</a:t>
            </a:r>
            <a:endParaRPr lang="en-US" b="1">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custDataLst>
              <p:tags r:id="rId3"/>
            </p:custDataLst>
          </p:nvPr>
        </p:nvSpPr>
        <p:spPr/>
        <p:txBody>
          <a:bodyPr/>
          <a:lstStyle/>
          <a:p>
            <a:pPr algn="just"/>
            <a:r>
              <a:rPr lang="en-US" altLang="en-US">
                <a:solidFill>
                  <a:schemeClr val="tx1">
                    <a:lumMod val="95000"/>
                    <a:lumOff val="5000"/>
                  </a:schemeClr>
                </a:solidFill>
                <a:latin typeface="Times New Roman" panose="02020603050405020304" pitchFamily="18" charset="0"/>
                <a:cs typeface="Times New Roman" panose="02020603050405020304" pitchFamily="18" charset="0"/>
              </a:rPr>
              <a:t>Data Availability: Required datasets are publicly available.</a:t>
            </a:r>
          </a:p>
          <a:p>
            <a:pPr algn="just"/>
            <a:r>
              <a:rPr lang="en-US" altLang="en-US">
                <a:solidFill>
                  <a:schemeClr val="tx1">
                    <a:lumMod val="95000"/>
                    <a:lumOff val="5000"/>
                  </a:schemeClr>
                </a:solidFill>
                <a:latin typeface="Times New Roman" panose="02020603050405020304" pitchFamily="18" charset="0"/>
                <a:cs typeface="Times New Roman" panose="02020603050405020304" pitchFamily="18" charset="0"/>
              </a:rPr>
              <a:t>Technical Feasibility: Can be developed using Python, Pandas, Scikit-learn, XGBoost, Matplotlib, Seaborn, and Streamlit.</a:t>
            </a:r>
          </a:p>
          <a:p>
            <a:pPr algn="just"/>
            <a:r>
              <a:rPr lang="en-US" altLang="en-US">
                <a:solidFill>
                  <a:schemeClr val="tx1">
                    <a:lumMod val="95000"/>
                    <a:lumOff val="5000"/>
                  </a:schemeClr>
                </a:solidFill>
                <a:latin typeface="Times New Roman" panose="02020603050405020304" pitchFamily="18" charset="0"/>
                <a:cs typeface="Times New Roman" panose="02020603050405020304" pitchFamily="18" charset="0"/>
              </a:rPr>
              <a:t>Computational Feasibility: Machine-learning models can run on a standard laptop without requiring high-end hardware.</a:t>
            </a:r>
          </a:p>
          <a:p>
            <a:pPr algn="just"/>
            <a:r>
              <a:rPr lang="en-US" altLang="en-US">
                <a:solidFill>
                  <a:schemeClr val="tx1">
                    <a:lumMod val="95000"/>
                    <a:lumOff val="5000"/>
                  </a:schemeClr>
                </a:solidFill>
                <a:latin typeface="Times New Roman" panose="02020603050405020304" pitchFamily="18" charset="0"/>
                <a:cs typeface="Times New Roman" panose="02020603050405020304" pitchFamily="18" charset="0"/>
              </a:rPr>
              <a:t>Integration Feasibility: GPS, weather, traffic, and accident data can be integrated for unified urban mobility analysis.</a:t>
            </a:r>
          </a:p>
          <a:p>
            <a:pPr algn="just"/>
            <a:r>
              <a:rPr lang="en-US" altLang="en-US">
                <a:solidFill>
                  <a:schemeClr val="tx1">
                    <a:lumMod val="95000"/>
                    <a:lumOff val="5000"/>
                  </a:schemeClr>
                </a:solidFill>
                <a:latin typeface="Times New Roman" panose="02020603050405020304" pitchFamily="18" charset="0"/>
                <a:cs typeface="Times New Roman" panose="02020603050405020304" pitchFamily="18" charset="0"/>
              </a:rPr>
              <a:t>Implementation Feasibility: The system can be developed step-by-step through data processing → feature engineering → ML models → evaluation → dashboard.</a:t>
            </a:r>
          </a:p>
          <a:p>
            <a:pPr algn="just"/>
            <a:r>
              <a:rPr lang="en-US" altLang="en-US">
                <a:solidFill>
                  <a:schemeClr val="tx1">
                    <a:lumMod val="95000"/>
                    <a:lumOff val="5000"/>
                  </a:schemeClr>
                </a:solidFill>
                <a:latin typeface="Times New Roman" panose="02020603050405020304" pitchFamily="18" charset="0"/>
                <a:cs typeface="Times New Roman" panose="02020603050405020304" pitchFamily="18" charset="0"/>
              </a:rPr>
              <a:t>Future Feasibility: The system can be extended with real-time GPS, live traffic data, smart route recommendations, cloud deployment, and mobile applications.</a:t>
            </a:r>
          </a:p>
        </p:txBody>
      </p:sp>
      <p:pic>
        <p:nvPicPr>
          <p:cNvPr id="21506" name="Picture 2" descr="Koneru Lakshmaiah Education Foundation, Bachupally Campus Courses ..."/>
          <p:cNvPicPr>
            <a:picLocks noChangeAspect="1" noChangeArrowheads="1"/>
          </p:cNvPicPr>
          <p:nvPr/>
        </p:nvPicPr>
        <p:blipFill>
          <a:blip r:embed="rId5"/>
          <a:srcRect t="16961" b="27101"/>
          <a:stretch>
            <a:fillRect/>
          </a:stretch>
        </p:blipFill>
        <p:spPr bwMode="auto">
          <a:xfrm>
            <a:off x="0" y="0"/>
            <a:ext cx="2095500" cy="1145540"/>
          </a:xfrm>
          <a:prstGeom prst="rect">
            <a:avLst/>
          </a:prstGeom>
          <a:noFill/>
        </p:spPr>
      </p:pic>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3782695" y="440055"/>
            <a:ext cx="4061460" cy="705485"/>
          </a:xfrm>
        </p:spPr>
        <p:txBody>
          <a:bodyPr>
            <a:normAutofit/>
          </a:bodyPr>
          <a:lstStyle/>
          <a:p>
            <a:pPr algn="ctr"/>
            <a:r>
              <a:rPr lang="en-US" b="1" dirty="0">
                <a:latin typeface="Times New Roman" panose="02020603050405020304" pitchFamily="18" charset="0"/>
                <a:cs typeface="Times New Roman" panose="02020603050405020304" pitchFamily="18" charset="0"/>
                <a:sym typeface="+mn-ea"/>
              </a:rPr>
              <a:t>Project plan</a:t>
            </a:r>
            <a:endParaRPr lang="en-US" b="1"/>
          </a:p>
        </p:txBody>
      </p:sp>
      <p:sp>
        <p:nvSpPr>
          <p:cNvPr id="3" name="Content Placeholder 2"/>
          <p:cNvSpPr>
            <a:spLocks noGrp="1"/>
          </p:cNvSpPr>
          <p:nvPr>
            <p:ph idx="1"/>
            <p:custDataLst>
              <p:tags r:id="rId3"/>
            </p:custDataLst>
          </p:nvPr>
        </p:nvSpPr>
        <p:spPr/>
        <p:txBody>
          <a:bodyPr>
            <a:noAutofit/>
          </a:bodyPr>
          <a:lstStyle/>
          <a:p>
            <a:pPr algn="just"/>
            <a:r>
              <a:rPr lang="en-US" altLang="en-US" sz="1600">
                <a:solidFill>
                  <a:schemeClr val="tx1">
                    <a:lumMod val="95000"/>
                    <a:lumOff val="5000"/>
                  </a:schemeClr>
                </a:solidFill>
                <a:latin typeface="Times New Roman" panose="02020603050405020304" pitchFamily="18" charset="0"/>
                <a:cs typeface="Times New Roman" panose="02020603050405020304" pitchFamily="18" charset="0"/>
              </a:rPr>
              <a:t>Phase 1 – Data Preparation: Collect GPS, traffic, weather, and accident datasets; clean and integrate the data, handle missing values, and perform Exploratory Data Analysis (EDA).</a:t>
            </a:r>
          </a:p>
          <a:p>
            <a:pPr algn="just"/>
            <a:r>
              <a:rPr lang="en-US" altLang="en-US" sz="1600">
                <a:solidFill>
                  <a:schemeClr val="tx1">
                    <a:lumMod val="95000"/>
                    <a:lumOff val="5000"/>
                  </a:schemeClr>
                </a:solidFill>
                <a:latin typeface="Times New Roman" panose="02020603050405020304" pitchFamily="18" charset="0"/>
                <a:cs typeface="Times New Roman" panose="02020603050405020304" pitchFamily="18" charset="0"/>
              </a:rPr>
              <a:t>Phase 2 – Feature &amp; Predictive Analytics: Create relevant mobility and traffic features and develop Decision Tree, Random Forest, XGBoost, and Logistic Regression models for accident-risk prediction.</a:t>
            </a:r>
          </a:p>
          <a:p>
            <a:pPr algn="just"/>
            <a:r>
              <a:rPr lang="en-US" altLang="en-US" sz="1600">
                <a:solidFill>
                  <a:schemeClr val="tx1">
                    <a:lumMod val="95000"/>
                    <a:lumOff val="5000"/>
                  </a:schemeClr>
                </a:solidFill>
                <a:latin typeface="Times New Roman" panose="02020603050405020304" pitchFamily="18" charset="0"/>
                <a:cs typeface="Times New Roman" panose="02020603050405020304" pitchFamily="18" charset="0"/>
              </a:rPr>
              <a:t>Phase 3 – Visualization &amp; Geospatial Analysis: Generate GPS route maps, accident hotspot heat maps, traffic visualizations, weather analysis, and accident-related visualizations to identify mobility and safety patterns.</a:t>
            </a:r>
          </a:p>
          <a:p>
            <a:pPr algn="just"/>
            <a:r>
              <a:rPr lang="en-US" altLang="en-US" sz="1600">
                <a:solidFill>
                  <a:schemeClr val="tx1">
                    <a:lumMod val="95000"/>
                    <a:lumOff val="5000"/>
                  </a:schemeClr>
                </a:solidFill>
                <a:latin typeface="Times New Roman" panose="02020603050405020304" pitchFamily="18" charset="0"/>
                <a:cs typeface="Times New Roman" panose="02020603050405020304" pitchFamily="18" charset="0"/>
              </a:rPr>
              <a:t>Phase 4 – Integrated Dashboard: Combine analytics, prediction results, maps, and insights into an interactive dashboard for easy interpretation and transportation planning.</a:t>
            </a:r>
          </a:p>
          <a:p>
            <a:pPr algn="just"/>
            <a:r>
              <a:rPr lang="en-US" altLang="en-US" sz="1600">
                <a:solidFill>
                  <a:schemeClr val="tx1">
                    <a:lumMod val="95000"/>
                    <a:lumOff val="5000"/>
                  </a:schemeClr>
                </a:solidFill>
                <a:latin typeface="Times New Roman" panose="02020603050405020304" pitchFamily="18" charset="0"/>
                <a:cs typeface="Times New Roman" panose="02020603050405020304" pitchFamily="18" charset="0"/>
              </a:rPr>
              <a:t>Phase 5 – Validation &amp; Research Output: Evaluate model performance using suitable metrics, compare the models, improve the system, document the findings, and prepare the final project and research paper/output.</a:t>
            </a:r>
          </a:p>
        </p:txBody>
      </p:sp>
      <p:pic>
        <p:nvPicPr>
          <p:cNvPr id="21506" name="Picture 2" descr="Koneru Lakshmaiah Education Foundation, Bachupally Campus Courses ..."/>
          <p:cNvPicPr>
            <a:picLocks noChangeAspect="1" noChangeArrowheads="1"/>
          </p:cNvPicPr>
          <p:nvPr/>
        </p:nvPicPr>
        <p:blipFill>
          <a:blip r:embed="rId5"/>
          <a:srcRect t="16961" b="27101"/>
          <a:stretch>
            <a:fillRect/>
          </a:stretch>
        </p:blipFill>
        <p:spPr bwMode="auto">
          <a:xfrm>
            <a:off x="0" y="0"/>
            <a:ext cx="2095500" cy="1145540"/>
          </a:xfrm>
          <a:prstGeom prst="rect">
            <a:avLst/>
          </a:prstGeom>
          <a:noFill/>
        </p:spPr>
      </p:pic>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4150360" y="189230"/>
            <a:ext cx="3451860" cy="956310"/>
          </a:xfrm>
        </p:spPr>
        <p:txBody>
          <a:bodyPr>
            <a:normAutofit/>
          </a:bodyPr>
          <a:lstStyle/>
          <a:p>
            <a:pPr algn="ctr"/>
            <a:r>
              <a:rPr lang="en-US" altLang="en-US" b="1">
                <a:latin typeface="Times New Roman" panose="02020603050405020304" pitchFamily="18" charset="0"/>
                <a:cs typeface="Times New Roman" panose="02020603050405020304" pitchFamily="18" charset="0"/>
                <a:sym typeface="+mn-ea"/>
              </a:rPr>
              <a:t>Methodology</a:t>
            </a:r>
            <a:endParaRPr lang="en-US" b="1"/>
          </a:p>
        </p:txBody>
      </p:sp>
      <p:sp>
        <p:nvSpPr>
          <p:cNvPr id="3" name="Content Placeholder 2"/>
          <p:cNvSpPr>
            <a:spLocks noGrp="1"/>
          </p:cNvSpPr>
          <p:nvPr>
            <p:ph idx="1"/>
            <p:custDataLst>
              <p:tags r:id="rId3"/>
            </p:custDataLst>
          </p:nvPr>
        </p:nvSpPr>
        <p:spPr>
          <a:xfrm>
            <a:off x="611575" y="1145595"/>
            <a:ext cx="10969200" cy="4759200"/>
          </a:xfrm>
        </p:spPr>
        <p:txBody>
          <a:bodyPr>
            <a:normAutofit fontScale="25000" lnSpcReduction="20000"/>
          </a:bodyPr>
          <a:lstStyle/>
          <a:p>
            <a:pPr algn="just">
              <a:lnSpc>
                <a:spcPct val="100000"/>
              </a:lnSpc>
            </a:pPr>
            <a:r>
              <a:rPr lang="en-IN" sz="6000" b="1" dirty="0">
                <a:solidFill>
                  <a:schemeClr val="tx1">
                    <a:lumMod val="95000"/>
                    <a:lumOff val="5000"/>
                  </a:schemeClr>
                </a:solidFill>
                <a:latin typeface="Times New Roman" panose="02020603050405020304" pitchFamily="18" charset="0"/>
                <a:cs typeface="Times New Roman" panose="02020603050405020304" pitchFamily="18" charset="0"/>
                <a:sym typeface="+mn-ea"/>
              </a:rPr>
              <a:t>1. Data Collection</a:t>
            </a:r>
            <a:endParaRPr lang="en-IN" sz="6000" b="1" dirty="0">
              <a:solidFill>
                <a:schemeClr val="tx1">
                  <a:lumMod val="95000"/>
                  <a:lumOff val="5000"/>
                </a:schemeClr>
              </a:solidFill>
              <a:latin typeface="Times New Roman" panose="02020603050405020304" pitchFamily="18" charset="0"/>
              <a:cs typeface="Times New Roman" panose="02020603050405020304" pitchFamily="18" charset="0"/>
            </a:endParaRPr>
          </a:p>
          <a:p>
            <a:pPr lvl="0" algn="just">
              <a:lnSpc>
                <a:spcPct val="100000"/>
              </a:lnSpc>
            </a:pPr>
            <a:r>
              <a:rPr lang="en-IN" sz="6000" dirty="0">
                <a:solidFill>
                  <a:schemeClr val="tx1">
                    <a:lumMod val="95000"/>
                    <a:lumOff val="5000"/>
                  </a:schemeClr>
                </a:solidFill>
                <a:latin typeface="Times New Roman" panose="02020603050405020304" pitchFamily="18" charset="0"/>
                <a:cs typeface="Times New Roman" panose="02020603050405020304" pitchFamily="18" charset="0"/>
                <a:sym typeface="+mn-ea"/>
              </a:rPr>
              <a:t>Collected </a:t>
            </a:r>
            <a:r>
              <a:rPr lang="en-IN" sz="6000" b="1" dirty="0">
                <a:solidFill>
                  <a:schemeClr val="tx1">
                    <a:lumMod val="95000"/>
                    <a:lumOff val="5000"/>
                  </a:schemeClr>
                </a:solidFill>
                <a:latin typeface="Times New Roman" panose="02020603050405020304" pitchFamily="18" charset="0"/>
                <a:cs typeface="Times New Roman" panose="02020603050405020304" pitchFamily="18" charset="0"/>
                <a:sym typeface="+mn-ea"/>
              </a:rPr>
              <a:t>Traffic, Weather, Accident, and GPS</a:t>
            </a:r>
            <a:r>
              <a:rPr lang="en-IN" sz="6000" dirty="0">
                <a:solidFill>
                  <a:schemeClr val="tx1">
                    <a:lumMod val="95000"/>
                    <a:lumOff val="5000"/>
                  </a:schemeClr>
                </a:solidFill>
                <a:latin typeface="Times New Roman" panose="02020603050405020304" pitchFamily="18" charset="0"/>
                <a:cs typeface="Times New Roman" panose="02020603050405020304" pitchFamily="18" charset="0"/>
                <a:sym typeface="+mn-ea"/>
              </a:rPr>
              <a:t> datasets from publicly available sources. </a:t>
            </a:r>
            <a:endParaRPr lang="en-IN" sz="6000" dirty="0">
              <a:solidFill>
                <a:schemeClr val="tx1">
                  <a:lumMod val="95000"/>
                  <a:lumOff val="5000"/>
                </a:schemeClr>
              </a:solidFill>
              <a:latin typeface="Times New Roman" panose="02020603050405020304" pitchFamily="18" charset="0"/>
              <a:cs typeface="Times New Roman" panose="02020603050405020304" pitchFamily="18" charset="0"/>
            </a:endParaRPr>
          </a:p>
          <a:p>
            <a:pPr lvl="0" algn="just">
              <a:lnSpc>
                <a:spcPct val="100000"/>
              </a:lnSpc>
            </a:pPr>
            <a:r>
              <a:rPr lang="en-IN" sz="6000" dirty="0">
                <a:solidFill>
                  <a:schemeClr val="tx1">
                    <a:lumMod val="95000"/>
                    <a:lumOff val="5000"/>
                  </a:schemeClr>
                </a:solidFill>
                <a:latin typeface="Times New Roman" panose="02020603050405020304" pitchFamily="18" charset="0"/>
                <a:cs typeface="Times New Roman" panose="02020603050405020304" pitchFamily="18" charset="0"/>
                <a:sym typeface="+mn-ea"/>
              </a:rPr>
              <a:t>Gathered data related to urban mobility, transportation, weather conditions, and road accidents. </a:t>
            </a:r>
            <a:endParaRPr lang="en-IN" sz="6000" dirty="0">
              <a:solidFill>
                <a:schemeClr val="tx1">
                  <a:lumMod val="95000"/>
                  <a:lumOff val="5000"/>
                </a:schemeClr>
              </a:solidFill>
              <a:latin typeface="Times New Roman" panose="02020603050405020304" pitchFamily="18" charset="0"/>
              <a:cs typeface="Times New Roman" panose="02020603050405020304" pitchFamily="18" charset="0"/>
            </a:endParaRPr>
          </a:p>
          <a:p>
            <a:pPr lvl="0" algn="just">
              <a:lnSpc>
                <a:spcPct val="100000"/>
              </a:lnSpc>
            </a:pPr>
            <a:r>
              <a:rPr lang="en-IN" sz="6000" dirty="0">
                <a:solidFill>
                  <a:schemeClr val="tx1">
                    <a:lumMod val="95000"/>
                    <a:lumOff val="5000"/>
                  </a:schemeClr>
                </a:solidFill>
                <a:latin typeface="Times New Roman" panose="02020603050405020304" pitchFamily="18" charset="0"/>
                <a:cs typeface="Times New Roman" panose="02020603050405020304" pitchFamily="18" charset="0"/>
                <a:sym typeface="+mn-ea"/>
              </a:rPr>
              <a:t>Stored the datasets in structured formats such as </a:t>
            </a:r>
            <a:r>
              <a:rPr lang="en-IN" sz="6000" b="1" dirty="0">
                <a:solidFill>
                  <a:schemeClr val="tx1">
                    <a:lumMod val="95000"/>
                    <a:lumOff val="5000"/>
                  </a:schemeClr>
                </a:solidFill>
                <a:latin typeface="Times New Roman" panose="02020603050405020304" pitchFamily="18" charset="0"/>
                <a:cs typeface="Times New Roman" panose="02020603050405020304" pitchFamily="18" charset="0"/>
                <a:sym typeface="+mn-ea"/>
              </a:rPr>
              <a:t>Excel and CSV</a:t>
            </a:r>
            <a:r>
              <a:rPr lang="en-IN" sz="6000" dirty="0">
                <a:solidFill>
                  <a:schemeClr val="tx1">
                    <a:lumMod val="95000"/>
                    <a:lumOff val="5000"/>
                  </a:schemeClr>
                </a:solidFill>
                <a:latin typeface="Times New Roman" panose="02020603050405020304" pitchFamily="18" charset="0"/>
                <a:cs typeface="Times New Roman" panose="02020603050405020304" pitchFamily="18" charset="0"/>
                <a:sym typeface="+mn-ea"/>
              </a:rPr>
              <a:t>. </a:t>
            </a:r>
            <a:endParaRPr lang="en-IN" sz="6000" dirty="0">
              <a:solidFill>
                <a:schemeClr val="tx1">
                  <a:lumMod val="95000"/>
                  <a:lumOff val="5000"/>
                </a:schemeClr>
              </a:solidFill>
              <a:latin typeface="Times New Roman" panose="02020603050405020304" pitchFamily="18" charset="0"/>
              <a:cs typeface="Times New Roman" panose="02020603050405020304" pitchFamily="18" charset="0"/>
            </a:endParaRPr>
          </a:p>
          <a:p>
            <a:pPr lvl="0" algn="just">
              <a:lnSpc>
                <a:spcPct val="100000"/>
              </a:lnSpc>
            </a:pPr>
            <a:r>
              <a:rPr lang="en-IN" sz="6000" dirty="0">
                <a:solidFill>
                  <a:schemeClr val="tx1">
                    <a:lumMod val="95000"/>
                    <a:lumOff val="5000"/>
                  </a:schemeClr>
                </a:solidFill>
                <a:latin typeface="Times New Roman" panose="02020603050405020304" pitchFamily="18" charset="0"/>
                <a:cs typeface="Times New Roman" panose="02020603050405020304" pitchFamily="18" charset="0"/>
                <a:sym typeface="+mn-ea"/>
              </a:rPr>
              <a:t>Used these datasets as the base input for further analysis and machine-learning prediction. </a:t>
            </a:r>
            <a:endParaRPr lang="en-IN" sz="6000" dirty="0">
              <a:solidFill>
                <a:schemeClr val="tx1">
                  <a:lumMod val="95000"/>
                  <a:lumOff val="5000"/>
                </a:schemeClr>
              </a:solidFill>
              <a:latin typeface="Times New Roman" panose="02020603050405020304" pitchFamily="18" charset="0"/>
              <a:cs typeface="Times New Roman" panose="02020603050405020304" pitchFamily="18" charset="0"/>
            </a:endParaRPr>
          </a:p>
          <a:p>
            <a:pPr algn="just">
              <a:lnSpc>
                <a:spcPct val="100000"/>
              </a:lnSpc>
            </a:pPr>
            <a:r>
              <a:rPr lang="en-IN" sz="6000" b="1" dirty="0">
                <a:solidFill>
                  <a:schemeClr val="tx1">
                    <a:lumMod val="95000"/>
                    <a:lumOff val="5000"/>
                  </a:schemeClr>
                </a:solidFill>
                <a:latin typeface="Times New Roman" panose="02020603050405020304" pitchFamily="18" charset="0"/>
                <a:cs typeface="Times New Roman" panose="02020603050405020304" pitchFamily="18" charset="0"/>
                <a:sym typeface="+mn-ea"/>
              </a:rPr>
              <a:t>2. Data Preprocessing</a:t>
            </a:r>
            <a:endParaRPr lang="en-IN" sz="6000" b="1" dirty="0">
              <a:solidFill>
                <a:schemeClr val="tx1">
                  <a:lumMod val="95000"/>
                  <a:lumOff val="5000"/>
                </a:schemeClr>
              </a:solidFill>
              <a:latin typeface="Times New Roman" panose="02020603050405020304" pitchFamily="18" charset="0"/>
              <a:cs typeface="Times New Roman" panose="02020603050405020304" pitchFamily="18" charset="0"/>
            </a:endParaRPr>
          </a:p>
          <a:p>
            <a:pPr lvl="0" algn="just">
              <a:lnSpc>
                <a:spcPct val="100000"/>
              </a:lnSpc>
            </a:pPr>
            <a:r>
              <a:rPr lang="en-IN" sz="6000" dirty="0">
                <a:solidFill>
                  <a:schemeClr val="tx1">
                    <a:lumMod val="95000"/>
                    <a:lumOff val="5000"/>
                  </a:schemeClr>
                </a:solidFill>
                <a:latin typeface="Times New Roman" panose="02020603050405020304" pitchFamily="18" charset="0"/>
                <a:cs typeface="Times New Roman" panose="02020603050405020304" pitchFamily="18" charset="0"/>
                <a:sym typeface="+mn-ea"/>
              </a:rPr>
              <a:t>Checked the datasets for </a:t>
            </a:r>
            <a:r>
              <a:rPr lang="en-IN" sz="6000" b="1" dirty="0">
                <a:solidFill>
                  <a:schemeClr val="tx1">
                    <a:lumMod val="95000"/>
                    <a:lumOff val="5000"/>
                  </a:schemeClr>
                </a:solidFill>
                <a:latin typeface="Times New Roman" panose="02020603050405020304" pitchFamily="18" charset="0"/>
                <a:cs typeface="Times New Roman" panose="02020603050405020304" pitchFamily="18" charset="0"/>
                <a:sym typeface="+mn-ea"/>
              </a:rPr>
              <a:t>missing values, empty rows, duplicates, and inconsistent data</a:t>
            </a:r>
            <a:r>
              <a:rPr lang="en-IN" sz="6000" dirty="0">
                <a:solidFill>
                  <a:schemeClr val="tx1">
                    <a:lumMod val="95000"/>
                    <a:lumOff val="5000"/>
                  </a:schemeClr>
                </a:solidFill>
                <a:latin typeface="Times New Roman" panose="02020603050405020304" pitchFamily="18" charset="0"/>
                <a:cs typeface="Times New Roman" panose="02020603050405020304" pitchFamily="18" charset="0"/>
                <a:sym typeface="+mn-ea"/>
              </a:rPr>
              <a:t>. </a:t>
            </a:r>
            <a:endParaRPr lang="en-IN" sz="6000" dirty="0">
              <a:solidFill>
                <a:schemeClr val="tx1">
                  <a:lumMod val="95000"/>
                  <a:lumOff val="5000"/>
                </a:schemeClr>
              </a:solidFill>
              <a:latin typeface="Times New Roman" panose="02020603050405020304" pitchFamily="18" charset="0"/>
              <a:cs typeface="Times New Roman" panose="02020603050405020304" pitchFamily="18" charset="0"/>
            </a:endParaRPr>
          </a:p>
          <a:p>
            <a:pPr lvl="0" algn="just">
              <a:lnSpc>
                <a:spcPct val="100000"/>
              </a:lnSpc>
            </a:pPr>
            <a:r>
              <a:rPr lang="en-IN" sz="6000" dirty="0">
                <a:solidFill>
                  <a:schemeClr val="tx1">
                    <a:lumMod val="95000"/>
                    <a:lumOff val="5000"/>
                  </a:schemeClr>
                </a:solidFill>
                <a:latin typeface="Times New Roman" panose="02020603050405020304" pitchFamily="18" charset="0"/>
                <a:cs typeface="Times New Roman" panose="02020603050405020304" pitchFamily="18" charset="0"/>
                <a:sym typeface="+mn-ea"/>
              </a:rPr>
              <a:t>Removed unnecessary rows and columns that did not contribute to the analysis. </a:t>
            </a:r>
            <a:endParaRPr lang="en-IN" sz="6000" dirty="0">
              <a:solidFill>
                <a:schemeClr val="tx1">
                  <a:lumMod val="95000"/>
                  <a:lumOff val="5000"/>
                </a:schemeClr>
              </a:solidFill>
              <a:latin typeface="Times New Roman" panose="02020603050405020304" pitchFamily="18" charset="0"/>
              <a:cs typeface="Times New Roman" panose="02020603050405020304" pitchFamily="18" charset="0"/>
            </a:endParaRPr>
          </a:p>
          <a:p>
            <a:pPr lvl="0" algn="just">
              <a:lnSpc>
                <a:spcPct val="100000"/>
              </a:lnSpc>
            </a:pPr>
            <a:r>
              <a:rPr lang="en-IN" sz="6000" dirty="0">
                <a:solidFill>
                  <a:schemeClr val="tx1">
                    <a:lumMod val="95000"/>
                    <a:lumOff val="5000"/>
                  </a:schemeClr>
                </a:solidFill>
                <a:latin typeface="Times New Roman" panose="02020603050405020304" pitchFamily="18" charset="0"/>
                <a:cs typeface="Times New Roman" panose="02020603050405020304" pitchFamily="18" charset="0"/>
                <a:sym typeface="+mn-ea"/>
              </a:rPr>
              <a:t>Converted required attributes into appropriate </a:t>
            </a:r>
            <a:r>
              <a:rPr lang="en-IN" sz="6000" b="1" dirty="0">
                <a:solidFill>
                  <a:schemeClr val="tx1">
                    <a:lumMod val="95000"/>
                    <a:lumOff val="5000"/>
                  </a:schemeClr>
                </a:solidFill>
                <a:latin typeface="Times New Roman" panose="02020603050405020304" pitchFamily="18" charset="0"/>
                <a:cs typeface="Times New Roman" panose="02020603050405020304" pitchFamily="18" charset="0"/>
                <a:sym typeface="+mn-ea"/>
              </a:rPr>
              <a:t>numerical/data formats</a:t>
            </a:r>
            <a:r>
              <a:rPr lang="en-IN" sz="6000" dirty="0">
                <a:solidFill>
                  <a:schemeClr val="tx1">
                    <a:lumMod val="95000"/>
                    <a:lumOff val="5000"/>
                  </a:schemeClr>
                </a:solidFill>
                <a:latin typeface="Times New Roman" panose="02020603050405020304" pitchFamily="18" charset="0"/>
                <a:cs typeface="Times New Roman" panose="02020603050405020304" pitchFamily="18" charset="0"/>
                <a:sym typeface="+mn-ea"/>
              </a:rPr>
              <a:t>. </a:t>
            </a:r>
            <a:endParaRPr lang="en-IN" sz="6000" dirty="0">
              <a:solidFill>
                <a:schemeClr val="tx1">
                  <a:lumMod val="95000"/>
                  <a:lumOff val="5000"/>
                </a:schemeClr>
              </a:solidFill>
              <a:latin typeface="Times New Roman" panose="02020603050405020304" pitchFamily="18" charset="0"/>
              <a:cs typeface="Times New Roman" panose="02020603050405020304" pitchFamily="18" charset="0"/>
            </a:endParaRPr>
          </a:p>
          <a:p>
            <a:pPr lvl="0" algn="just">
              <a:lnSpc>
                <a:spcPct val="100000"/>
              </a:lnSpc>
            </a:pPr>
            <a:r>
              <a:rPr lang="en-IN" sz="6000" dirty="0">
                <a:solidFill>
                  <a:schemeClr val="tx1">
                    <a:lumMod val="95000"/>
                    <a:lumOff val="5000"/>
                  </a:schemeClr>
                </a:solidFill>
                <a:latin typeface="Times New Roman" panose="02020603050405020304" pitchFamily="18" charset="0"/>
                <a:cs typeface="Times New Roman" panose="02020603050405020304" pitchFamily="18" charset="0"/>
                <a:sym typeface="+mn-ea"/>
              </a:rPr>
              <a:t>Handled missing numerical values and prepared clean datasets for machine learning. </a:t>
            </a:r>
            <a:endParaRPr lang="en-IN" sz="6000" dirty="0">
              <a:solidFill>
                <a:schemeClr val="tx1">
                  <a:lumMod val="95000"/>
                  <a:lumOff val="5000"/>
                </a:schemeClr>
              </a:solidFill>
              <a:latin typeface="Times New Roman" panose="02020603050405020304" pitchFamily="18" charset="0"/>
              <a:cs typeface="Times New Roman" panose="02020603050405020304" pitchFamily="18" charset="0"/>
            </a:endParaRPr>
          </a:p>
          <a:p>
            <a:pPr algn="just">
              <a:lnSpc>
                <a:spcPct val="100000"/>
              </a:lnSpc>
            </a:pPr>
            <a:r>
              <a:rPr lang="en-IN" sz="6000" b="1" dirty="0">
                <a:solidFill>
                  <a:schemeClr val="tx1">
                    <a:lumMod val="95000"/>
                    <a:lumOff val="5000"/>
                  </a:schemeClr>
                </a:solidFill>
                <a:latin typeface="Times New Roman" panose="02020603050405020304" pitchFamily="18" charset="0"/>
                <a:cs typeface="Times New Roman" panose="02020603050405020304" pitchFamily="18" charset="0"/>
                <a:sym typeface="+mn-ea"/>
              </a:rPr>
              <a:t>3. Feature Selection</a:t>
            </a:r>
            <a:endParaRPr lang="en-IN" sz="6000" b="1" dirty="0">
              <a:solidFill>
                <a:schemeClr val="tx1">
                  <a:lumMod val="95000"/>
                  <a:lumOff val="5000"/>
                </a:schemeClr>
              </a:solidFill>
              <a:latin typeface="Times New Roman" panose="02020603050405020304" pitchFamily="18" charset="0"/>
              <a:cs typeface="Times New Roman" panose="02020603050405020304" pitchFamily="18" charset="0"/>
            </a:endParaRPr>
          </a:p>
          <a:p>
            <a:pPr lvl="0" algn="just">
              <a:lnSpc>
                <a:spcPct val="100000"/>
              </a:lnSpc>
            </a:pPr>
            <a:r>
              <a:rPr lang="en-IN" sz="6000" dirty="0">
                <a:solidFill>
                  <a:schemeClr val="tx1">
                    <a:lumMod val="95000"/>
                    <a:lumOff val="5000"/>
                  </a:schemeClr>
                </a:solidFill>
                <a:latin typeface="Times New Roman" panose="02020603050405020304" pitchFamily="18" charset="0"/>
                <a:cs typeface="Times New Roman" panose="02020603050405020304" pitchFamily="18" charset="0"/>
                <a:sym typeface="+mn-ea"/>
              </a:rPr>
              <a:t>Identified the features that are most relevant to the prediction task. </a:t>
            </a:r>
            <a:endParaRPr lang="en-IN" sz="6000" dirty="0">
              <a:solidFill>
                <a:schemeClr val="tx1">
                  <a:lumMod val="95000"/>
                  <a:lumOff val="5000"/>
                </a:schemeClr>
              </a:solidFill>
              <a:latin typeface="Times New Roman" panose="02020603050405020304" pitchFamily="18" charset="0"/>
              <a:cs typeface="Times New Roman" panose="02020603050405020304" pitchFamily="18" charset="0"/>
            </a:endParaRPr>
          </a:p>
          <a:p>
            <a:pPr lvl="0" algn="just">
              <a:lnSpc>
                <a:spcPct val="100000"/>
              </a:lnSpc>
            </a:pPr>
            <a:r>
              <a:rPr lang="en-IN" sz="6000" dirty="0">
                <a:solidFill>
                  <a:schemeClr val="tx1">
                    <a:lumMod val="95000"/>
                    <a:lumOff val="5000"/>
                  </a:schemeClr>
                </a:solidFill>
                <a:latin typeface="Times New Roman" panose="02020603050405020304" pitchFamily="18" charset="0"/>
                <a:cs typeface="Times New Roman" panose="02020603050405020304" pitchFamily="18" charset="0"/>
                <a:sym typeface="+mn-ea"/>
              </a:rPr>
              <a:t>Removed unnecessary or irrelevant attributes from the original datasets. </a:t>
            </a:r>
            <a:endParaRPr lang="en-IN" sz="6000" dirty="0">
              <a:solidFill>
                <a:schemeClr val="tx1">
                  <a:lumMod val="95000"/>
                  <a:lumOff val="5000"/>
                </a:schemeClr>
              </a:solidFill>
              <a:latin typeface="Times New Roman" panose="02020603050405020304" pitchFamily="18" charset="0"/>
              <a:cs typeface="Times New Roman" panose="02020603050405020304" pitchFamily="18" charset="0"/>
            </a:endParaRPr>
          </a:p>
          <a:p>
            <a:pPr lvl="0" algn="just">
              <a:lnSpc>
                <a:spcPct val="100000"/>
              </a:lnSpc>
            </a:pPr>
            <a:r>
              <a:rPr lang="en-IN" sz="6000" dirty="0">
                <a:solidFill>
                  <a:schemeClr val="tx1">
                    <a:lumMod val="95000"/>
                    <a:lumOff val="5000"/>
                  </a:schemeClr>
                </a:solidFill>
                <a:latin typeface="Times New Roman" panose="02020603050405020304" pitchFamily="18" charset="0"/>
                <a:cs typeface="Times New Roman" panose="02020603050405020304" pitchFamily="18" charset="0"/>
                <a:sym typeface="+mn-ea"/>
              </a:rPr>
              <a:t>Created separate selected-feature datasets for </a:t>
            </a:r>
            <a:r>
              <a:rPr lang="en-IN" sz="6000" b="1" dirty="0">
                <a:solidFill>
                  <a:schemeClr val="tx1">
                    <a:lumMod val="95000"/>
                    <a:lumOff val="5000"/>
                  </a:schemeClr>
                </a:solidFill>
                <a:latin typeface="Times New Roman" panose="02020603050405020304" pitchFamily="18" charset="0"/>
                <a:cs typeface="Times New Roman" panose="02020603050405020304" pitchFamily="18" charset="0"/>
                <a:sym typeface="+mn-ea"/>
              </a:rPr>
              <a:t>Traffic, Weather, Accident, and GPS</a:t>
            </a:r>
            <a:r>
              <a:rPr lang="en-IN" sz="6000" dirty="0">
                <a:solidFill>
                  <a:schemeClr val="tx1">
                    <a:lumMod val="95000"/>
                    <a:lumOff val="5000"/>
                  </a:schemeClr>
                </a:solidFill>
                <a:latin typeface="Times New Roman" panose="02020603050405020304" pitchFamily="18" charset="0"/>
                <a:cs typeface="Times New Roman" panose="02020603050405020304" pitchFamily="18" charset="0"/>
                <a:sym typeface="+mn-ea"/>
              </a:rPr>
              <a:t>. </a:t>
            </a:r>
            <a:endParaRPr lang="en-IN" sz="6000" dirty="0">
              <a:solidFill>
                <a:schemeClr val="tx1">
                  <a:lumMod val="95000"/>
                  <a:lumOff val="5000"/>
                </a:schemeClr>
              </a:solidFill>
              <a:latin typeface="Times New Roman" panose="02020603050405020304" pitchFamily="18" charset="0"/>
              <a:cs typeface="Times New Roman" panose="02020603050405020304" pitchFamily="18" charset="0"/>
            </a:endParaRPr>
          </a:p>
          <a:p>
            <a:pPr lvl="0" algn="just">
              <a:lnSpc>
                <a:spcPct val="100000"/>
              </a:lnSpc>
            </a:pPr>
            <a:r>
              <a:rPr lang="en-IN" sz="6000" dirty="0">
                <a:solidFill>
                  <a:schemeClr val="tx1">
                    <a:lumMod val="95000"/>
                    <a:lumOff val="5000"/>
                  </a:schemeClr>
                </a:solidFill>
                <a:latin typeface="Times New Roman" panose="02020603050405020304" pitchFamily="18" charset="0"/>
                <a:cs typeface="Times New Roman" panose="02020603050405020304" pitchFamily="18" charset="0"/>
                <a:sym typeface="+mn-ea"/>
              </a:rPr>
              <a:t>Used the selected features as input variables for the Random Forest model. </a:t>
            </a:r>
            <a:endParaRPr lang="en-IN" sz="6000" dirty="0">
              <a:solidFill>
                <a:schemeClr val="tx1">
                  <a:lumMod val="95000"/>
                  <a:lumOff val="5000"/>
                </a:schemeClr>
              </a:solidFill>
              <a:latin typeface="Times New Roman" panose="02020603050405020304" pitchFamily="18" charset="0"/>
              <a:cs typeface="Times New Roman" panose="02020603050405020304" pitchFamily="18" charset="0"/>
            </a:endParaRPr>
          </a:p>
          <a:p>
            <a:pPr marL="0" indent="0" algn="just">
              <a:lnSpc>
                <a:spcPct val="100000"/>
              </a:lnSpc>
              <a:buNone/>
            </a:pPr>
            <a:endParaRPr lang="en-US" altLang="en-US" sz="60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21506" name="Picture 2" descr="Koneru Lakshmaiah Education Foundation, Bachupally Campus Courses ..."/>
          <p:cNvPicPr>
            <a:picLocks noChangeAspect="1" noChangeArrowheads="1"/>
          </p:cNvPicPr>
          <p:nvPr/>
        </p:nvPicPr>
        <p:blipFill>
          <a:blip r:embed="rId5"/>
          <a:srcRect t="16961" b="27101"/>
          <a:stretch>
            <a:fillRect/>
          </a:stretch>
        </p:blipFill>
        <p:spPr bwMode="auto">
          <a:xfrm>
            <a:off x="0" y="0"/>
            <a:ext cx="2095500" cy="1145540"/>
          </a:xfrm>
          <a:prstGeom prst="rect">
            <a:avLst/>
          </a:prstGeom>
          <a:noFill/>
        </p:spPr>
      </p:pic>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custDataLst>
              <p:tags r:id="rId2"/>
            </p:custDataLst>
          </p:nvPr>
        </p:nvSpPr>
        <p:spPr>
          <a:xfrm>
            <a:off x="608400" y="1145595"/>
            <a:ext cx="10969200" cy="4759200"/>
          </a:xfrm>
        </p:spPr>
        <p:txBody>
          <a:bodyPr>
            <a:noAutofit/>
          </a:bodyPr>
          <a:lstStyle/>
          <a:p>
            <a:pPr algn="just">
              <a:lnSpc>
                <a:spcPct val="100000"/>
              </a:lnSpc>
            </a:pPr>
            <a:r>
              <a:rPr lang="en-IN" sz="1600" b="1" dirty="0">
                <a:solidFill>
                  <a:schemeClr val="tx1">
                    <a:lumMod val="95000"/>
                    <a:lumOff val="5000"/>
                  </a:schemeClr>
                </a:solidFill>
                <a:latin typeface="Times New Roman" panose="02020603050405020304" pitchFamily="18" charset="0"/>
                <a:cs typeface="Times New Roman" panose="02020603050405020304" pitchFamily="18" charset="0"/>
                <a:sym typeface="+mn-ea"/>
              </a:rPr>
              <a:t>4. Target Variable Preparation</a:t>
            </a:r>
            <a:endParaRPr lang="en-IN" sz="1600" b="1" dirty="0">
              <a:solidFill>
                <a:schemeClr val="tx1">
                  <a:lumMod val="95000"/>
                  <a:lumOff val="5000"/>
                </a:schemeClr>
              </a:solidFill>
              <a:latin typeface="Times New Roman" panose="02020603050405020304" pitchFamily="18" charset="0"/>
              <a:cs typeface="Times New Roman" panose="02020603050405020304" pitchFamily="18" charset="0"/>
            </a:endParaRPr>
          </a:p>
          <a:p>
            <a:pPr lvl="0" algn="just">
              <a:lnSpc>
                <a:spcPct val="100000"/>
              </a:lnSpc>
            </a:pPr>
            <a:r>
              <a:rPr lang="en-IN" sz="1600" dirty="0">
                <a:solidFill>
                  <a:schemeClr val="tx1">
                    <a:lumMod val="95000"/>
                    <a:lumOff val="5000"/>
                  </a:schemeClr>
                </a:solidFill>
                <a:latin typeface="Times New Roman" panose="02020603050405020304" pitchFamily="18" charset="0"/>
                <a:cs typeface="Times New Roman" panose="02020603050405020304" pitchFamily="18" charset="0"/>
                <a:sym typeface="+mn-ea"/>
              </a:rPr>
              <a:t>Identified the </a:t>
            </a:r>
            <a:r>
              <a:rPr lang="en-IN" sz="1600" b="1" dirty="0">
                <a:solidFill>
                  <a:schemeClr val="tx1">
                    <a:lumMod val="95000"/>
                    <a:lumOff val="5000"/>
                  </a:schemeClr>
                </a:solidFill>
                <a:latin typeface="Times New Roman" panose="02020603050405020304" pitchFamily="18" charset="0"/>
                <a:cs typeface="Times New Roman" panose="02020603050405020304" pitchFamily="18" charset="0"/>
                <a:sym typeface="+mn-ea"/>
              </a:rPr>
              <a:t>target/output column</a:t>
            </a:r>
            <a:r>
              <a:rPr lang="en-IN" sz="1600" dirty="0">
                <a:solidFill>
                  <a:schemeClr val="tx1">
                    <a:lumMod val="95000"/>
                    <a:lumOff val="5000"/>
                  </a:schemeClr>
                </a:solidFill>
                <a:latin typeface="Times New Roman" panose="02020603050405020304" pitchFamily="18" charset="0"/>
                <a:cs typeface="Times New Roman" panose="02020603050405020304" pitchFamily="18" charset="0"/>
                <a:sym typeface="+mn-ea"/>
              </a:rPr>
              <a:t> that the model needs to predict. </a:t>
            </a:r>
            <a:endParaRPr lang="en-IN" sz="1600" dirty="0">
              <a:solidFill>
                <a:schemeClr val="tx1">
                  <a:lumMod val="95000"/>
                  <a:lumOff val="5000"/>
                </a:schemeClr>
              </a:solidFill>
              <a:latin typeface="Times New Roman" panose="02020603050405020304" pitchFamily="18" charset="0"/>
              <a:cs typeface="Times New Roman" panose="02020603050405020304" pitchFamily="18" charset="0"/>
            </a:endParaRPr>
          </a:p>
          <a:p>
            <a:pPr lvl="0" algn="just">
              <a:lnSpc>
                <a:spcPct val="100000"/>
              </a:lnSpc>
            </a:pPr>
            <a:r>
              <a:rPr lang="en-IN" sz="1600" dirty="0">
                <a:solidFill>
                  <a:schemeClr val="tx1">
                    <a:lumMod val="95000"/>
                    <a:lumOff val="5000"/>
                  </a:schemeClr>
                </a:solidFill>
                <a:latin typeface="Times New Roman" panose="02020603050405020304" pitchFamily="18" charset="0"/>
                <a:cs typeface="Times New Roman" panose="02020603050405020304" pitchFamily="18" charset="0"/>
                <a:sym typeface="+mn-ea"/>
              </a:rPr>
              <a:t>Separated the input features (</a:t>
            </a:r>
            <a:r>
              <a:rPr lang="en-IN" sz="1600" b="1" dirty="0">
                <a:solidFill>
                  <a:schemeClr val="tx1">
                    <a:lumMod val="95000"/>
                    <a:lumOff val="5000"/>
                  </a:schemeClr>
                </a:solidFill>
                <a:latin typeface="Times New Roman" panose="02020603050405020304" pitchFamily="18" charset="0"/>
                <a:cs typeface="Times New Roman" panose="02020603050405020304" pitchFamily="18" charset="0"/>
                <a:sym typeface="+mn-ea"/>
              </a:rPr>
              <a:t>X</a:t>
            </a:r>
            <a:r>
              <a:rPr lang="en-IN" sz="1600" dirty="0">
                <a:solidFill>
                  <a:schemeClr val="tx1">
                    <a:lumMod val="95000"/>
                    <a:lumOff val="5000"/>
                  </a:schemeClr>
                </a:solidFill>
                <a:latin typeface="Times New Roman" panose="02020603050405020304" pitchFamily="18" charset="0"/>
                <a:cs typeface="Times New Roman" panose="02020603050405020304" pitchFamily="18" charset="0"/>
                <a:sym typeface="+mn-ea"/>
              </a:rPr>
              <a:t>) from the target variable (</a:t>
            </a:r>
            <a:r>
              <a:rPr lang="en-IN" sz="1600" b="1" dirty="0">
                <a:solidFill>
                  <a:schemeClr val="tx1">
                    <a:lumMod val="95000"/>
                    <a:lumOff val="5000"/>
                  </a:schemeClr>
                </a:solidFill>
                <a:latin typeface="Times New Roman" panose="02020603050405020304" pitchFamily="18" charset="0"/>
                <a:cs typeface="Times New Roman" panose="02020603050405020304" pitchFamily="18" charset="0"/>
                <a:sym typeface="+mn-ea"/>
              </a:rPr>
              <a:t>y</a:t>
            </a:r>
            <a:r>
              <a:rPr lang="en-IN" sz="1600" dirty="0">
                <a:solidFill>
                  <a:schemeClr val="tx1">
                    <a:lumMod val="95000"/>
                    <a:lumOff val="5000"/>
                  </a:schemeClr>
                </a:solidFill>
                <a:latin typeface="Times New Roman" panose="02020603050405020304" pitchFamily="18" charset="0"/>
                <a:cs typeface="Times New Roman" panose="02020603050405020304" pitchFamily="18" charset="0"/>
                <a:sym typeface="+mn-ea"/>
              </a:rPr>
              <a:t>). </a:t>
            </a:r>
            <a:endParaRPr lang="en-IN" sz="1600" dirty="0">
              <a:solidFill>
                <a:schemeClr val="tx1">
                  <a:lumMod val="95000"/>
                  <a:lumOff val="5000"/>
                </a:schemeClr>
              </a:solidFill>
              <a:latin typeface="Times New Roman" panose="02020603050405020304" pitchFamily="18" charset="0"/>
              <a:cs typeface="Times New Roman" panose="02020603050405020304" pitchFamily="18" charset="0"/>
            </a:endParaRPr>
          </a:p>
          <a:p>
            <a:pPr lvl="0" algn="just">
              <a:lnSpc>
                <a:spcPct val="100000"/>
              </a:lnSpc>
            </a:pPr>
            <a:r>
              <a:rPr lang="en-IN" sz="1600" dirty="0">
                <a:solidFill>
                  <a:schemeClr val="tx1">
                    <a:lumMod val="95000"/>
                    <a:lumOff val="5000"/>
                  </a:schemeClr>
                </a:solidFill>
                <a:latin typeface="Times New Roman" panose="02020603050405020304" pitchFamily="18" charset="0"/>
                <a:cs typeface="Times New Roman" panose="02020603050405020304" pitchFamily="18" charset="0"/>
                <a:sym typeface="+mn-ea"/>
              </a:rPr>
              <a:t>Converted categorical target values into numerical labels using </a:t>
            </a:r>
            <a:r>
              <a:rPr lang="en-IN" sz="1600" b="1" dirty="0">
                <a:solidFill>
                  <a:schemeClr val="tx1">
                    <a:lumMod val="95000"/>
                    <a:lumOff val="5000"/>
                  </a:schemeClr>
                </a:solidFill>
                <a:latin typeface="Times New Roman" panose="02020603050405020304" pitchFamily="18" charset="0"/>
                <a:cs typeface="Times New Roman" panose="02020603050405020304" pitchFamily="18" charset="0"/>
                <a:sym typeface="+mn-ea"/>
              </a:rPr>
              <a:t>Label Encoding</a:t>
            </a:r>
            <a:r>
              <a:rPr lang="en-IN" sz="1600" dirty="0">
                <a:solidFill>
                  <a:schemeClr val="tx1">
                    <a:lumMod val="95000"/>
                    <a:lumOff val="5000"/>
                  </a:schemeClr>
                </a:solidFill>
                <a:latin typeface="Times New Roman" panose="02020603050405020304" pitchFamily="18" charset="0"/>
                <a:cs typeface="Times New Roman" panose="02020603050405020304" pitchFamily="18" charset="0"/>
                <a:sym typeface="+mn-ea"/>
              </a:rPr>
              <a:t>. </a:t>
            </a:r>
            <a:endParaRPr lang="en-IN" sz="1600" dirty="0">
              <a:solidFill>
                <a:schemeClr val="tx1">
                  <a:lumMod val="95000"/>
                  <a:lumOff val="5000"/>
                </a:schemeClr>
              </a:solidFill>
              <a:latin typeface="Times New Roman" panose="02020603050405020304" pitchFamily="18" charset="0"/>
              <a:cs typeface="Times New Roman" panose="02020603050405020304" pitchFamily="18" charset="0"/>
            </a:endParaRPr>
          </a:p>
          <a:p>
            <a:pPr lvl="0" algn="just">
              <a:lnSpc>
                <a:spcPct val="100000"/>
              </a:lnSpc>
            </a:pPr>
            <a:r>
              <a:rPr lang="en-IN" sz="1600" dirty="0">
                <a:solidFill>
                  <a:schemeClr val="tx1">
                    <a:lumMod val="95000"/>
                    <a:lumOff val="5000"/>
                  </a:schemeClr>
                </a:solidFill>
                <a:latin typeface="Times New Roman" panose="02020603050405020304" pitchFamily="18" charset="0"/>
                <a:cs typeface="Times New Roman" panose="02020603050405020304" pitchFamily="18" charset="0"/>
                <a:sym typeface="+mn-ea"/>
              </a:rPr>
              <a:t>Ensured that the target contains appropriate classes for classification. </a:t>
            </a:r>
            <a:endParaRPr lang="en-IN" sz="1600" dirty="0">
              <a:solidFill>
                <a:schemeClr val="tx1">
                  <a:lumMod val="95000"/>
                  <a:lumOff val="5000"/>
                </a:schemeClr>
              </a:solidFill>
              <a:latin typeface="Times New Roman" panose="02020603050405020304" pitchFamily="18" charset="0"/>
              <a:cs typeface="Times New Roman" panose="02020603050405020304" pitchFamily="18" charset="0"/>
            </a:endParaRPr>
          </a:p>
          <a:p>
            <a:pPr algn="just">
              <a:lnSpc>
                <a:spcPct val="100000"/>
              </a:lnSpc>
            </a:pPr>
            <a:r>
              <a:rPr lang="en-IN" sz="1600" b="1" dirty="0">
                <a:solidFill>
                  <a:schemeClr val="tx1">
                    <a:lumMod val="95000"/>
                    <a:lumOff val="5000"/>
                  </a:schemeClr>
                </a:solidFill>
                <a:latin typeface="Times New Roman" panose="02020603050405020304" pitchFamily="18" charset="0"/>
                <a:cs typeface="Times New Roman" panose="02020603050405020304" pitchFamily="18" charset="0"/>
                <a:sym typeface="+mn-ea"/>
              </a:rPr>
              <a:t>5. Machine Learning</a:t>
            </a:r>
            <a:endParaRPr lang="en-IN" sz="1600" b="1" dirty="0">
              <a:solidFill>
                <a:schemeClr val="tx1">
                  <a:lumMod val="95000"/>
                  <a:lumOff val="5000"/>
                </a:schemeClr>
              </a:solidFill>
              <a:latin typeface="Times New Roman" panose="02020603050405020304" pitchFamily="18" charset="0"/>
              <a:cs typeface="Times New Roman" panose="02020603050405020304" pitchFamily="18" charset="0"/>
            </a:endParaRPr>
          </a:p>
          <a:p>
            <a:pPr lvl="0" algn="just">
              <a:lnSpc>
                <a:spcPct val="100000"/>
              </a:lnSpc>
            </a:pPr>
            <a:r>
              <a:rPr lang="en-IN" sz="1600" dirty="0">
                <a:solidFill>
                  <a:schemeClr val="tx1">
                    <a:lumMod val="95000"/>
                    <a:lumOff val="5000"/>
                  </a:schemeClr>
                </a:solidFill>
                <a:latin typeface="Times New Roman" panose="02020603050405020304" pitchFamily="18" charset="0"/>
                <a:cs typeface="Times New Roman" panose="02020603050405020304" pitchFamily="18" charset="0"/>
                <a:sym typeface="+mn-ea"/>
              </a:rPr>
              <a:t>Implemented the </a:t>
            </a:r>
            <a:r>
              <a:rPr lang="en-IN" sz="1600" b="1" dirty="0">
                <a:solidFill>
                  <a:schemeClr val="tx1">
                    <a:lumMod val="95000"/>
                    <a:lumOff val="5000"/>
                  </a:schemeClr>
                </a:solidFill>
                <a:latin typeface="Times New Roman" panose="02020603050405020304" pitchFamily="18" charset="0"/>
                <a:cs typeface="Times New Roman" panose="02020603050405020304" pitchFamily="18" charset="0"/>
                <a:sym typeface="+mn-ea"/>
              </a:rPr>
              <a:t>Random Forest Classifier</a:t>
            </a:r>
            <a:r>
              <a:rPr lang="en-IN" sz="1600" dirty="0">
                <a:solidFill>
                  <a:schemeClr val="tx1">
                    <a:lumMod val="95000"/>
                    <a:lumOff val="5000"/>
                  </a:schemeClr>
                </a:solidFill>
                <a:latin typeface="Times New Roman" panose="02020603050405020304" pitchFamily="18" charset="0"/>
                <a:cs typeface="Times New Roman" panose="02020603050405020304" pitchFamily="18" charset="0"/>
                <a:sym typeface="+mn-ea"/>
              </a:rPr>
              <a:t> for the prediction tasks. </a:t>
            </a:r>
            <a:endParaRPr lang="en-IN" sz="1600" dirty="0">
              <a:solidFill>
                <a:schemeClr val="tx1">
                  <a:lumMod val="95000"/>
                  <a:lumOff val="5000"/>
                </a:schemeClr>
              </a:solidFill>
              <a:latin typeface="Times New Roman" panose="02020603050405020304" pitchFamily="18" charset="0"/>
              <a:cs typeface="Times New Roman" panose="02020603050405020304" pitchFamily="18" charset="0"/>
            </a:endParaRPr>
          </a:p>
          <a:p>
            <a:pPr lvl="0" algn="just">
              <a:lnSpc>
                <a:spcPct val="100000"/>
              </a:lnSpc>
            </a:pPr>
            <a:r>
              <a:rPr lang="en-IN" sz="1600" dirty="0">
                <a:solidFill>
                  <a:schemeClr val="tx1">
                    <a:lumMod val="95000"/>
                    <a:lumOff val="5000"/>
                  </a:schemeClr>
                </a:solidFill>
                <a:latin typeface="Times New Roman" panose="02020603050405020304" pitchFamily="18" charset="0"/>
                <a:cs typeface="Times New Roman" panose="02020603050405020304" pitchFamily="18" charset="0"/>
                <a:sym typeface="+mn-ea"/>
              </a:rPr>
              <a:t>Trained the model using the selected features from the prepared datasets. </a:t>
            </a:r>
            <a:endParaRPr lang="en-IN" sz="1600" dirty="0">
              <a:solidFill>
                <a:schemeClr val="tx1">
                  <a:lumMod val="95000"/>
                  <a:lumOff val="5000"/>
                </a:schemeClr>
              </a:solidFill>
              <a:latin typeface="Times New Roman" panose="02020603050405020304" pitchFamily="18" charset="0"/>
              <a:cs typeface="Times New Roman" panose="02020603050405020304" pitchFamily="18" charset="0"/>
            </a:endParaRPr>
          </a:p>
          <a:p>
            <a:pPr lvl="0" algn="just">
              <a:lnSpc>
                <a:spcPct val="100000"/>
              </a:lnSpc>
            </a:pPr>
            <a:r>
              <a:rPr lang="en-IN" sz="1600" dirty="0">
                <a:solidFill>
                  <a:schemeClr val="tx1">
                    <a:lumMod val="95000"/>
                    <a:lumOff val="5000"/>
                  </a:schemeClr>
                </a:solidFill>
                <a:latin typeface="Times New Roman" panose="02020603050405020304" pitchFamily="18" charset="0"/>
                <a:cs typeface="Times New Roman" panose="02020603050405020304" pitchFamily="18" charset="0"/>
                <a:sym typeface="+mn-ea"/>
              </a:rPr>
              <a:t>Used multiple decision trees within Random Forest to perform classification. </a:t>
            </a:r>
            <a:endParaRPr lang="en-IN" sz="1600" dirty="0">
              <a:solidFill>
                <a:schemeClr val="tx1">
                  <a:lumMod val="95000"/>
                  <a:lumOff val="5000"/>
                </a:schemeClr>
              </a:solidFill>
              <a:latin typeface="Times New Roman" panose="02020603050405020304" pitchFamily="18" charset="0"/>
              <a:cs typeface="Times New Roman" panose="02020603050405020304" pitchFamily="18" charset="0"/>
            </a:endParaRPr>
          </a:p>
          <a:p>
            <a:pPr lvl="0" algn="just">
              <a:lnSpc>
                <a:spcPct val="100000"/>
              </a:lnSpc>
            </a:pPr>
            <a:r>
              <a:rPr lang="en-IN" sz="1600" dirty="0">
                <a:solidFill>
                  <a:schemeClr val="tx1">
                    <a:lumMod val="95000"/>
                    <a:lumOff val="5000"/>
                  </a:schemeClr>
                </a:solidFill>
                <a:latin typeface="Times New Roman" panose="02020603050405020304" pitchFamily="18" charset="0"/>
                <a:cs typeface="Times New Roman" panose="02020603050405020304" pitchFamily="18" charset="0"/>
                <a:sym typeface="+mn-ea"/>
              </a:rPr>
              <a:t>Created separate prediction modules for </a:t>
            </a:r>
            <a:r>
              <a:rPr lang="en-IN" sz="1600" b="1" dirty="0">
                <a:solidFill>
                  <a:schemeClr val="tx1">
                    <a:lumMod val="95000"/>
                    <a:lumOff val="5000"/>
                  </a:schemeClr>
                </a:solidFill>
                <a:latin typeface="Times New Roman" panose="02020603050405020304" pitchFamily="18" charset="0"/>
                <a:cs typeface="Times New Roman" panose="02020603050405020304" pitchFamily="18" charset="0"/>
                <a:sym typeface="+mn-ea"/>
              </a:rPr>
              <a:t>Traffic, Weather, Accident, and GPS</a:t>
            </a:r>
            <a:r>
              <a:rPr lang="en-IN" sz="1600" dirty="0">
                <a:solidFill>
                  <a:schemeClr val="tx1">
                    <a:lumMod val="95000"/>
                    <a:lumOff val="5000"/>
                  </a:schemeClr>
                </a:solidFill>
                <a:latin typeface="Times New Roman" panose="02020603050405020304" pitchFamily="18" charset="0"/>
                <a:cs typeface="Times New Roman" panose="02020603050405020304" pitchFamily="18" charset="0"/>
                <a:sym typeface="+mn-ea"/>
              </a:rPr>
              <a:t>. </a:t>
            </a:r>
            <a:endParaRPr lang="en-IN" sz="1600" dirty="0">
              <a:solidFill>
                <a:schemeClr val="tx1">
                  <a:lumMod val="95000"/>
                  <a:lumOff val="5000"/>
                </a:schemeClr>
              </a:solidFill>
              <a:latin typeface="Times New Roman" panose="02020603050405020304" pitchFamily="18" charset="0"/>
              <a:cs typeface="Times New Roman" panose="02020603050405020304" pitchFamily="18" charset="0"/>
            </a:endParaRPr>
          </a:p>
          <a:p>
            <a:pPr algn="just">
              <a:lnSpc>
                <a:spcPct val="100000"/>
              </a:lnSpc>
            </a:pPr>
            <a:r>
              <a:rPr lang="en-IN" sz="1600" b="1" dirty="0">
                <a:solidFill>
                  <a:schemeClr val="tx1">
                    <a:lumMod val="95000"/>
                    <a:lumOff val="5000"/>
                  </a:schemeClr>
                </a:solidFill>
                <a:latin typeface="Times New Roman" panose="02020603050405020304" pitchFamily="18" charset="0"/>
                <a:cs typeface="Times New Roman" panose="02020603050405020304" pitchFamily="18" charset="0"/>
                <a:sym typeface="+mn-ea"/>
              </a:rPr>
              <a:t>6. Model Evaluation</a:t>
            </a:r>
            <a:endParaRPr lang="en-IN" sz="1600" b="1" dirty="0">
              <a:solidFill>
                <a:schemeClr val="tx1">
                  <a:lumMod val="95000"/>
                  <a:lumOff val="5000"/>
                </a:schemeClr>
              </a:solidFill>
              <a:latin typeface="Times New Roman" panose="02020603050405020304" pitchFamily="18" charset="0"/>
              <a:cs typeface="Times New Roman" panose="02020603050405020304" pitchFamily="18" charset="0"/>
            </a:endParaRPr>
          </a:p>
          <a:p>
            <a:pPr lvl="0" algn="just">
              <a:lnSpc>
                <a:spcPct val="100000"/>
              </a:lnSpc>
            </a:pPr>
            <a:r>
              <a:rPr lang="en-IN" sz="1600" dirty="0">
                <a:solidFill>
                  <a:schemeClr val="tx1">
                    <a:lumMod val="95000"/>
                    <a:lumOff val="5000"/>
                  </a:schemeClr>
                </a:solidFill>
                <a:latin typeface="Times New Roman" panose="02020603050405020304" pitchFamily="18" charset="0"/>
                <a:cs typeface="Times New Roman" panose="02020603050405020304" pitchFamily="18" charset="0"/>
                <a:sym typeface="+mn-ea"/>
              </a:rPr>
              <a:t>Evaluated the classification model using standard performance metrics. </a:t>
            </a:r>
            <a:endParaRPr lang="en-IN" sz="1600" dirty="0">
              <a:solidFill>
                <a:schemeClr val="tx1">
                  <a:lumMod val="95000"/>
                  <a:lumOff val="5000"/>
                </a:schemeClr>
              </a:solidFill>
              <a:latin typeface="Times New Roman" panose="02020603050405020304" pitchFamily="18" charset="0"/>
              <a:cs typeface="Times New Roman" panose="02020603050405020304" pitchFamily="18" charset="0"/>
            </a:endParaRPr>
          </a:p>
          <a:p>
            <a:pPr lvl="0" algn="just">
              <a:lnSpc>
                <a:spcPct val="100000"/>
              </a:lnSpc>
            </a:pPr>
            <a:r>
              <a:rPr lang="en-IN" sz="1600" dirty="0">
                <a:solidFill>
                  <a:schemeClr val="tx1">
                    <a:lumMod val="95000"/>
                    <a:lumOff val="5000"/>
                  </a:schemeClr>
                </a:solidFill>
                <a:latin typeface="Times New Roman" panose="02020603050405020304" pitchFamily="18" charset="0"/>
                <a:cs typeface="Times New Roman" panose="02020603050405020304" pitchFamily="18" charset="0"/>
                <a:sym typeface="+mn-ea"/>
              </a:rPr>
              <a:t>Calculated </a:t>
            </a:r>
            <a:r>
              <a:rPr lang="en-IN" sz="1600" b="1" dirty="0">
                <a:solidFill>
                  <a:schemeClr val="tx1">
                    <a:lumMod val="95000"/>
                    <a:lumOff val="5000"/>
                  </a:schemeClr>
                </a:solidFill>
                <a:latin typeface="Times New Roman" panose="02020603050405020304" pitchFamily="18" charset="0"/>
                <a:cs typeface="Times New Roman" panose="02020603050405020304" pitchFamily="18" charset="0"/>
                <a:sym typeface="+mn-ea"/>
              </a:rPr>
              <a:t>Accuracy</a:t>
            </a:r>
            <a:r>
              <a:rPr lang="en-IN" sz="1600" dirty="0">
                <a:solidFill>
                  <a:schemeClr val="tx1">
                    <a:lumMod val="95000"/>
                    <a:lumOff val="5000"/>
                  </a:schemeClr>
                </a:solidFill>
                <a:latin typeface="Times New Roman" panose="02020603050405020304" pitchFamily="18" charset="0"/>
                <a:cs typeface="Times New Roman" panose="02020603050405020304" pitchFamily="18" charset="0"/>
                <a:sym typeface="+mn-ea"/>
              </a:rPr>
              <a:t> to measure overall correct predictions. </a:t>
            </a:r>
            <a:endParaRPr lang="en-IN" sz="1600" dirty="0">
              <a:solidFill>
                <a:schemeClr val="tx1">
                  <a:lumMod val="95000"/>
                  <a:lumOff val="5000"/>
                </a:schemeClr>
              </a:solidFill>
              <a:latin typeface="Times New Roman" panose="02020603050405020304" pitchFamily="18" charset="0"/>
              <a:cs typeface="Times New Roman" panose="02020603050405020304" pitchFamily="18" charset="0"/>
            </a:endParaRPr>
          </a:p>
          <a:p>
            <a:pPr lvl="0" algn="just">
              <a:lnSpc>
                <a:spcPct val="100000"/>
              </a:lnSpc>
            </a:pPr>
            <a:r>
              <a:rPr lang="en-IN" sz="1600" dirty="0">
                <a:solidFill>
                  <a:schemeClr val="tx1">
                    <a:lumMod val="95000"/>
                    <a:lumOff val="5000"/>
                  </a:schemeClr>
                </a:solidFill>
                <a:latin typeface="Times New Roman" panose="02020603050405020304" pitchFamily="18" charset="0"/>
                <a:cs typeface="Times New Roman" panose="02020603050405020304" pitchFamily="18" charset="0"/>
                <a:sym typeface="+mn-ea"/>
              </a:rPr>
              <a:t>Calculated </a:t>
            </a:r>
            <a:r>
              <a:rPr lang="en-IN" sz="1600" b="1" dirty="0">
                <a:solidFill>
                  <a:schemeClr val="tx1">
                    <a:lumMod val="95000"/>
                    <a:lumOff val="5000"/>
                  </a:schemeClr>
                </a:solidFill>
                <a:latin typeface="Times New Roman" panose="02020603050405020304" pitchFamily="18" charset="0"/>
                <a:cs typeface="Times New Roman" panose="02020603050405020304" pitchFamily="18" charset="0"/>
                <a:sym typeface="+mn-ea"/>
              </a:rPr>
              <a:t>Precision, Recall, and F1-score</a:t>
            </a:r>
            <a:r>
              <a:rPr lang="en-IN" sz="1600" dirty="0">
                <a:solidFill>
                  <a:schemeClr val="tx1">
                    <a:lumMod val="95000"/>
                    <a:lumOff val="5000"/>
                  </a:schemeClr>
                </a:solidFill>
                <a:latin typeface="Times New Roman" panose="02020603050405020304" pitchFamily="18" charset="0"/>
                <a:cs typeface="Times New Roman" panose="02020603050405020304" pitchFamily="18" charset="0"/>
                <a:sym typeface="+mn-ea"/>
              </a:rPr>
              <a:t> to evaluate classification performance. </a:t>
            </a:r>
            <a:endParaRPr lang="en-IN" sz="1600" dirty="0">
              <a:solidFill>
                <a:schemeClr val="tx1">
                  <a:lumMod val="95000"/>
                  <a:lumOff val="5000"/>
                </a:schemeClr>
              </a:solidFill>
              <a:latin typeface="Times New Roman" panose="02020603050405020304" pitchFamily="18" charset="0"/>
              <a:cs typeface="Times New Roman" panose="02020603050405020304" pitchFamily="18" charset="0"/>
            </a:endParaRPr>
          </a:p>
          <a:p>
            <a:pPr lvl="0" algn="just">
              <a:lnSpc>
                <a:spcPct val="100000"/>
              </a:lnSpc>
            </a:pPr>
            <a:r>
              <a:rPr lang="en-IN" sz="1600" dirty="0">
                <a:solidFill>
                  <a:schemeClr val="tx1">
                    <a:lumMod val="95000"/>
                    <a:lumOff val="5000"/>
                  </a:schemeClr>
                </a:solidFill>
                <a:latin typeface="Times New Roman" panose="02020603050405020304" pitchFamily="18" charset="0"/>
                <a:cs typeface="Times New Roman" panose="02020603050405020304" pitchFamily="18" charset="0"/>
                <a:sym typeface="+mn-ea"/>
              </a:rPr>
              <a:t>Used these metrics to understand how effectively the model predicts the target classes. </a:t>
            </a:r>
            <a:endParaRPr lang="en-IN" sz="1600" dirty="0">
              <a:solidFill>
                <a:schemeClr val="tx1">
                  <a:lumMod val="95000"/>
                  <a:lumOff val="5000"/>
                </a:schemeClr>
              </a:solidFill>
              <a:latin typeface="Times New Roman" panose="02020603050405020304" pitchFamily="18" charset="0"/>
              <a:cs typeface="Times New Roman" panose="02020603050405020304" pitchFamily="18" charset="0"/>
            </a:endParaRPr>
          </a:p>
          <a:p>
            <a:pPr algn="just">
              <a:lnSpc>
                <a:spcPct val="100000"/>
              </a:lnSpc>
            </a:pPr>
            <a:endParaRPr lang="en-IN"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21506" name="Picture 2" descr="Koneru Lakshmaiah Education Foundation, Bachupally Campus Courses ..."/>
          <p:cNvPicPr>
            <a:picLocks noChangeAspect="1" noChangeArrowheads="1"/>
          </p:cNvPicPr>
          <p:nvPr/>
        </p:nvPicPr>
        <p:blipFill>
          <a:blip r:embed="rId4"/>
          <a:srcRect t="16961" b="27101"/>
          <a:stretch>
            <a:fillRect/>
          </a:stretch>
        </p:blipFill>
        <p:spPr bwMode="auto">
          <a:xfrm>
            <a:off x="0" y="0"/>
            <a:ext cx="2095500" cy="1145540"/>
          </a:xfrm>
          <a:prstGeom prst="rect">
            <a:avLst/>
          </a:prstGeom>
          <a:noFill/>
        </p:spPr>
      </p:pic>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custDataLst>
              <p:tags r:id="rId2"/>
            </p:custDataLst>
          </p:nvPr>
        </p:nvSpPr>
        <p:spPr>
          <a:xfrm>
            <a:off x="608400" y="1145595"/>
            <a:ext cx="10969200" cy="4759200"/>
          </a:xfrm>
        </p:spPr>
        <p:txBody>
          <a:bodyPr>
            <a:noAutofit/>
          </a:bodyPr>
          <a:lstStyle/>
          <a:p>
            <a:pPr algn="just">
              <a:lnSpc>
                <a:spcPct val="100000"/>
              </a:lnSpc>
            </a:pPr>
            <a:r>
              <a:rPr lang="en-IN" sz="1600" b="1" dirty="0">
                <a:solidFill>
                  <a:schemeClr val="tx1">
                    <a:lumMod val="95000"/>
                    <a:lumOff val="5000"/>
                  </a:schemeClr>
                </a:solidFill>
                <a:latin typeface="Times New Roman" panose="02020603050405020304" pitchFamily="18" charset="0"/>
                <a:cs typeface="Times New Roman" panose="02020603050405020304" pitchFamily="18" charset="0"/>
                <a:sym typeface="+mn-ea"/>
              </a:rPr>
              <a:t>7. Prediction</a:t>
            </a:r>
            <a:endParaRPr lang="en-IN" sz="1600" b="1" dirty="0">
              <a:solidFill>
                <a:schemeClr val="tx1">
                  <a:lumMod val="95000"/>
                  <a:lumOff val="5000"/>
                </a:schemeClr>
              </a:solidFill>
              <a:latin typeface="Times New Roman" panose="02020603050405020304" pitchFamily="18" charset="0"/>
              <a:cs typeface="Times New Roman" panose="02020603050405020304" pitchFamily="18" charset="0"/>
            </a:endParaRPr>
          </a:p>
          <a:p>
            <a:pPr lvl="0" algn="just">
              <a:lnSpc>
                <a:spcPct val="100000"/>
              </a:lnSpc>
            </a:pPr>
            <a:r>
              <a:rPr lang="en-IN" sz="1600" dirty="0">
                <a:solidFill>
                  <a:schemeClr val="tx1">
                    <a:lumMod val="95000"/>
                    <a:lumOff val="5000"/>
                  </a:schemeClr>
                </a:solidFill>
                <a:latin typeface="Times New Roman" panose="02020603050405020304" pitchFamily="18" charset="0"/>
                <a:cs typeface="Times New Roman" panose="02020603050405020304" pitchFamily="18" charset="0"/>
                <a:sym typeface="+mn-ea"/>
              </a:rPr>
              <a:t>Allowed users to enter values for the selected features through the dashboard. </a:t>
            </a:r>
            <a:endParaRPr lang="en-IN" sz="1600" dirty="0">
              <a:solidFill>
                <a:schemeClr val="tx1">
                  <a:lumMod val="95000"/>
                  <a:lumOff val="5000"/>
                </a:schemeClr>
              </a:solidFill>
              <a:latin typeface="Times New Roman" panose="02020603050405020304" pitchFamily="18" charset="0"/>
              <a:cs typeface="Times New Roman" panose="02020603050405020304" pitchFamily="18" charset="0"/>
            </a:endParaRPr>
          </a:p>
          <a:p>
            <a:pPr lvl="0" algn="just">
              <a:lnSpc>
                <a:spcPct val="100000"/>
              </a:lnSpc>
            </a:pPr>
            <a:r>
              <a:rPr lang="en-IN" sz="1600" dirty="0">
                <a:solidFill>
                  <a:schemeClr val="tx1">
                    <a:lumMod val="95000"/>
                    <a:lumOff val="5000"/>
                  </a:schemeClr>
                </a:solidFill>
                <a:latin typeface="Times New Roman" panose="02020603050405020304" pitchFamily="18" charset="0"/>
                <a:cs typeface="Times New Roman" panose="02020603050405020304" pitchFamily="18" charset="0"/>
                <a:sym typeface="+mn-ea"/>
              </a:rPr>
              <a:t>Passed the entered values to the trained Random Forest model. </a:t>
            </a:r>
            <a:endParaRPr lang="en-IN" sz="1600" dirty="0">
              <a:solidFill>
                <a:schemeClr val="tx1">
                  <a:lumMod val="95000"/>
                  <a:lumOff val="5000"/>
                </a:schemeClr>
              </a:solidFill>
              <a:latin typeface="Times New Roman" panose="02020603050405020304" pitchFamily="18" charset="0"/>
              <a:cs typeface="Times New Roman" panose="02020603050405020304" pitchFamily="18" charset="0"/>
            </a:endParaRPr>
          </a:p>
          <a:p>
            <a:pPr lvl="0" algn="just">
              <a:lnSpc>
                <a:spcPct val="100000"/>
              </a:lnSpc>
            </a:pPr>
            <a:r>
              <a:rPr lang="en-IN" sz="1600" dirty="0">
                <a:solidFill>
                  <a:schemeClr val="tx1">
                    <a:lumMod val="95000"/>
                    <a:lumOff val="5000"/>
                  </a:schemeClr>
                </a:solidFill>
                <a:latin typeface="Times New Roman" panose="02020603050405020304" pitchFamily="18" charset="0"/>
                <a:cs typeface="Times New Roman" panose="02020603050405020304" pitchFamily="18" charset="0"/>
                <a:sym typeface="+mn-ea"/>
              </a:rPr>
              <a:t>Generated the predicted class for Traffic, Weather, Accident, or GPS. </a:t>
            </a:r>
            <a:endParaRPr lang="en-IN" sz="1600" dirty="0">
              <a:solidFill>
                <a:schemeClr val="tx1">
                  <a:lumMod val="95000"/>
                  <a:lumOff val="5000"/>
                </a:schemeClr>
              </a:solidFill>
              <a:latin typeface="Times New Roman" panose="02020603050405020304" pitchFamily="18" charset="0"/>
              <a:cs typeface="Times New Roman" panose="02020603050405020304" pitchFamily="18" charset="0"/>
            </a:endParaRPr>
          </a:p>
          <a:p>
            <a:pPr lvl="0" algn="just">
              <a:lnSpc>
                <a:spcPct val="100000"/>
              </a:lnSpc>
            </a:pPr>
            <a:r>
              <a:rPr lang="en-IN" sz="1600" dirty="0">
                <a:solidFill>
                  <a:schemeClr val="tx1">
                    <a:lumMod val="95000"/>
                    <a:lumOff val="5000"/>
                  </a:schemeClr>
                </a:solidFill>
                <a:latin typeface="Times New Roman" panose="02020603050405020304" pitchFamily="18" charset="0"/>
                <a:cs typeface="Times New Roman" panose="02020603050405020304" pitchFamily="18" charset="0"/>
                <a:sym typeface="+mn-ea"/>
              </a:rPr>
              <a:t>Displayed the prediction and, where available, the </a:t>
            </a:r>
            <a:r>
              <a:rPr lang="en-IN" sz="1600" b="1" dirty="0">
                <a:solidFill>
                  <a:schemeClr val="tx1">
                    <a:lumMod val="95000"/>
                    <a:lumOff val="5000"/>
                  </a:schemeClr>
                </a:solidFill>
                <a:latin typeface="Times New Roman" panose="02020603050405020304" pitchFamily="18" charset="0"/>
                <a:cs typeface="Times New Roman" panose="02020603050405020304" pitchFamily="18" charset="0"/>
                <a:sym typeface="+mn-ea"/>
              </a:rPr>
              <a:t>prediction confidence/probabilities</a:t>
            </a:r>
            <a:r>
              <a:rPr lang="en-IN" sz="1600" dirty="0">
                <a:solidFill>
                  <a:schemeClr val="tx1">
                    <a:lumMod val="95000"/>
                    <a:lumOff val="5000"/>
                  </a:schemeClr>
                </a:solidFill>
                <a:latin typeface="Times New Roman" panose="02020603050405020304" pitchFamily="18" charset="0"/>
                <a:cs typeface="Times New Roman" panose="02020603050405020304" pitchFamily="18" charset="0"/>
                <a:sym typeface="+mn-ea"/>
              </a:rPr>
              <a:t>. </a:t>
            </a:r>
            <a:endParaRPr lang="en-IN" sz="1600" dirty="0">
              <a:solidFill>
                <a:schemeClr val="tx1">
                  <a:lumMod val="95000"/>
                  <a:lumOff val="5000"/>
                </a:schemeClr>
              </a:solidFill>
              <a:latin typeface="Times New Roman" panose="02020603050405020304" pitchFamily="18" charset="0"/>
              <a:cs typeface="Times New Roman" panose="02020603050405020304" pitchFamily="18" charset="0"/>
            </a:endParaRPr>
          </a:p>
          <a:p>
            <a:pPr algn="just">
              <a:lnSpc>
                <a:spcPct val="100000"/>
              </a:lnSpc>
            </a:pPr>
            <a:r>
              <a:rPr lang="en-IN" sz="1600" b="1" dirty="0">
                <a:solidFill>
                  <a:schemeClr val="tx1">
                    <a:lumMod val="95000"/>
                    <a:lumOff val="5000"/>
                  </a:schemeClr>
                </a:solidFill>
                <a:latin typeface="Times New Roman" panose="02020603050405020304" pitchFamily="18" charset="0"/>
                <a:cs typeface="Times New Roman" panose="02020603050405020304" pitchFamily="18" charset="0"/>
                <a:sym typeface="+mn-ea"/>
              </a:rPr>
              <a:t>8. Dashboard Development</a:t>
            </a:r>
            <a:endParaRPr lang="en-IN" sz="1600" b="1" dirty="0">
              <a:solidFill>
                <a:schemeClr val="tx1">
                  <a:lumMod val="95000"/>
                  <a:lumOff val="5000"/>
                </a:schemeClr>
              </a:solidFill>
              <a:latin typeface="Times New Roman" panose="02020603050405020304" pitchFamily="18" charset="0"/>
              <a:cs typeface="Times New Roman" panose="02020603050405020304" pitchFamily="18" charset="0"/>
            </a:endParaRPr>
          </a:p>
          <a:p>
            <a:pPr lvl="0" algn="just">
              <a:lnSpc>
                <a:spcPct val="100000"/>
              </a:lnSpc>
            </a:pPr>
            <a:r>
              <a:rPr lang="en-IN" sz="1600" dirty="0">
                <a:solidFill>
                  <a:schemeClr val="tx1">
                    <a:lumMod val="95000"/>
                    <a:lumOff val="5000"/>
                  </a:schemeClr>
                </a:solidFill>
                <a:latin typeface="Times New Roman" panose="02020603050405020304" pitchFamily="18" charset="0"/>
                <a:cs typeface="Times New Roman" panose="02020603050405020304" pitchFamily="18" charset="0"/>
                <a:sym typeface="+mn-ea"/>
              </a:rPr>
              <a:t>Developed an interactive dashboard using </a:t>
            </a:r>
            <a:r>
              <a:rPr lang="en-IN" sz="1600" b="1" dirty="0" err="1">
                <a:solidFill>
                  <a:schemeClr val="tx1">
                    <a:lumMod val="95000"/>
                    <a:lumOff val="5000"/>
                  </a:schemeClr>
                </a:solidFill>
                <a:latin typeface="Times New Roman" panose="02020603050405020304" pitchFamily="18" charset="0"/>
                <a:cs typeface="Times New Roman" panose="02020603050405020304" pitchFamily="18" charset="0"/>
                <a:sym typeface="+mn-ea"/>
              </a:rPr>
              <a:t>Streamlit</a:t>
            </a:r>
            <a:r>
              <a:rPr lang="en-IN" sz="1600" dirty="0">
                <a:solidFill>
                  <a:schemeClr val="tx1">
                    <a:lumMod val="95000"/>
                    <a:lumOff val="5000"/>
                  </a:schemeClr>
                </a:solidFill>
                <a:latin typeface="Times New Roman" panose="02020603050405020304" pitchFamily="18" charset="0"/>
                <a:cs typeface="Times New Roman" panose="02020603050405020304" pitchFamily="18" charset="0"/>
                <a:sym typeface="+mn-ea"/>
              </a:rPr>
              <a:t>. </a:t>
            </a:r>
            <a:endParaRPr lang="en-IN" sz="1600" dirty="0">
              <a:solidFill>
                <a:schemeClr val="tx1">
                  <a:lumMod val="95000"/>
                  <a:lumOff val="5000"/>
                </a:schemeClr>
              </a:solidFill>
              <a:latin typeface="Times New Roman" panose="02020603050405020304" pitchFamily="18" charset="0"/>
              <a:cs typeface="Times New Roman" panose="02020603050405020304" pitchFamily="18" charset="0"/>
            </a:endParaRPr>
          </a:p>
          <a:p>
            <a:pPr lvl="0" algn="just">
              <a:lnSpc>
                <a:spcPct val="100000"/>
              </a:lnSpc>
            </a:pPr>
            <a:r>
              <a:rPr lang="en-IN" sz="1600" dirty="0">
                <a:solidFill>
                  <a:schemeClr val="tx1">
                    <a:lumMod val="95000"/>
                    <a:lumOff val="5000"/>
                  </a:schemeClr>
                </a:solidFill>
                <a:latin typeface="Times New Roman" panose="02020603050405020304" pitchFamily="18" charset="0"/>
                <a:cs typeface="Times New Roman" panose="02020603050405020304" pitchFamily="18" charset="0"/>
                <a:sym typeface="+mn-ea"/>
              </a:rPr>
              <a:t>Created separate sections for </a:t>
            </a:r>
            <a:r>
              <a:rPr lang="en-IN" sz="1600" b="1" dirty="0">
                <a:solidFill>
                  <a:schemeClr val="tx1">
                    <a:lumMod val="95000"/>
                    <a:lumOff val="5000"/>
                  </a:schemeClr>
                </a:solidFill>
                <a:latin typeface="Times New Roman" panose="02020603050405020304" pitchFamily="18" charset="0"/>
                <a:cs typeface="Times New Roman" panose="02020603050405020304" pitchFamily="18" charset="0"/>
                <a:sym typeface="+mn-ea"/>
              </a:rPr>
              <a:t>Traffic, Weather, Accident, and GPS Prediction</a:t>
            </a:r>
            <a:r>
              <a:rPr lang="en-IN" sz="1600" dirty="0">
                <a:solidFill>
                  <a:schemeClr val="tx1">
                    <a:lumMod val="95000"/>
                    <a:lumOff val="5000"/>
                  </a:schemeClr>
                </a:solidFill>
                <a:latin typeface="Times New Roman" panose="02020603050405020304" pitchFamily="18" charset="0"/>
                <a:cs typeface="Times New Roman" panose="02020603050405020304" pitchFamily="18" charset="0"/>
                <a:sym typeface="+mn-ea"/>
              </a:rPr>
              <a:t>. </a:t>
            </a:r>
            <a:endParaRPr lang="en-IN" sz="1600" dirty="0">
              <a:solidFill>
                <a:schemeClr val="tx1">
                  <a:lumMod val="95000"/>
                  <a:lumOff val="5000"/>
                </a:schemeClr>
              </a:solidFill>
              <a:latin typeface="Times New Roman" panose="02020603050405020304" pitchFamily="18" charset="0"/>
              <a:cs typeface="Times New Roman" panose="02020603050405020304" pitchFamily="18" charset="0"/>
            </a:endParaRPr>
          </a:p>
          <a:p>
            <a:pPr lvl="0" algn="just">
              <a:lnSpc>
                <a:spcPct val="100000"/>
              </a:lnSpc>
            </a:pPr>
            <a:r>
              <a:rPr lang="en-IN" sz="1600" dirty="0">
                <a:solidFill>
                  <a:schemeClr val="tx1">
                    <a:lumMod val="95000"/>
                    <a:lumOff val="5000"/>
                  </a:schemeClr>
                </a:solidFill>
                <a:latin typeface="Times New Roman" panose="02020603050405020304" pitchFamily="18" charset="0"/>
                <a:cs typeface="Times New Roman" panose="02020603050405020304" pitchFamily="18" charset="0"/>
                <a:sym typeface="+mn-ea"/>
              </a:rPr>
              <a:t>Provided input fields so users can enter feature values interactively. </a:t>
            </a:r>
            <a:endParaRPr lang="en-IN" sz="1600" dirty="0">
              <a:solidFill>
                <a:schemeClr val="tx1">
                  <a:lumMod val="95000"/>
                  <a:lumOff val="5000"/>
                </a:schemeClr>
              </a:solidFill>
              <a:latin typeface="Times New Roman" panose="02020603050405020304" pitchFamily="18" charset="0"/>
              <a:cs typeface="Times New Roman" panose="02020603050405020304" pitchFamily="18" charset="0"/>
            </a:endParaRPr>
          </a:p>
          <a:p>
            <a:pPr marL="0" indent="0" algn="just">
              <a:lnSpc>
                <a:spcPct val="100000"/>
              </a:lnSpc>
              <a:buNone/>
            </a:pPr>
            <a:endParaRPr lang="en-IN"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21506" name="Picture 2" descr="Koneru Lakshmaiah Education Foundation, Bachupally Campus Courses ..."/>
          <p:cNvPicPr>
            <a:picLocks noChangeAspect="1" noChangeArrowheads="1"/>
          </p:cNvPicPr>
          <p:nvPr/>
        </p:nvPicPr>
        <p:blipFill>
          <a:blip r:embed="rId4"/>
          <a:srcRect t="16961" b="27101"/>
          <a:stretch>
            <a:fillRect/>
          </a:stretch>
        </p:blipFill>
        <p:spPr bwMode="auto">
          <a:xfrm>
            <a:off x="0" y="0"/>
            <a:ext cx="2095500" cy="1145540"/>
          </a:xfrm>
          <a:prstGeom prst="rect">
            <a:avLst/>
          </a:prstGeom>
          <a:noFill/>
        </p:spPr>
      </p:pic>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4024630" y="348615"/>
            <a:ext cx="3909060" cy="705485"/>
          </a:xfrm>
        </p:spPr>
        <p:txBody>
          <a:bodyPr>
            <a:normAutofit/>
          </a:bodyPr>
          <a:lstStyle/>
          <a:p>
            <a:pPr algn="ctr"/>
            <a:r>
              <a:rPr lang="en-US" altLang="en-US" b="1">
                <a:latin typeface="Times New Roman" panose="02020603050405020304" pitchFamily="18" charset="0"/>
                <a:cs typeface="Times New Roman" panose="02020603050405020304" pitchFamily="18" charset="0"/>
                <a:sym typeface="+mn-ea"/>
              </a:rPr>
              <a:t>System Design</a:t>
            </a:r>
            <a:endParaRPr lang="en-US" b="1"/>
          </a:p>
        </p:txBody>
      </p:sp>
      <p:pic>
        <p:nvPicPr>
          <p:cNvPr id="8" name="Content Placeholder 7" descr="ChatGPT Image Sep 21, 2026, 09_20_27 AM"/>
          <p:cNvPicPr>
            <a:picLocks noGrp="1" noChangeAspect="1"/>
          </p:cNvPicPr>
          <p:nvPr>
            <p:ph idx="1"/>
            <p:custDataLst>
              <p:tags r:id="rId3"/>
            </p:custDataLst>
          </p:nvPr>
        </p:nvPicPr>
        <p:blipFill>
          <a:blip r:embed="rId5"/>
          <a:stretch>
            <a:fillRect/>
          </a:stretch>
        </p:blipFill>
        <p:spPr>
          <a:xfrm>
            <a:off x="283845" y="1303020"/>
            <a:ext cx="11797030" cy="4946650"/>
          </a:xfrm>
          <a:prstGeom prst="rect">
            <a:avLst/>
          </a:prstGeom>
        </p:spPr>
      </p:pic>
      <p:pic>
        <p:nvPicPr>
          <p:cNvPr id="21506" name="Picture 2" descr="Koneru Lakshmaiah Education Foundation, Bachupally Campus Courses ..."/>
          <p:cNvPicPr>
            <a:picLocks noChangeAspect="1" noChangeArrowheads="1"/>
          </p:cNvPicPr>
          <p:nvPr/>
        </p:nvPicPr>
        <p:blipFill>
          <a:blip r:embed="rId6"/>
          <a:srcRect t="16961" b="27101"/>
          <a:stretch>
            <a:fillRect/>
          </a:stretch>
        </p:blipFill>
        <p:spPr bwMode="auto">
          <a:xfrm>
            <a:off x="0" y="0"/>
            <a:ext cx="2095500" cy="1145540"/>
          </a:xfrm>
          <a:prstGeom prst="rect">
            <a:avLst/>
          </a:prstGeom>
          <a:noFill/>
        </p:spPr>
      </p:pic>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2663825" y="285750"/>
            <a:ext cx="7731760" cy="705485"/>
          </a:xfrm>
        </p:spPr>
        <p:txBody>
          <a:bodyPr>
            <a:normAutofit/>
          </a:bodyPr>
          <a:lstStyle/>
          <a:p>
            <a:pPr algn="ctr"/>
            <a:r>
              <a:rPr lang="en-US" b="1" dirty="0">
                <a:latin typeface="Times New Roman" panose="02020603050405020304" pitchFamily="18" charset="0"/>
                <a:cs typeface="Times New Roman" panose="02020603050405020304" pitchFamily="18" charset="0"/>
                <a:sym typeface="+mn-ea"/>
              </a:rPr>
              <a:t>Modern Tools &amp; Technologies</a:t>
            </a:r>
            <a:endParaRPr lang="en-US" b="1"/>
          </a:p>
        </p:txBody>
      </p:sp>
      <p:graphicFrame>
        <p:nvGraphicFramePr>
          <p:cNvPr id="7" name="Content Placeholder 6"/>
          <p:cNvGraphicFramePr>
            <a:graphicFrameLocks noGrp="1"/>
          </p:cNvGraphicFramePr>
          <p:nvPr>
            <p:ph idx="1"/>
            <p:custDataLst>
              <p:tags r:id="rId3"/>
            </p:custDataLst>
          </p:nvPr>
        </p:nvGraphicFramePr>
        <p:xfrm>
          <a:off x="483305" y="1145595"/>
          <a:ext cx="10968990" cy="5383530"/>
        </p:xfrm>
        <a:graphic>
          <a:graphicData uri="http://schemas.openxmlformats.org/drawingml/2006/table">
            <a:tbl>
              <a:tblPr firstRow="1" bandRow="1">
                <a:tableStyleId>{5C22544A-7EE6-4342-B048-85BDC9FD1C3A}</a:tableStyleId>
              </a:tblPr>
              <a:tblGrid>
                <a:gridCol w="3796030">
                  <a:extLst>
                    <a:ext uri="{9D8B030D-6E8A-4147-A177-3AD203B41FA5}">
                      <a16:colId xmlns:a16="http://schemas.microsoft.com/office/drawing/2014/main" val="20000"/>
                    </a:ext>
                  </a:extLst>
                </a:gridCol>
                <a:gridCol w="3334385">
                  <a:extLst>
                    <a:ext uri="{9D8B030D-6E8A-4147-A177-3AD203B41FA5}">
                      <a16:colId xmlns:a16="http://schemas.microsoft.com/office/drawing/2014/main" val="20001"/>
                    </a:ext>
                  </a:extLst>
                </a:gridCol>
                <a:gridCol w="3838575">
                  <a:extLst>
                    <a:ext uri="{9D8B030D-6E8A-4147-A177-3AD203B41FA5}">
                      <a16:colId xmlns:a16="http://schemas.microsoft.com/office/drawing/2014/main" val="20002"/>
                    </a:ext>
                  </a:extLst>
                </a:gridCol>
              </a:tblGrid>
              <a:tr h="519430">
                <a:tc>
                  <a:txBody>
                    <a:bodyPr/>
                    <a:lstStyle/>
                    <a:p>
                      <a:r>
                        <a:rPr lang="en-US" sz="1800">
                          <a:latin typeface="Times New Roman" panose="02020603050405020304" pitchFamily="18" charset="0"/>
                          <a:cs typeface="Times New Roman" panose="02020603050405020304" pitchFamily="18" charset="0"/>
                        </a:rPr>
                        <a:t>                </a:t>
                      </a:r>
                      <a:r>
                        <a:rPr sz="1800">
                          <a:latin typeface="Times New Roman" panose="02020603050405020304" pitchFamily="18" charset="0"/>
                          <a:cs typeface="Times New Roman" panose="02020603050405020304" pitchFamily="18" charset="0"/>
                        </a:rPr>
                        <a:t>Category</a:t>
                      </a:r>
                    </a:p>
                  </a:txBody>
                  <a:tcPr marL="0" marR="0" marT="0" marB="0" anchor="ctr"/>
                </a:tc>
                <a:tc>
                  <a:txBody>
                    <a:bodyPr/>
                    <a:lstStyle/>
                    <a:p>
                      <a:pPr>
                        <a:buNone/>
                      </a:pPr>
                      <a:r>
                        <a:rPr lang="en-US" altLang="en-US"/>
                        <a:t>Tool / Technology</a:t>
                      </a:r>
                    </a:p>
                  </a:txBody>
                  <a:tcPr/>
                </a:tc>
                <a:tc>
                  <a:txBody>
                    <a:bodyPr/>
                    <a:lstStyle/>
                    <a:p>
                      <a:pPr>
                        <a:buNone/>
                      </a:pPr>
                      <a:r>
                        <a:rPr lang="en-US" altLang="en-US"/>
                        <a:t>Purpose in the Project</a:t>
                      </a:r>
                    </a:p>
                  </a:txBody>
                  <a:tcPr/>
                </a:tc>
                <a:extLst>
                  <a:ext uri="{0D108BD9-81ED-4DB2-BD59-A6C34878D82A}">
                    <a16:rowId xmlns:a16="http://schemas.microsoft.com/office/drawing/2014/main" val="10000"/>
                  </a:ext>
                </a:extLst>
              </a:tr>
              <a:tr h="623570">
                <a:tc>
                  <a:txBody>
                    <a:bodyPr/>
                    <a:lstStyle/>
                    <a:p>
                      <a:pPr>
                        <a:buNone/>
                      </a:pPr>
                      <a:r>
                        <a:rPr lang="en-US" altLang="en-US" sz="1200">
                          <a:latin typeface="Times New Roman" panose="02020603050405020304" pitchFamily="18" charset="0"/>
                          <a:cs typeface="Times New Roman" panose="02020603050405020304" pitchFamily="18" charset="0"/>
                        </a:rPr>
                        <a:t>Programming Language</a:t>
                      </a:r>
                    </a:p>
                  </a:txBody>
                  <a:tcPr/>
                </a:tc>
                <a:tc>
                  <a:txBody>
                    <a:bodyPr/>
                    <a:lstStyle/>
                    <a:p>
                      <a:pPr>
                        <a:buNone/>
                      </a:pPr>
                      <a:r>
                        <a:rPr lang="en-US" altLang="en-US" sz="1200"/>
                        <a:t>Python</a:t>
                      </a:r>
                    </a:p>
                  </a:txBody>
                  <a:tcPr/>
                </a:tc>
                <a:tc>
                  <a:txBody>
                    <a:bodyPr/>
                    <a:lstStyle/>
                    <a:p>
                      <a:pPr>
                        <a:buNone/>
                      </a:pPr>
                      <a:r>
                        <a:rPr lang="en-US" altLang="en-US" sz="1200"/>
                        <a:t>Core language for data analysis, preprocessing, ML, and project implementation</a:t>
                      </a:r>
                    </a:p>
                  </a:txBody>
                  <a:tcPr/>
                </a:tc>
                <a:extLst>
                  <a:ext uri="{0D108BD9-81ED-4DB2-BD59-A6C34878D82A}">
                    <a16:rowId xmlns:a16="http://schemas.microsoft.com/office/drawing/2014/main" val="10001"/>
                  </a:ext>
                </a:extLst>
              </a:tr>
              <a:tr h="623570">
                <a:tc>
                  <a:txBody>
                    <a:bodyPr/>
                    <a:lstStyle/>
                    <a:p>
                      <a:pPr>
                        <a:buNone/>
                      </a:pPr>
                      <a:r>
                        <a:rPr lang="en-US" altLang="en-US" sz="1200"/>
                        <a:t>Development Environment</a:t>
                      </a:r>
                    </a:p>
                  </a:txBody>
                  <a:tcPr/>
                </a:tc>
                <a:tc>
                  <a:txBody>
                    <a:bodyPr/>
                    <a:lstStyle/>
                    <a:p>
                      <a:pPr>
                        <a:buNone/>
                      </a:pPr>
                      <a:r>
                        <a:rPr lang="en-US" altLang="en-US" sz="1200"/>
                        <a:t>Jupyter Notebook</a:t>
                      </a:r>
                    </a:p>
                  </a:txBody>
                  <a:tcPr/>
                </a:tc>
                <a:tc>
                  <a:txBody>
                    <a:bodyPr/>
                    <a:lstStyle/>
                    <a:p>
                      <a:pPr>
                        <a:buNone/>
                      </a:pPr>
                      <a:r>
                        <a:rPr lang="en-US" altLang="en-US" sz="1200"/>
                        <a:t>Interactive data analysis, experimentation, and model development</a:t>
                      </a:r>
                    </a:p>
                  </a:txBody>
                  <a:tcPr/>
                </a:tc>
                <a:extLst>
                  <a:ext uri="{0D108BD9-81ED-4DB2-BD59-A6C34878D82A}">
                    <a16:rowId xmlns:a16="http://schemas.microsoft.com/office/drawing/2014/main" val="10002"/>
                  </a:ext>
                </a:extLst>
              </a:tr>
              <a:tr h="623570">
                <a:tc>
                  <a:txBody>
                    <a:bodyPr/>
                    <a:lstStyle/>
                    <a:p>
                      <a:pPr>
                        <a:buNone/>
                      </a:pPr>
                      <a:r>
                        <a:rPr lang="en-US" altLang="en-US" sz="1200"/>
                        <a:t>Data Processing</a:t>
                      </a:r>
                    </a:p>
                  </a:txBody>
                  <a:tcPr/>
                </a:tc>
                <a:tc>
                  <a:txBody>
                    <a:bodyPr/>
                    <a:lstStyle/>
                    <a:p>
                      <a:pPr>
                        <a:buNone/>
                      </a:pPr>
                      <a:r>
                        <a:rPr lang="en-US" altLang="en-US" sz="1200"/>
                        <a:t>Pandas</a:t>
                      </a:r>
                    </a:p>
                  </a:txBody>
                  <a:tcPr/>
                </a:tc>
                <a:tc>
                  <a:txBody>
                    <a:bodyPr/>
                    <a:lstStyle/>
                    <a:p>
                      <a:pPr>
                        <a:buNone/>
                      </a:pPr>
                      <a:r>
                        <a:rPr lang="en-US" altLang="en-US" sz="1200"/>
                        <a:t>Data loading, cleaning, transformation, and analysis</a:t>
                      </a:r>
                    </a:p>
                  </a:txBody>
                  <a:tcPr/>
                </a:tc>
                <a:extLst>
                  <a:ext uri="{0D108BD9-81ED-4DB2-BD59-A6C34878D82A}">
                    <a16:rowId xmlns:a16="http://schemas.microsoft.com/office/drawing/2014/main" val="10003"/>
                  </a:ext>
                </a:extLst>
              </a:tr>
              <a:tr h="873125">
                <a:tc>
                  <a:txBody>
                    <a:bodyPr/>
                    <a:lstStyle/>
                    <a:p>
                      <a:pPr>
                        <a:buNone/>
                      </a:pPr>
                      <a:r>
                        <a:rPr lang="en-US" altLang="en-US" sz="1200"/>
                        <a:t>Data Visualization</a:t>
                      </a:r>
                    </a:p>
                  </a:txBody>
                  <a:tcPr/>
                </a:tc>
                <a:tc>
                  <a:txBody>
                    <a:bodyPr/>
                    <a:lstStyle/>
                    <a:p>
                      <a:pPr>
                        <a:buNone/>
                      </a:pPr>
                      <a:r>
                        <a:rPr lang="en-US" altLang="en-US" sz="1200"/>
                        <a:t>Matplotlib,Seaborn</a:t>
                      </a:r>
                    </a:p>
                  </a:txBody>
                  <a:tcPr/>
                </a:tc>
                <a:tc>
                  <a:txBody>
                    <a:bodyPr/>
                    <a:lstStyle/>
                    <a:p>
                      <a:pPr>
                        <a:buNone/>
                      </a:pPr>
                      <a:r>
                        <a:rPr lang="en-US" altLang="en-US" sz="1200"/>
                        <a:t>Creating charts, statistical plots, correlation analysis, and heatmaps to visualize and understand traffic and mobility patterns.</a:t>
                      </a:r>
                    </a:p>
                  </a:txBody>
                  <a:tcPr/>
                </a:tc>
                <a:extLst>
                  <a:ext uri="{0D108BD9-81ED-4DB2-BD59-A6C34878D82A}">
                    <a16:rowId xmlns:a16="http://schemas.microsoft.com/office/drawing/2014/main" val="10004"/>
                  </a:ext>
                </a:extLst>
              </a:tr>
              <a:tr h="873125">
                <a:tc>
                  <a:txBody>
                    <a:bodyPr/>
                    <a:lstStyle/>
                    <a:p>
                      <a:pPr>
                        <a:buNone/>
                      </a:pPr>
                      <a:r>
                        <a:rPr lang="en-US" altLang="en-US" sz="1200"/>
                        <a:t>Machine Learning</a:t>
                      </a:r>
                    </a:p>
                  </a:txBody>
                  <a:tcPr/>
                </a:tc>
                <a:tc>
                  <a:txBody>
                    <a:bodyPr/>
                    <a:lstStyle/>
                    <a:p>
                      <a:pPr>
                        <a:buNone/>
                      </a:pPr>
                      <a:r>
                        <a:rPr lang="en-US" altLang="en-US" sz="1200"/>
                        <a:t>Scikit-learn ,XGBoost</a:t>
                      </a:r>
                    </a:p>
                  </a:txBody>
                  <a:tcPr/>
                </a:tc>
                <a:tc>
                  <a:txBody>
                    <a:bodyPr/>
                    <a:lstStyle/>
                    <a:p>
                      <a:pPr>
                        <a:buNone/>
                      </a:pPr>
                      <a:r>
                        <a:rPr lang="en-US" altLang="en-US" sz="1200"/>
                        <a:t>Developing, comparing, evaluating, and improving machine learning models for accident-risk prediction.</a:t>
                      </a:r>
                    </a:p>
                  </a:txBody>
                  <a:tcPr/>
                </a:tc>
                <a:extLst>
                  <a:ext uri="{0D108BD9-81ED-4DB2-BD59-A6C34878D82A}">
                    <a16:rowId xmlns:a16="http://schemas.microsoft.com/office/drawing/2014/main" val="10005"/>
                  </a:ext>
                </a:extLst>
              </a:tr>
              <a:tr h="623570">
                <a:tc>
                  <a:txBody>
                    <a:bodyPr/>
                    <a:lstStyle/>
                    <a:p>
                      <a:pPr>
                        <a:buNone/>
                      </a:pPr>
                      <a:r>
                        <a:rPr lang="en-US" altLang="en-US" sz="1200"/>
                        <a:t>Data Storage</a:t>
                      </a:r>
                    </a:p>
                  </a:txBody>
                  <a:tcPr/>
                </a:tc>
                <a:tc>
                  <a:txBody>
                    <a:bodyPr/>
                    <a:lstStyle/>
                    <a:p>
                      <a:pPr>
                        <a:buNone/>
                      </a:pPr>
                      <a:r>
                        <a:rPr lang="en-US" altLang="en-US" sz="1200"/>
                        <a:t>CSV</a:t>
                      </a:r>
                    </a:p>
                  </a:txBody>
                  <a:tcPr/>
                </a:tc>
                <a:tc>
                  <a:txBody>
                    <a:bodyPr/>
                    <a:lstStyle/>
                    <a:p>
                      <a:pPr>
                        <a:buNone/>
                      </a:pPr>
                      <a:r>
                        <a:rPr lang="en-US" altLang="en-US" sz="1200"/>
                        <a:t>Storing and managing GPS, weather, traffic, and accident datasets</a:t>
                      </a:r>
                    </a:p>
                  </a:txBody>
                  <a:tcPr/>
                </a:tc>
                <a:extLst>
                  <a:ext uri="{0D108BD9-81ED-4DB2-BD59-A6C34878D82A}">
                    <a16:rowId xmlns:a16="http://schemas.microsoft.com/office/drawing/2014/main" val="10006"/>
                  </a:ext>
                </a:extLst>
              </a:tr>
              <a:tr h="623570">
                <a:tc>
                  <a:txBody>
                    <a:bodyPr/>
                    <a:lstStyle/>
                    <a:p>
                      <a:pPr>
                        <a:buNone/>
                      </a:pPr>
                      <a:r>
                        <a:rPr lang="en-US" altLang="en-US" sz="1200"/>
                        <a:t>Dashboard</a:t>
                      </a:r>
                    </a:p>
                  </a:txBody>
                  <a:tcPr/>
                </a:tc>
                <a:tc>
                  <a:txBody>
                    <a:bodyPr/>
                    <a:lstStyle/>
                    <a:p>
                      <a:pPr>
                        <a:buNone/>
                      </a:pPr>
                      <a:r>
                        <a:rPr lang="en-US" altLang="en-US" sz="1200"/>
                        <a:t>Streamlit</a:t>
                      </a:r>
                    </a:p>
                  </a:txBody>
                  <a:tcPr/>
                </a:tc>
                <a:tc>
                  <a:txBody>
                    <a:bodyPr/>
                    <a:lstStyle/>
                    <a:p>
                      <a:pPr>
                        <a:buNone/>
                      </a:pPr>
                      <a:r>
                        <a:rPr lang="en-US" altLang="en-US" sz="1200"/>
                        <a:t>Creating an interactive dashboard for mobility analysis and prediction</a:t>
                      </a:r>
                    </a:p>
                  </a:txBody>
                  <a:tcPr/>
                </a:tc>
                <a:extLst>
                  <a:ext uri="{0D108BD9-81ED-4DB2-BD59-A6C34878D82A}">
                    <a16:rowId xmlns:a16="http://schemas.microsoft.com/office/drawing/2014/main" val="10007"/>
                  </a:ext>
                </a:extLst>
              </a:tr>
            </a:tbl>
          </a:graphicData>
        </a:graphic>
      </p:graphicFrame>
      <p:pic>
        <p:nvPicPr>
          <p:cNvPr id="21506" name="Picture 2" descr="Koneru Lakshmaiah Education Foundation, Bachupally Campus Courses ..."/>
          <p:cNvPicPr>
            <a:picLocks noChangeAspect="1" noChangeArrowheads="1"/>
          </p:cNvPicPr>
          <p:nvPr/>
        </p:nvPicPr>
        <p:blipFill>
          <a:blip r:embed="rId5"/>
          <a:srcRect t="16961" b="27101"/>
          <a:stretch>
            <a:fillRect/>
          </a:stretch>
        </p:blipFill>
        <p:spPr bwMode="auto">
          <a:xfrm>
            <a:off x="0" y="0"/>
            <a:ext cx="2095500" cy="1145540"/>
          </a:xfrm>
          <a:prstGeom prst="rect">
            <a:avLst/>
          </a:prstGeom>
          <a:noFill/>
        </p:spPr>
      </p:pic>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2404110" y="440055"/>
            <a:ext cx="7731760" cy="705485"/>
          </a:xfrm>
        </p:spPr>
        <p:txBody>
          <a:bodyPr>
            <a:normAutofit/>
          </a:bodyPr>
          <a:lstStyle/>
          <a:p>
            <a:pPr algn="ctr"/>
            <a:r>
              <a:rPr lang="en-US" b="1" dirty="0">
                <a:latin typeface="Times New Roman" panose="02020603050405020304" pitchFamily="18" charset="0"/>
                <a:cs typeface="Times New Roman" panose="02020603050405020304" pitchFamily="18" charset="0"/>
                <a:sym typeface="+mn-ea"/>
              </a:rPr>
              <a:t>Implementation</a:t>
            </a:r>
            <a:endParaRPr lang="en-US"/>
          </a:p>
        </p:txBody>
      </p:sp>
      <p:pic>
        <p:nvPicPr>
          <p:cNvPr id="21506" name="Picture 2" descr="Koneru Lakshmaiah Education Foundation, Bachupally Campus Courses ..."/>
          <p:cNvPicPr>
            <a:picLocks noChangeAspect="1" noChangeArrowheads="1"/>
          </p:cNvPicPr>
          <p:nvPr/>
        </p:nvPicPr>
        <p:blipFill>
          <a:blip r:embed="rId4"/>
          <a:srcRect t="16961" b="27101"/>
          <a:stretch>
            <a:fillRect/>
          </a:stretch>
        </p:blipFill>
        <p:spPr bwMode="auto">
          <a:xfrm>
            <a:off x="0" y="0"/>
            <a:ext cx="2095500" cy="1145540"/>
          </a:xfrm>
          <a:prstGeom prst="rect">
            <a:avLst/>
          </a:prstGeom>
          <a:noFill/>
        </p:spPr>
      </p:pic>
      <p:pic>
        <p:nvPicPr>
          <p:cNvPr id="12" name="Picture 11">
            <a:extLst>
              <a:ext uri="{FF2B5EF4-FFF2-40B4-BE49-F238E27FC236}">
                <a16:creationId xmlns:a16="http://schemas.microsoft.com/office/drawing/2014/main" id="{05B9EBC6-F21C-B426-FA65-6CC834E69939}"/>
              </a:ext>
            </a:extLst>
          </p:cNvPr>
          <p:cNvPicPr>
            <a:picLocks noChangeAspect="1"/>
          </p:cNvPicPr>
          <p:nvPr/>
        </p:nvPicPr>
        <p:blipFill>
          <a:blip r:embed="rId5"/>
          <a:stretch>
            <a:fillRect/>
          </a:stretch>
        </p:blipFill>
        <p:spPr>
          <a:xfrm>
            <a:off x="990600" y="1271016"/>
            <a:ext cx="10210800" cy="5221224"/>
          </a:xfrm>
          <a:prstGeom prst="rect">
            <a:avLst/>
          </a:prstGeom>
        </p:spPr>
      </p:pic>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descr="Koneru Lakshmaiah Education Foundation, Bachupally Campus Courses ..."/>
          <p:cNvPicPr>
            <a:picLocks noChangeAspect="1" noChangeArrowheads="1"/>
          </p:cNvPicPr>
          <p:nvPr/>
        </p:nvPicPr>
        <p:blipFill>
          <a:blip r:embed="rId3"/>
          <a:srcRect t="16961" b="27101"/>
          <a:stretch>
            <a:fillRect/>
          </a:stretch>
        </p:blipFill>
        <p:spPr bwMode="auto">
          <a:xfrm>
            <a:off x="0" y="0"/>
            <a:ext cx="2095500" cy="1145540"/>
          </a:xfrm>
          <a:prstGeom prst="rect">
            <a:avLst/>
          </a:prstGeom>
          <a:noFill/>
        </p:spPr>
      </p:pic>
      <p:pic>
        <p:nvPicPr>
          <p:cNvPr id="9" name="Picture 8">
            <a:extLst>
              <a:ext uri="{FF2B5EF4-FFF2-40B4-BE49-F238E27FC236}">
                <a16:creationId xmlns:a16="http://schemas.microsoft.com/office/drawing/2014/main" id="{F385187D-DE69-FFE3-6276-A4AA1B322F22}"/>
              </a:ext>
            </a:extLst>
          </p:cNvPr>
          <p:cNvPicPr>
            <a:picLocks noChangeAspect="1"/>
          </p:cNvPicPr>
          <p:nvPr/>
        </p:nvPicPr>
        <p:blipFill>
          <a:blip r:embed="rId4"/>
          <a:stretch>
            <a:fillRect/>
          </a:stretch>
        </p:blipFill>
        <p:spPr>
          <a:xfrm>
            <a:off x="1163052" y="1145540"/>
            <a:ext cx="9865895" cy="5319268"/>
          </a:xfrm>
          <a:prstGeom prst="rect">
            <a:avLst/>
          </a:prstGeom>
        </p:spPr>
      </p:pic>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777E6-4B16-738B-C927-09D7752C4409}"/>
            </a:ext>
          </a:extLst>
        </p:cNvPr>
        <p:cNvGrpSpPr/>
        <p:nvPr/>
      </p:nvGrpSpPr>
      <p:grpSpPr>
        <a:xfrm>
          <a:off x="0" y="0"/>
          <a:ext cx="0" cy="0"/>
          <a:chOff x="0" y="0"/>
          <a:chExt cx="0" cy="0"/>
        </a:xfrm>
      </p:grpSpPr>
      <p:pic>
        <p:nvPicPr>
          <p:cNvPr id="21506" name="Picture 2" descr="Koneru Lakshmaiah Education Foundation, Bachupally Campus Courses ...">
            <a:extLst>
              <a:ext uri="{FF2B5EF4-FFF2-40B4-BE49-F238E27FC236}">
                <a16:creationId xmlns:a16="http://schemas.microsoft.com/office/drawing/2014/main" id="{840EEEF9-25BE-9580-D726-21A4DBFE0BD2}"/>
              </a:ext>
            </a:extLst>
          </p:cNvPr>
          <p:cNvPicPr>
            <a:picLocks noChangeAspect="1" noChangeArrowheads="1"/>
          </p:cNvPicPr>
          <p:nvPr/>
        </p:nvPicPr>
        <p:blipFill>
          <a:blip r:embed="rId3"/>
          <a:srcRect t="16961" b="27101"/>
          <a:stretch>
            <a:fillRect/>
          </a:stretch>
        </p:blipFill>
        <p:spPr bwMode="auto">
          <a:xfrm>
            <a:off x="0" y="0"/>
            <a:ext cx="2095500" cy="1145540"/>
          </a:xfrm>
          <a:prstGeom prst="rect">
            <a:avLst/>
          </a:prstGeom>
          <a:noFill/>
        </p:spPr>
      </p:pic>
      <p:pic>
        <p:nvPicPr>
          <p:cNvPr id="3" name="Picture 2">
            <a:extLst>
              <a:ext uri="{FF2B5EF4-FFF2-40B4-BE49-F238E27FC236}">
                <a16:creationId xmlns:a16="http://schemas.microsoft.com/office/drawing/2014/main" id="{DD0EE356-75A0-2539-0B44-376957D7DCDF}"/>
              </a:ext>
            </a:extLst>
          </p:cNvPr>
          <p:cNvPicPr>
            <a:picLocks noChangeAspect="1"/>
          </p:cNvPicPr>
          <p:nvPr/>
        </p:nvPicPr>
        <p:blipFill>
          <a:blip r:embed="rId4"/>
          <a:stretch>
            <a:fillRect/>
          </a:stretch>
        </p:blipFill>
        <p:spPr>
          <a:xfrm>
            <a:off x="561170" y="1145540"/>
            <a:ext cx="11069660" cy="5276088"/>
          </a:xfrm>
          <a:prstGeom prst="rect">
            <a:avLst/>
          </a:prstGeom>
        </p:spPr>
      </p:pic>
    </p:spTree>
    <p:custDataLst>
      <p:tags r:id="rId1"/>
    </p:custDataLst>
    <p:extLst>
      <p:ext uri="{BB962C8B-B14F-4D97-AF65-F5344CB8AC3E}">
        <p14:creationId xmlns:p14="http://schemas.microsoft.com/office/powerpoint/2010/main" val="10000138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E2E1B-6A42-F907-AC13-5E487E475044}"/>
            </a:ext>
          </a:extLst>
        </p:cNvPr>
        <p:cNvGrpSpPr/>
        <p:nvPr/>
      </p:nvGrpSpPr>
      <p:grpSpPr>
        <a:xfrm>
          <a:off x="0" y="0"/>
          <a:ext cx="0" cy="0"/>
          <a:chOff x="0" y="0"/>
          <a:chExt cx="0" cy="0"/>
        </a:xfrm>
      </p:grpSpPr>
      <p:pic>
        <p:nvPicPr>
          <p:cNvPr id="21506" name="Picture 2" descr="Koneru Lakshmaiah Education Foundation, Bachupally Campus Courses ...">
            <a:extLst>
              <a:ext uri="{FF2B5EF4-FFF2-40B4-BE49-F238E27FC236}">
                <a16:creationId xmlns:a16="http://schemas.microsoft.com/office/drawing/2014/main" id="{3D6E7817-76EC-8523-BA42-0744B5365124}"/>
              </a:ext>
            </a:extLst>
          </p:cNvPr>
          <p:cNvPicPr>
            <a:picLocks noChangeAspect="1" noChangeArrowheads="1"/>
          </p:cNvPicPr>
          <p:nvPr/>
        </p:nvPicPr>
        <p:blipFill>
          <a:blip r:embed="rId3"/>
          <a:srcRect t="16961" b="27101"/>
          <a:stretch>
            <a:fillRect/>
          </a:stretch>
        </p:blipFill>
        <p:spPr bwMode="auto">
          <a:xfrm>
            <a:off x="0" y="0"/>
            <a:ext cx="2095500" cy="1145540"/>
          </a:xfrm>
          <a:prstGeom prst="rect">
            <a:avLst/>
          </a:prstGeom>
          <a:noFill/>
        </p:spPr>
      </p:pic>
      <p:pic>
        <p:nvPicPr>
          <p:cNvPr id="5" name="Picture 4">
            <a:extLst>
              <a:ext uri="{FF2B5EF4-FFF2-40B4-BE49-F238E27FC236}">
                <a16:creationId xmlns:a16="http://schemas.microsoft.com/office/drawing/2014/main" id="{18620A54-664B-0660-E634-8570AAE79D30}"/>
              </a:ext>
            </a:extLst>
          </p:cNvPr>
          <p:cNvPicPr>
            <a:picLocks noChangeAspect="1"/>
          </p:cNvPicPr>
          <p:nvPr/>
        </p:nvPicPr>
        <p:blipFill>
          <a:blip r:embed="rId4"/>
          <a:stretch>
            <a:fillRect/>
          </a:stretch>
        </p:blipFill>
        <p:spPr>
          <a:xfrm>
            <a:off x="895945" y="1490400"/>
            <a:ext cx="10070926" cy="4681728"/>
          </a:xfrm>
          <a:prstGeom prst="rect">
            <a:avLst/>
          </a:prstGeom>
        </p:spPr>
      </p:pic>
    </p:spTree>
    <p:custDataLst>
      <p:tags r:id="rId1"/>
    </p:custDataLst>
    <p:extLst>
      <p:ext uri="{BB962C8B-B14F-4D97-AF65-F5344CB8AC3E}">
        <p14:creationId xmlns:p14="http://schemas.microsoft.com/office/powerpoint/2010/main" val="22244787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3845560" y="608330"/>
            <a:ext cx="7731760" cy="705485"/>
          </a:xfrm>
        </p:spPr>
        <p:txBody>
          <a:bodyPr>
            <a:normAutofit/>
          </a:bodyPr>
          <a:lstStyle/>
          <a:p>
            <a:endParaRPr lang="en-US"/>
          </a:p>
        </p:txBody>
      </p:sp>
      <p:pic>
        <p:nvPicPr>
          <p:cNvPr id="7" name="Content Placeholder 6"/>
          <p:cNvPicPr>
            <a:picLocks noGrp="1" noChangeAspect="1"/>
          </p:cNvPicPr>
          <p:nvPr>
            <p:ph idx="1"/>
            <p:custDataLst>
              <p:tags r:id="rId3"/>
            </p:custDataLst>
          </p:nvPr>
        </p:nvPicPr>
        <p:blipFill>
          <a:blip r:embed="rId5"/>
          <a:stretch>
            <a:fillRect/>
          </a:stretch>
        </p:blipFill>
        <p:spPr>
          <a:xfrm>
            <a:off x="1313180" y="1490345"/>
            <a:ext cx="9558655" cy="4759325"/>
          </a:xfrm>
          <a:prstGeom prst="rect">
            <a:avLst/>
          </a:prstGeom>
        </p:spPr>
      </p:pic>
      <p:pic>
        <p:nvPicPr>
          <p:cNvPr id="21506" name="Picture 2" descr="Koneru Lakshmaiah Education Foundation, Bachupally Campus Courses ..."/>
          <p:cNvPicPr>
            <a:picLocks noChangeAspect="1" noChangeArrowheads="1"/>
          </p:cNvPicPr>
          <p:nvPr/>
        </p:nvPicPr>
        <p:blipFill>
          <a:blip r:embed="rId6"/>
          <a:srcRect t="16961" b="27101"/>
          <a:stretch>
            <a:fillRect/>
          </a:stretch>
        </p:blipFill>
        <p:spPr bwMode="auto">
          <a:xfrm>
            <a:off x="0" y="0"/>
            <a:ext cx="2095500" cy="1145540"/>
          </a:xfrm>
          <a:prstGeom prst="rect">
            <a:avLst/>
          </a:prstGeom>
          <a:noFill/>
        </p:spPr>
      </p:pic>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CCFE3-1428-4EED-6097-4B1941E3F1AB}"/>
            </a:ext>
          </a:extLst>
        </p:cNvPr>
        <p:cNvGrpSpPr/>
        <p:nvPr/>
      </p:nvGrpSpPr>
      <p:grpSpPr>
        <a:xfrm>
          <a:off x="0" y="0"/>
          <a:ext cx="0" cy="0"/>
          <a:chOff x="0" y="0"/>
          <a:chExt cx="0" cy="0"/>
        </a:xfrm>
      </p:grpSpPr>
      <p:pic>
        <p:nvPicPr>
          <p:cNvPr id="21506" name="Picture 2" descr="Koneru Lakshmaiah Education Foundation, Bachupally Campus Courses ...">
            <a:extLst>
              <a:ext uri="{FF2B5EF4-FFF2-40B4-BE49-F238E27FC236}">
                <a16:creationId xmlns:a16="http://schemas.microsoft.com/office/drawing/2014/main" id="{E5204725-E0DD-CB0E-11BC-20CF8D09BE22}"/>
              </a:ext>
            </a:extLst>
          </p:cNvPr>
          <p:cNvPicPr>
            <a:picLocks noChangeAspect="1" noChangeArrowheads="1"/>
          </p:cNvPicPr>
          <p:nvPr/>
        </p:nvPicPr>
        <p:blipFill>
          <a:blip r:embed="rId3"/>
          <a:srcRect t="16961" b="27101"/>
          <a:stretch>
            <a:fillRect/>
          </a:stretch>
        </p:blipFill>
        <p:spPr bwMode="auto">
          <a:xfrm>
            <a:off x="0" y="0"/>
            <a:ext cx="2095500" cy="1145540"/>
          </a:xfrm>
          <a:prstGeom prst="rect">
            <a:avLst/>
          </a:prstGeom>
          <a:noFill/>
        </p:spPr>
      </p:pic>
      <p:pic>
        <p:nvPicPr>
          <p:cNvPr id="9" name="Picture 8">
            <a:extLst>
              <a:ext uri="{FF2B5EF4-FFF2-40B4-BE49-F238E27FC236}">
                <a16:creationId xmlns:a16="http://schemas.microsoft.com/office/drawing/2014/main" id="{4DC88B02-4505-22B2-8F51-32ABD7240DA1}"/>
              </a:ext>
            </a:extLst>
          </p:cNvPr>
          <p:cNvPicPr>
            <a:picLocks noChangeAspect="1"/>
          </p:cNvPicPr>
          <p:nvPr/>
        </p:nvPicPr>
        <p:blipFill>
          <a:blip r:embed="rId4"/>
          <a:stretch>
            <a:fillRect/>
          </a:stretch>
        </p:blipFill>
        <p:spPr>
          <a:xfrm>
            <a:off x="1125314" y="1371600"/>
            <a:ext cx="9941371" cy="5349240"/>
          </a:xfrm>
          <a:prstGeom prst="rect">
            <a:avLst/>
          </a:prstGeom>
        </p:spPr>
      </p:pic>
    </p:spTree>
    <p:custDataLst>
      <p:tags r:id="rId1"/>
    </p:custDataLst>
    <p:extLst>
      <p:ext uri="{BB962C8B-B14F-4D97-AF65-F5344CB8AC3E}">
        <p14:creationId xmlns:p14="http://schemas.microsoft.com/office/powerpoint/2010/main" val="29506113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4275455" y="303530"/>
            <a:ext cx="3103245" cy="705485"/>
          </a:xfrm>
        </p:spPr>
        <p:txBody>
          <a:bodyPr>
            <a:normAutofit/>
          </a:bodyPr>
          <a:lstStyle/>
          <a:p>
            <a:pPr algn="ctr"/>
            <a:r>
              <a:rPr lang="en-US" b="1" dirty="0">
                <a:latin typeface="Times New Roman" panose="02020603050405020304" pitchFamily="18" charset="0"/>
                <a:cs typeface="Times New Roman" panose="02020603050405020304" pitchFamily="18" charset="0"/>
                <a:sym typeface="+mn-ea"/>
              </a:rPr>
              <a:t>Results</a:t>
            </a:r>
            <a:endParaRPr lang="en-US"/>
          </a:p>
        </p:txBody>
      </p:sp>
      <p:sp>
        <p:nvSpPr>
          <p:cNvPr id="3" name="Content Placeholder 2"/>
          <p:cNvSpPr>
            <a:spLocks noGrp="1"/>
          </p:cNvSpPr>
          <p:nvPr>
            <p:ph idx="1"/>
            <p:custDataLst>
              <p:tags r:id="rId3"/>
            </p:custDataLst>
          </p:nvPr>
        </p:nvSpPr>
        <p:spPr>
          <a:xfrm>
            <a:off x="555060" y="1203380"/>
            <a:ext cx="10969200" cy="4759200"/>
          </a:xfrm>
        </p:spPr>
        <p:txBody>
          <a:bodyPr>
            <a:noAutofit/>
          </a:bodyPr>
          <a:lstStyle/>
          <a:p>
            <a:pPr marL="0" indent="0" algn="just">
              <a:buNone/>
            </a:pPr>
            <a:r>
              <a:rPr lang="en-US" altLang="en-US" sz="1600" b="1">
                <a:solidFill>
                  <a:schemeClr val="tx1">
                    <a:lumMod val="95000"/>
                    <a:lumOff val="5000"/>
                  </a:schemeClr>
                </a:solidFill>
                <a:latin typeface="Times New Roman" panose="02020603050405020304" pitchFamily="18" charset="0"/>
                <a:cs typeface="Times New Roman" panose="02020603050405020304" pitchFamily="18" charset="0"/>
                <a:sym typeface="+mn-ea"/>
              </a:rPr>
              <a:t>Data Cleaning:</a:t>
            </a:r>
            <a:endParaRPr lang="en-US" altLang="en-US" sz="1600" b="1">
              <a:solidFill>
                <a:schemeClr val="tx1">
                  <a:lumMod val="95000"/>
                  <a:lumOff val="5000"/>
                </a:schemeClr>
              </a:solidFill>
              <a:latin typeface="Times New Roman" panose="02020603050405020304" pitchFamily="18" charset="0"/>
              <a:cs typeface="Times New Roman" panose="02020603050405020304" pitchFamily="18" charset="0"/>
            </a:endParaRPr>
          </a:p>
          <a:p>
            <a:pPr marL="0" indent="0" algn="just">
              <a:buNone/>
            </a:pPr>
            <a:r>
              <a:rPr lang="en-US" altLang="en-US" sz="1600">
                <a:solidFill>
                  <a:schemeClr val="tx1">
                    <a:lumMod val="95000"/>
                    <a:lumOff val="5000"/>
                  </a:schemeClr>
                </a:solidFill>
                <a:latin typeface="Times New Roman" panose="02020603050405020304" pitchFamily="18" charset="0"/>
                <a:cs typeface="Times New Roman" panose="02020603050405020304" pitchFamily="18" charset="0"/>
                <a:sym typeface="+mn-ea"/>
              </a:rPr>
              <a:t>Cleaned GPS, weather, traffic, and accident data by handling missing and invalid records.</a:t>
            </a:r>
            <a:endParaRPr lang="en-US" altLang="en-US" sz="1600">
              <a:solidFill>
                <a:schemeClr val="tx1">
                  <a:lumMod val="95000"/>
                  <a:lumOff val="5000"/>
                </a:schemeClr>
              </a:solidFill>
              <a:latin typeface="Times New Roman" panose="02020603050405020304" pitchFamily="18" charset="0"/>
              <a:cs typeface="Times New Roman" panose="02020603050405020304" pitchFamily="18" charset="0"/>
            </a:endParaRPr>
          </a:p>
          <a:p>
            <a:pPr marL="0" indent="0" algn="just">
              <a:buNone/>
            </a:pPr>
            <a:r>
              <a:rPr lang="en-US" altLang="en-US" sz="1600" b="1">
                <a:solidFill>
                  <a:schemeClr val="tx1">
                    <a:lumMod val="95000"/>
                    <a:lumOff val="5000"/>
                  </a:schemeClr>
                </a:solidFill>
                <a:latin typeface="Times New Roman" panose="02020603050405020304" pitchFamily="18" charset="0"/>
                <a:cs typeface="Times New Roman" panose="02020603050405020304" pitchFamily="18" charset="0"/>
                <a:sym typeface="+mn-ea"/>
              </a:rPr>
              <a:t>EDA Findings:</a:t>
            </a:r>
            <a:endParaRPr lang="en-US" altLang="en-US" sz="1600" b="1">
              <a:solidFill>
                <a:schemeClr val="tx1">
                  <a:lumMod val="95000"/>
                  <a:lumOff val="5000"/>
                </a:schemeClr>
              </a:solidFill>
              <a:latin typeface="Times New Roman" panose="02020603050405020304" pitchFamily="18" charset="0"/>
              <a:cs typeface="Times New Roman" panose="02020603050405020304" pitchFamily="18" charset="0"/>
            </a:endParaRPr>
          </a:p>
          <a:p>
            <a:pPr marL="0" indent="0" algn="just">
              <a:buNone/>
            </a:pPr>
            <a:r>
              <a:rPr lang="en-US" altLang="en-US" sz="1600">
                <a:solidFill>
                  <a:schemeClr val="tx1">
                    <a:lumMod val="95000"/>
                    <a:lumOff val="5000"/>
                  </a:schemeClr>
                </a:solidFill>
                <a:latin typeface="Times New Roman" panose="02020603050405020304" pitchFamily="18" charset="0"/>
                <a:cs typeface="Times New Roman" panose="02020603050405020304" pitchFamily="18" charset="0"/>
                <a:sym typeface="+mn-ea"/>
              </a:rPr>
              <a:t>Identified mobility patterns, traffic conditions, accident trends, and important correlations.</a:t>
            </a:r>
            <a:endParaRPr lang="en-US" altLang="en-US" sz="1600">
              <a:solidFill>
                <a:schemeClr val="tx1">
                  <a:lumMod val="95000"/>
                  <a:lumOff val="5000"/>
                </a:schemeClr>
              </a:solidFill>
              <a:latin typeface="Times New Roman" panose="02020603050405020304" pitchFamily="18" charset="0"/>
              <a:cs typeface="Times New Roman" panose="02020603050405020304" pitchFamily="18" charset="0"/>
            </a:endParaRPr>
          </a:p>
          <a:p>
            <a:pPr marL="0" indent="0" algn="just">
              <a:buNone/>
            </a:pPr>
            <a:r>
              <a:rPr lang="en-US" altLang="en-US" sz="1600" b="1">
                <a:solidFill>
                  <a:schemeClr val="tx1">
                    <a:lumMod val="95000"/>
                    <a:lumOff val="5000"/>
                  </a:schemeClr>
                </a:solidFill>
                <a:latin typeface="Times New Roman" panose="02020603050405020304" pitchFamily="18" charset="0"/>
                <a:cs typeface="Times New Roman" panose="02020603050405020304" pitchFamily="18" charset="0"/>
                <a:sym typeface="+mn-ea"/>
              </a:rPr>
              <a:t>Feature Engineering:</a:t>
            </a:r>
            <a:endParaRPr lang="en-US" altLang="en-US" sz="1600" b="1">
              <a:solidFill>
                <a:schemeClr val="tx1">
                  <a:lumMod val="95000"/>
                  <a:lumOff val="5000"/>
                </a:schemeClr>
              </a:solidFill>
              <a:latin typeface="Times New Roman" panose="02020603050405020304" pitchFamily="18" charset="0"/>
              <a:cs typeface="Times New Roman" panose="02020603050405020304" pitchFamily="18" charset="0"/>
            </a:endParaRPr>
          </a:p>
          <a:p>
            <a:pPr marL="0" indent="0" algn="just">
              <a:buNone/>
            </a:pPr>
            <a:r>
              <a:rPr lang="en-US" altLang="en-US" sz="1600">
                <a:solidFill>
                  <a:schemeClr val="tx1">
                    <a:lumMod val="95000"/>
                    <a:lumOff val="5000"/>
                  </a:schemeClr>
                </a:solidFill>
                <a:latin typeface="Times New Roman" panose="02020603050405020304" pitchFamily="18" charset="0"/>
                <a:cs typeface="Times New Roman" panose="02020603050405020304" pitchFamily="18" charset="0"/>
                <a:sym typeface="+mn-ea"/>
              </a:rPr>
              <a:t>Created useful features from speed, travel time, weather, traffic, and location data.</a:t>
            </a:r>
            <a:endParaRPr lang="en-US" altLang="en-US" sz="1600">
              <a:solidFill>
                <a:schemeClr val="tx1">
                  <a:lumMod val="95000"/>
                  <a:lumOff val="5000"/>
                </a:schemeClr>
              </a:solidFill>
              <a:latin typeface="Times New Roman" panose="02020603050405020304" pitchFamily="18" charset="0"/>
              <a:cs typeface="Times New Roman" panose="02020603050405020304" pitchFamily="18" charset="0"/>
            </a:endParaRPr>
          </a:p>
          <a:p>
            <a:pPr marL="0" indent="0" algn="just">
              <a:buNone/>
            </a:pPr>
            <a:r>
              <a:rPr lang="en-US" altLang="en-US" sz="1600" b="1">
                <a:solidFill>
                  <a:schemeClr val="tx1">
                    <a:lumMod val="95000"/>
                    <a:lumOff val="5000"/>
                  </a:schemeClr>
                </a:solidFill>
                <a:latin typeface="Times New Roman" panose="02020603050405020304" pitchFamily="18" charset="0"/>
                <a:cs typeface="Times New Roman" panose="02020603050405020304" pitchFamily="18" charset="0"/>
                <a:sym typeface="+mn-ea"/>
              </a:rPr>
              <a:t>Feature Selection:</a:t>
            </a:r>
            <a:endParaRPr lang="en-US" altLang="en-US" sz="1600" b="1">
              <a:solidFill>
                <a:schemeClr val="tx1">
                  <a:lumMod val="95000"/>
                  <a:lumOff val="5000"/>
                </a:schemeClr>
              </a:solidFill>
              <a:latin typeface="Times New Roman" panose="02020603050405020304" pitchFamily="18" charset="0"/>
              <a:cs typeface="Times New Roman" panose="02020603050405020304" pitchFamily="18" charset="0"/>
            </a:endParaRPr>
          </a:p>
          <a:p>
            <a:pPr marL="0" indent="0" algn="just">
              <a:buNone/>
            </a:pPr>
            <a:r>
              <a:rPr lang="en-US" altLang="en-US" sz="1600">
                <a:solidFill>
                  <a:schemeClr val="tx1">
                    <a:lumMod val="95000"/>
                    <a:lumOff val="5000"/>
                  </a:schemeClr>
                </a:solidFill>
                <a:latin typeface="Times New Roman" panose="02020603050405020304" pitchFamily="18" charset="0"/>
                <a:cs typeface="Times New Roman" panose="02020603050405020304" pitchFamily="18" charset="0"/>
                <a:sym typeface="+mn-ea"/>
              </a:rPr>
              <a:t>Selected relevant features and reduced redundant data using correlation analysis.</a:t>
            </a:r>
            <a:endParaRPr lang="en-US" altLang="en-US" sz="1600">
              <a:solidFill>
                <a:schemeClr val="tx1">
                  <a:lumMod val="95000"/>
                  <a:lumOff val="5000"/>
                </a:schemeClr>
              </a:solidFill>
              <a:latin typeface="Times New Roman" panose="02020603050405020304" pitchFamily="18" charset="0"/>
              <a:cs typeface="Times New Roman" panose="02020603050405020304" pitchFamily="18" charset="0"/>
            </a:endParaRPr>
          </a:p>
          <a:p>
            <a:pPr marL="0" indent="0" algn="just">
              <a:buNone/>
            </a:pPr>
            <a:r>
              <a:rPr lang="en-US" altLang="en-US" sz="1600" b="1">
                <a:solidFill>
                  <a:schemeClr val="tx1">
                    <a:lumMod val="95000"/>
                    <a:lumOff val="5000"/>
                  </a:schemeClr>
                </a:solidFill>
                <a:latin typeface="Times New Roman" panose="02020603050405020304" pitchFamily="18" charset="0"/>
                <a:cs typeface="Times New Roman" panose="02020603050405020304" pitchFamily="18" charset="0"/>
                <a:sym typeface="+mn-ea"/>
              </a:rPr>
              <a:t>Predictive Modeling:</a:t>
            </a:r>
            <a:endParaRPr lang="en-US" altLang="en-US" sz="1600" b="1">
              <a:solidFill>
                <a:schemeClr val="tx1">
                  <a:lumMod val="95000"/>
                  <a:lumOff val="5000"/>
                </a:schemeClr>
              </a:solidFill>
              <a:latin typeface="Times New Roman" panose="02020603050405020304" pitchFamily="18" charset="0"/>
              <a:cs typeface="Times New Roman" panose="02020603050405020304" pitchFamily="18" charset="0"/>
            </a:endParaRPr>
          </a:p>
          <a:p>
            <a:pPr marL="0" indent="0" algn="just">
              <a:buNone/>
            </a:pPr>
            <a:r>
              <a:rPr lang="en-US" altLang="en-US" sz="1600">
                <a:solidFill>
                  <a:schemeClr val="tx1">
                    <a:lumMod val="95000"/>
                    <a:lumOff val="5000"/>
                  </a:schemeClr>
                </a:solidFill>
                <a:latin typeface="Times New Roman" panose="02020603050405020304" pitchFamily="18" charset="0"/>
                <a:cs typeface="Times New Roman" panose="02020603050405020304" pitchFamily="18" charset="0"/>
                <a:sym typeface="+mn-ea"/>
              </a:rPr>
              <a:t>Compared Decision Tree, Random Forest, XGBoost, and Logistic Regression for accident-risk prediction.</a:t>
            </a:r>
            <a:endParaRPr lang="en-US" altLang="en-US" sz="1600">
              <a:solidFill>
                <a:schemeClr val="tx1">
                  <a:lumMod val="95000"/>
                  <a:lumOff val="5000"/>
                </a:schemeClr>
              </a:solidFill>
              <a:latin typeface="Times New Roman" panose="02020603050405020304" pitchFamily="18" charset="0"/>
              <a:cs typeface="Times New Roman" panose="02020603050405020304" pitchFamily="18" charset="0"/>
            </a:endParaRPr>
          </a:p>
          <a:p>
            <a:pPr marL="0" indent="0" algn="just">
              <a:buNone/>
            </a:pPr>
            <a:r>
              <a:rPr lang="en-US" altLang="en-US" sz="1600" b="1">
                <a:solidFill>
                  <a:schemeClr val="tx1">
                    <a:lumMod val="95000"/>
                    <a:lumOff val="5000"/>
                  </a:schemeClr>
                </a:solidFill>
                <a:latin typeface="Times New Roman" panose="02020603050405020304" pitchFamily="18" charset="0"/>
                <a:cs typeface="Times New Roman" panose="02020603050405020304" pitchFamily="18" charset="0"/>
                <a:sym typeface="+mn-ea"/>
              </a:rPr>
              <a:t>Final Outcome:</a:t>
            </a:r>
            <a:endParaRPr lang="en-US" altLang="en-US" sz="1600" b="1">
              <a:solidFill>
                <a:schemeClr val="tx1">
                  <a:lumMod val="95000"/>
                  <a:lumOff val="5000"/>
                </a:schemeClr>
              </a:solidFill>
              <a:latin typeface="Times New Roman" panose="02020603050405020304" pitchFamily="18" charset="0"/>
              <a:cs typeface="Times New Roman" panose="02020603050405020304" pitchFamily="18" charset="0"/>
            </a:endParaRPr>
          </a:p>
          <a:p>
            <a:pPr marL="0" indent="0" algn="just">
              <a:buNone/>
            </a:pPr>
            <a:r>
              <a:rPr lang="en-US" altLang="en-US" sz="1600">
                <a:solidFill>
                  <a:schemeClr val="tx1">
                    <a:lumMod val="95000"/>
                    <a:lumOff val="5000"/>
                  </a:schemeClr>
                </a:solidFill>
                <a:latin typeface="Times New Roman" panose="02020603050405020304" pitchFamily="18" charset="0"/>
                <a:cs typeface="Times New Roman" panose="02020603050405020304" pitchFamily="18" charset="0"/>
                <a:sym typeface="+mn-ea"/>
              </a:rPr>
              <a:t>Cleaned Data → EDA → Features → ML Prediction → XAI → Dashboard</a:t>
            </a:r>
            <a:endParaRPr lang="en-US" altLang="en-US" sz="1600">
              <a:solidFill>
                <a:schemeClr val="tx1">
                  <a:lumMod val="95000"/>
                  <a:lumOff val="5000"/>
                </a:schemeClr>
              </a:solidFill>
              <a:latin typeface="Times New Roman" panose="02020603050405020304" pitchFamily="18" charset="0"/>
              <a:cs typeface="Times New Roman" panose="02020603050405020304" pitchFamily="18" charset="0"/>
            </a:endParaRPr>
          </a:p>
          <a:p>
            <a:pPr algn="just"/>
            <a:endParaRPr lang="en-US" altLang="en-US" sz="160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21506" name="Picture 2" descr="Koneru Lakshmaiah Education Foundation, Bachupally Campus Courses ..."/>
          <p:cNvPicPr>
            <a:picLocks noChangeAspect="1" noChangeArrowheads="1"/>
          </p:cNvPicPr>
          <p:nvPr/>
        </p:nvPicPr>
        <p:blipFill>
          <a:blip r:embed="rId5"/>
          <a:srcRect t="16961" b="27101"/>
          <a:stretch>
            <a:fillRect/>
          </a:stretch>
        </p:blipFill>
        <p:spPr bwMode="auto">
          <a:xfrm>
            <a:off x="0" y="0"/>
            <a:ext cx="2095500" cy="1145540"/>
          </a:xfrm>
          <a:prstGeom prst="rect">
            <a:avLst/>
          </a:prstGeom>
          <a:noFill/>
        </p:spPr>
      </p:pic>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3845560" y="321945"/>
            <a:ext cx="5735955" cy="705485"/>
          </a:xfrm>
        </p:spPr>
        <p:txBody>
          <a:bodyPr>
            <a:normAutofit fontScale="90000"/>
          </a:bodyPr>
          <a:lstStyle/>
          <a:p>
            <a:pPr algn="ctr"/>
            <a:r>
              <a:rPr lang="en-US" altLang="en-US" b="1">
                <a:latin typeface="Times New Roman" panose="02020603050405020304" pitchFamily="18" charset="0"/>
                <a:cs typeface="Times New Roman" panose="02020603050405020304" pitchFamily="18" charset="0"/>
                <a:sym typeface="+mn-ea"/>
              </a:rPr>
              <a:t>Performance Evaluation</a:t>
            </a:r>
            <a:endParaRPr lang="en-US" b="1"/>
          </a:p>
        </p:txBody>
      </p:sp>
      <p:sp>
        <p:nvSpPr>
          <p:cNvPr id="3" name="Content Placeholder 2"/>
          <p:cNvSpPr>
            <a:spLocks noGrp="1"/>
          </p:cNvSpPr>
          <p:nvPr>
            <p:ph idx="1"/>
            <p:custDataLst>
              <p:tags r:id="rId3"/>
            </p:custDataLst>
          </p:nvPr>
        </p:nvSpPr>
        <p:spPr/>
        <p:txBody>
          <a:bodyPr>
            <a:noAutofit/>
          </a:bodyPr>
          <a:lstStyle/>
          <a:p>
            <a:pPr marL="0" indent="0" algn="just">
              <a:buNone/>
            </a:pPr>
            <a:r>
              <a:rPr lang="en-US" altLang="en-US" sz="1600" b="1">
                <a:solidFill>
                  <a:schemeClr val="tx1">
                    <a:lumMod val="95000"/>
                    <a:lumOff val="5000"/>
                  </a:schemeClr>
                </a:solidFill>
                <a:latin typeface="Times New Roman" panose="02020603050405020304" pitchFamily="18" charset="0"/>
                <a:cs typeface="Times New Roman" panose="02020603050405020304" pitchFamily="18" charset="0"/>
                <a:sym typeface="+mn-ea"/>
              </a:rPr>
              <a:t>Model Evaluation</a:t>
            </a:r>
            <a:endParaRPr lang="en-US" altLang="en-US" sz="1600" b="1">
              <a:solidFill>
                <a:schemeClr val="tx1">
                  <a:lumMod val="95000"/>
                  <a:lumOff val="5000"/>
                </a:schemeClr>
              </a:solidFill>
              <a:latin typeface="Times New Roman" panose="02020603050405020304" pitchFamily="18" charset="0"/>
              <a:cs typeface="Times New Roman" panose="02020603050405020304" pitchFamily="18" charset="0"/>
            </a:endParaRPr>
          </a:p>
          <a:p>
            <a:pPr marL="0" indent="0" algn="just">
              <a:buNone/>
            </a:pPr>
            <a:r>
              <a:rPr lang="en-US" altLang="en-US" sz="1600">
                <a:solidFill>
                  <a:schemeClr val="tx1">
                    <a:lumMod val="95000"/>
                    <a:lumOff val="5000"/>
                  </a:schemeClr>
                </a:solidFill>
                <a:latin typeface="Times New Roman" panose="02020603050405020304" pitchFamily="18" charset="0"/>
                <a:cs typeface="Times New Roman" panose="02020603050405020304" pitchFamily="18" charset="0"/>
                <a:sym typeface="+mn-ea"/>
              </a:rPr>
              <a:t>Evaluated Decision Tree, Random Forest, XGBoost, and Logistic Regression models.</a:t>
            </a:r>
            <a:endParaRPr lang="en-US" altLang="en-US" sz="1600">
              <a:solidFill>
                <a:schemeClr val="tx1">
                  <a:lumMod val="95000"/>
                  <a:lumOff val="5000"/>
                </a:schemeClr>
              </a:solidFill>
              <a:latin typeface="Times New Roman" panose="02020603050405020304" pitchFamily="18" charset="0"/>
              <a:cs typeface="Times New Roman" panose="02020603050405020304" pitchFamily="18" charset="0"/>
            </a:endParaRPr>
          </a:p>
          <a:p>
            <a:pPr marL="0" indent="0" algn="just">
              <a:buNone/>
            </a:pPr>
            <a:r>
              <a:rPr lang="en-US" altLang="en-US" sz="1600" b="1">
                <a:solidFill>
                  <a:schemeClr val="tx1">
                    <a:lumMod val="95000"/>
                    <a:lumOff val="5000"/>
                  </a:schemeClr>
                </a:solidFill>
                <a:latin typeface="Times New Roman" panose="02020603050405020304" pitchFamily="18" charset="0"/>
                <a:cs typeface="Times New Roman" panose="02020603050405020304" pitchFamily="18" charset="0"/>
                <a:sym typeface="+mn-ea"/>
              </a:rPr>
              <a:t>Evaluation Metrics</a:t>
            </a:r>
            <a:endParaRPr lang="en-US" altLang="en-US" sz="1600" b="1">
              <a:solidFill>
                <a:schemeClr val="tx1">
                  <a:lumMod val="95000"/>
                  <a:lumOff val="5000"/>
                </a:schemeClr>
              </a:solidFill>
              <a:latin typeface="Times New Roman" panose="02020603050405020304" pitchFamily="18" charset="0"/>
              <a:cs typeface="Times New Roman" panose="02020603050405020304" pitchFamily="18" charset="0"/>
            </a:endParaRPr>
          </a:p>
          <a:p>
            <a:pPr marL="0" indent="0" algn="just">
              <a:buNone/>
            </a:pPr>
            <a:r>
              <a:rPr lang="en-US" altLang="en-US" sz="1600">
                <a:solidFill>
                  <a:schemeClr val="tx1">
                    <a:lumMod val="95000"/>
                    <a:lumOff val="5000"/>
                  </a:schemeClr>
                </a:solidFill>
                <a:latin typeface="Times New Roman" panose="02020603050405020304" pitchFamily="18" charset="0"/>
                <a:cs typeface="Times New Roman" panose="02020603050405020304" pitchFamily="18" charset="0"/>
                <a:sym typeface="+mn-ea"/>
              </a:rPr>
              <a:t>Used Accuracy, Precision, Recall, F1-Score, and ROC-AUC to measure model performance.</a:t>
            </a:r>
            <a:endParaRPr lang="en-US" altLang="en-US" sz="1600">
              <a:solidFill>
                <a:schemeClr val="tx1">
                  <a:lumMod val="95000"/>
                  <a:lumOff val="5000"/>
                </a:schemeClr>
              </a:solidFill>
              <a:latin typeface="Times New Roman" panose="02020603050405020304" pitchFamily="18" charset="0"/>
              <a:cs typeface="Times New Roman" panose="02020603050405020304" pitchFamily="18" charset="0"/>
            </a:endParaRPr>
          </a:p>
          <a:p>
            <a:pPr marL="0" indent="0" algn="just">
              <a:buNone/>
            </a:pPr>
            <a:r>
              <a:rPr lang="en-US" altLang="en-US" sz="1600" b="1">
                <a:solidFill>
                  <a:schemeClr val="tx1">
                    <a:lumMod val="95000"/>
                    <a:lumOff val="5000"/>
                  </a:schemeClr>
                </a:solidFill>
                <a:latin typeface="Times New Roman" panose="02020603050405020304" pitchFamily="18" charset="0"/>
                <a:cs typeface="Times New Roman" panose="02020603050405020304" pitchFamily="18" charset="0"/>
                <a:sym typeface="+mn-ea"/>
              </a:rPr>
              <a:t>Model Comparison</a:t>
            </a:r>
            <a:endParaRPr lang="en-US" altLang="en-US" sz="1600" b="1">
              <a:solidFill>
                <a:schemeClr val="tx1">
                  <a:lumMod val="95000"/>
                  <a:lumOff val="5000"/>
                </a:schemeClr>
              </a:solidFill>
              <a:latin typeface="Times New Roman" panose="02020603050405020304" pitchFamily="18" charset="0"/>
              <a:cs typeface="Times New Roman" panose="02020603050405020304" pitchFamily="18" charset="0"/>
            </a:endParaRPr>
          </a:p>
          <a:p>
            <a:pPr marL="0" indent="0" algn="just">
              <a:buNone/>
            </a:pPr>
            <a:r>
              <a:rPr lang="en-US" altLang="en-US" sz="1600">
                <a:solidFill>
                  <a:schemeClr val="tx1">
                    <a:lumMod val="95000"/>
                    <a:lumOff val="5000"/>
                  </a:schemeClr>
                </a:solidFill>
                <a:latin typeface="Times New Roman" panose="02020603050405020304" pitchFamily="18" charset="0"/>
                <a:cs typeface="Times New Roman" panose="02020603050405020304" pitchFamily="18" charset="0"/>
                <a:sym typeface="+mn-ea"/>
              </a:rPr>
              <a:t>Compared the models based on their prediction performance and reliability.</a:t>
            </a:r>
            <a:endParaRPr lang="en-US" altLang="en-US" sz="1600">
              <a:solidFill>
                <a:schemeClr val="tx1">
                  <a:lumMod val="95000"/>
                  <a:lumOff val="5000"/>
                </a:schemeClr>
              </a:solidFill>
              <a:latin typeface="Times New Roman" panose="02020603050405020304" pitchFamily="18" charset="0"/>
              <a:cs typeface="Times New Roman" panose="02020603050405020304" pitchFamily="18" charset="0"/>
            </a:endParaRPr>
          </a:p>
          <a:p>
            <a:pPr marL="0" indent="0" algn="just">
              <a:buNone/>
            </a:pPr>
            <a:r>
              <a:rPr lang="en-US" altLang="en-US" sz="1600" b="1">
                <a:solidFill>
                  <a:schemeClr val="tx1">
                    <a:lumMod val="95000"/>
                    <a:lumOff val="5000"/>
                  </a:schemeClr>
                </a:solidFill>
                <a:latin typeface="Times New Roman" panose="02020603050405020304" pitchFamily="18" charset="0"/>
                <a:cs typeface="Times New Roman" panose="02020603050405020304" pitchFamily="18" charset="0"/>
                <a:sym typeface="+mn-ea"/>
              </a:rPr>
              <a:t>Confusion Matrix Analysis</a:t>
            </a:r>
            <a:endParaRPr lang="en-US" altLang="en-US" sz="1600" b="1">
              <a:solidFill>
                <a:schemeClr val="tx1">
                  <a:lumMod val="95000"/>
                  <a:lumOff val="5000"/>
                </a:schemeClr>
              </a:solidFill>
              <a:latin typeface="Times New Roman" panose="02020603050405020304" pitchFamily="18" charset="0"/>
              <a:cs typeface="Times New Roman" panose="02020603050405020304" pitchFamily="18" charset="0"/>
            </a:endParaRPr>
          </a:p>
          <a:p>
            <a:pPr marL="0" indent="0" algn="just">
              <a:buNone/>
            </a:pPr>
            <a:r>
              <a:rPr lang="en-US" altLang="en-US" sz="1600">
                <a:solidFill>
                  <a:schemeClr val="tx1">
                    <a:lumMod val="95000"/>
                    <a:lumOff val="5000"/>
                  </a:schemeClr>
                </a:solidFill>
                <a:latin typeface="Times New Roman" panose="02020603050405020304" pitchFamily="18" charset="0"/>
                <a:cs typeface="Times New Roman" panose="02020603050405020304" pitchFamily="18" charset="0"/>
                <a:sym typeface="+mn-ea"/>
              </a:rPr>
              <a:t>Analysed confusion matrices to identify correct classifications and misclassified traffic conditions.</a:t>
            </a:r>
            <a:endParaRPr lang="en-US" altLang="en-US" sz="1600">
              <a:solidFill>
                <a:schemeClr val="tx1">
                  <a:lumMod val="95000"/>
                  <a:lumOff val="5000"/>
                </a:schemeClr>
              </a:solidFill>
              <a:latin typeface="Times New Roman" panose="02020603050405020304" pitchFamily="18" charset="0"/>
              <a:cs typeface="Times New Roman" panose="02020603050405020304" pitchFamily="18" charset="0"/>
            </a:endParaRPr>
          </a:p>
          <a:p>
            <a:pPr marL="0" indent="0" algn="just">
              <a:buNone/>
            </a:pPr>
            <a:r>
              <a:rPr lang="en-US" altLang="en-US" sz="1600" b="1">
                <a:solidFill>
                  <a:schemeClr val="tx1">
                    <a:lumMod val="95000"/>
                    <a:lumOff val="5000"/>
                  </a:schemeClr>
                </a:solidFill>
                <a:latin typeface="Times New Roman" panose="02020603050405020304" pitchFamily="18" charset="0"/>
                <a:cs typeface="Times New Roman" panose="02020603050405020304" pitchFamily="18" charset="0"/>
                <a:sym typeface="+mn-ea"/>
              </a:rPr>
              <a:t>Feature Importance Analysis</a:t>
            </a:r>
            <a:endParaRPr lang="en-US" altLang="en-US" sz="1600" b="1">
              <a:solidFill>
                <a:schemeClr val="tx1">
                  <a:lumMod val="95000"/>
                  <a:lumOff val="5000"/>
                </a:schemeClr>
              </a:solidFill>
              <a:latin typeface="Times New Roman" panose="02020603050405020304" pitchFamily="18" charset="0"/>
              <a:cs typeface="Times New Roman" panose="02020603050405020304" pitchFamily="18" charset="0"/>
            </a:endParaRPr>
          </a:p>
          <a:p>
            <a:pPr marL="0" indent="0" algn="just">
              <a:buNone/>
            </a:pPr>
            <a:r>
              <a:rPr lang="en-US" altLang="en-US" sz="1600">
                <a:solidFill>
                  <a:schemeClr val="tx1">
                    <a:lumMod val="95000"/>
                    <a:lumOff val="5000"/>
                  </a:schemeClr>
                </a:solidFill>
                <a:latin typeface="Times New Roman" panose="02020603050405020304" pitchFamily="18" charset="0"/>
                <a:cs typeface="Times New Roman" panose="02020603050405020304" pitchFamily="18" charset="0"/>
                <a:sym typeface="+mn-ea"/>
              </a:rPr>
              <a:t>Examined important traffic-related features to understand their contribution to the model's predictions.</a:t>
            </a:r>
            <a:endParaRPr lang="en-US" altLang="en-US" sz="1600">
              <a:solidFill>
                <a:schemeClr val="tx1">
                  <a:lumMod val="95000"/>
                  <a:lumOff val="5000"/>
                </a:schemeClr>
              </a:solidFill>
              <a:latin typeface="Times New Roman" panose="02020603050405020304" pitchFamily="18" charset="0"/>
              <a:cs typeface="Times New Roman" panose="02020603050405020304" pitchFamily="18" charset="0"/>
            </a:endParaRPr>
          </a:p>
          <a:p>
            <a:pPr marL="0" indent="0" algn="just">
              <a:buNone/>
            </a:pPr>
            <a:r>
              <a:rPr lang="en-US" altLang="en-US" sz="1600" b="1">
                <a:solidFill>
                  <a:schemeClr val="tx1">
                    <a:lumMod val="95000"/>
                    <a:lumOff val="5000"/>
                  </a:schemeClr>
                </a:solidFill>
                <a:latin typeface="Times New Roman" panose="02020603050405020304" pitchFamily="18" charset="0"/>
                <a:cs typeface="Times New Roman" panose="02020603050405020304" pitchFamily="18" charset="0"/>
                <a:sym typeface="+mn-ea"/>
              </a:rPr>
              <a:t>Final Outcome:</a:t>
            </a:r>
            <a:endParaRPr lang="en-US" altLang="en-US" sz="1600" b="1">
              <a:solidFill>
                <a:schemeClr val="tx1">
                  <a:lumMod val="95000"/>
                  <a:lumOff val="5000"/>
                </a:schemeClr>
              </a:solidFill>
              <a:latin typeface="Times New Roman" panose="02020603050405020304" pitchFamily="18" charset="0"/>
              <a:cs typeface="Times New Roman" panose="02020603050405020304" pitchFamily="18" charset="0"/>
            </a:endParaRPr>
          </a:p>
          <a:p>
            <a:pPr marL="0" indent="0" algn="just">
              <a:buNone/>
            </a:pPr>
            <a:r>
              <a:rPr lang="en-US" altLang="en-US" sz="1600">
                <a:solidFill>
                  <a:schemeClr val="tx1">
                    <a:lumMod val="95000"/>
                    <a:lumOff val="5000"/>
                  </a:schemeClr>
                </a:solidFill>
                <a:latin typeface="Times New Roman" panose="02020603050405020304" pitchFamily="18" charset="0"/>
                <a:cs typeface="Times New Roman" panose="02020603050405020304" pitchFamily="18" charset="0"/>
                <a:sym typeface="+mn-ea"/>
              </a:rPr>
              <a:t>ML Models → Performance Metrics → Model Comparison → Explainable Predictions</a:t>
            </a:r>
          </a:p>
        </p:txBody>
      </p:sp>
      <p:pic>
        <p:nvPicPr>
          <p:cNvPr id="21506" name="Picture 2" descr="Koneru Lakshmaiah Education Foundation, Bachupally Campus Courses ..."/>
          <p:cNvPicPr>
            <a:picLocks noChangeAspect="1" noChangeArrowheads="1"/>
          </p:cNvPicPr>
          <p:nvPr/>
        </p:nvPicPr>
        <p:blipFill>
          <a:blip r:embed="rId5"/>
          <a:srcRect t="16961" b="27101"/>
          <a:stretch>
            <a:fillRect/>
          </a:stretch>
        </p:blipFill>
        <p:spPr bwMode="auto">
          <a:xfrm>
            <a:off x="0" y="0"/>
            <a:ext cx="2095500" cy="1145540"/>
          </a:xfrm>
          <a:prstGeom prst="rect">
            <a:avLst/>
          </a:prstGeom>
          <a:noFill/>
        </p:spPr>
      </p:pic>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1964055" y="643890"/>
            <a:ext cx="9352915" cy="956310"/>
          </a:xfrm>
        </p:spPr>
        <p:txBody>
          <a:bodyPr>
            <a:noAutofit/>
          </a:bodyPr>
          <a:lstStyle/>
          <a:p>
            <a:pPr algn="ctr"/>
            <a:r>
              <a:rPr lang="en-US" altLang="en-US" sz="3200" b="1"/>
              <a:t>Implementation of the proposed hybrid model</a:t>
            </a:r>
          </a:p>
        </p:txBody>
      </p:sp>
      <p:sp>
        <p:nvSpPr>
          <p:cNvPr id="3" name="Content Placeholder 2"/>
          <p:cNvSpPr>
            <a:spLocks noGrp="1"/>
          </p:cNvSpPr>
          <p:nvPr>
            <p:ph idx="1"/>
            <p:custDataLst>
              <p:tags r:id="rId3"/>
            </p:custDataLst>
          </p:nvPr>
        </p:nvSpPr>
        <p:spPr>
          <a:xfrm>
            <a:off x="410845" y="2314575"/>
            <a:ext cx="10968990" cy="3729990"/>
          </a:xfrm>
        </p:spPr>
        <p:txBody>
          <a:bodyPr>
            <a:noAutofit/>
          </a:bodyPr>
          <a:lstStyle/>
          <a:p>
            <a:pPr marL="0" indent="0">
              <a:buNone/>
            </a:pPr>
            <a:r>
              <a:rPr lang="en-US" altLang="en-US" sz="1600">
                <a:solidFill>
                  <a:schemeClr val="tx1"/>
                </a:solidFill>
                <a:latin typeface="Times New Roman" panose="02020603050405020304" pitchFamily="18" charset="0"/>
                <a:cs typeface="Times New Roman" panose="02020603050405020304" pitchFamily="18" charset="0"/>
              </a:rPr>
              <a:t>The proposed hybrid model integrates GPS, traffic, weather, and road accident data to perform urban mobility and accident-risk analysis. The implementation begins with collecting and preprocessing the datasets by handling missing values, removing duplicates, standardizing formats, and integrating relevant information. Next, feature engineering is performed to extract important mobility, traffic, weather, location, and time-based features. Exploratory Data Analysis (EDA) is then used to identify mobility patterns, traffic conditions, and accident hotspots. For accident-risk prediction, multiple machine-learning models, including Logistic Regression, Decision Tree, Random Forest, and XGBoost, are implemented and compared. The best-performing model is selected based on Accuracy, Precision, Recall, F1-Score, and Confusion Matrix. Finally, the prediction results and mobility insights are presented through geospatial visualizations, charts, accident-hotspot maps, and an interactive Streamlit dashboard.</a:t>
            </a:r>
          </a:p>
        </p:txBody>
      </p:sp>
      <p:pic>
        <p:nvPicPr>
          <p:cNvPr id="21506" name="Picture 2" descr="Koneru Lakshmaiah Education Foundation, Bachupally Campus Courses ..."/>
          <p:cNvPicPr>
            <a:picLocks noChangeAspect="1" noChangeArrowheads="1"/>
          </p:cNvPicPr>
          <p:nvPr/>
        </p:nvPicPr>
        <p:blipFill>
          <a:blip r:embed="rId5"/>
          <a:srcRect t="16961" b="27101"/>
          <a:stretch>
            <a:fillRect/>
          </a:stretch>
        </p:blipFill>
        <p:spPr bwMode="auto">
          <a:xfrm>
            <a:off x="0" y="0"/>
            <a:ext cx="2095500" cy="1145540"/>
          </a:xfrm>
          <a:prstGeom prst="rect">
            <a:avLst/>
          </a:prstGeom>
          <a:noFill/>
        </p:spPr>
      </p:pic>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1943735" y="631825"/>
            <a:ext cx="9114155" cy="705485"/>
          </a:xfrm>
        </p:spPr>
        <p:txBody>
          <a:bodyPr>
            <a:normAutofit fontScale="90000"/>
          </a:bodyPr>
          <a:lstStyle/>
          <a:p>
            <a:pPr algn="ctr"/>
            <a:r>
              <a:rPr lang="en-US" altLang="en-US" sz="3555" b="1">
                <a:latin typeface="Times New Roman" panose="02020603050405020304" pitchFamily="18" charset="0"/>
                <a:cs typeface="Times New Roman" panose="02020603050405020304" pitchFamily="18" charset="0"/>
              </a:rPr>
              <a:t>Experiments Using the Prescribed Datasets</a:t>
            </a:r>
          </a:p>
        </p:txBody>
      </p:sp>
      <p:sp>
        <p:nvSpPr>
          <p:cNvPr id="3" name="Content Placeholder 2"/>
          <p:cNvSpPr>
            <a:spLocks noGrp="1"/>
          </p:cNvSpPr>
          <p:nvPr>
            <p:ph idx="1"/>
            <p:custDataLst>
              <p:tags r:id="rId3"/>
            </p:custDataLst>
          </p:nvPr>
        </p:nvSpPr>
        <p:spPr>
          <a:xfrm>
            <a:off x="670560" y="2072005"/>
            <a:ext cx="10968990" cy="4024630"/>
          </a:xfrm>
        </p:spPr>
        <p:txBody>
          <a:bodyPr>
            <a:noAutofit/>
          </a:bodyPr>
          <a:lstStyle/>
          <a:p>
            <a:pPr marL="0" indent="0" algn="just">
              <a:buNone/>
            </a:pPr>
            <a:r>
              <a:rPr lang="en-US" altLang="en-US" sz="1600">
                <a:solidFill>
                  <a:schemeClr val="tx1"/>
                </a:solidFill>
                <a:latin typeface="Times New Roman" panose="02020603050405020304" pitchFamily="18" charset="0"/>
                <a:cs typeface="Times New Roman" panose="02020603050405020304" pitchFamily="18" charset="0"/>
              </a:rPr>
              <a:t>Experiments are conducted using the GeoLife GPS Trajectories, Metro Interstate Traffic Volume, India Road Accident, and Historical Weather datasets. First, the datasets are preprocessed by handling missing values, removing duplicates, correcting data formats, and selecting relevant attributes. The GPS dataset is analyzed to identify travel and mobility patterns, while the traffic dataset is used to study traffic-volume variations and congestion patterns. The accident dataset is used to analyze accident patterns and accident-risk factors, and the weather dataset is used to examine the influence of weather conditions on mobility and road safety. Relevant features from these datasets are then prepared for machine-learning experiments. Logistic Regression, Decision Tree, Random Forest, and XGBoost models are trained and compared for accident-risk prediction. Model performance is evaluated using Accuracy, Precision, Recall, F1-Score, and Confusion Matrix. Finally, the experimental results are presented through charts, geospatial maps, accident-hotspot visualizations, and an interactive dashboard.</a:t>
            </a:r>
          </a:p>
        </p:txBody>
      </p:sp>
      <p:pic>
        <p:nvPicPr>
          <p:cNvPr id="21506" name="Picture 2" descr="Koneru Lakshmaiah Education Foundation, Bachupally Campus Courses ..."/>
          <p:cNvPicPr>
            <a:picLocks noChangeAspect="1" noChangeArrowheads="1"/>
          </p:cNvPicPr>
          <p:nvPr/>
        </p:nvPicPr>
        <p:blipFill>
          <a:blip r:embed="rId5"/>
          <a:srcRect t="16961" b="27101"/>
          <a:stretch>
            <a:fillRect/>
          </a:stretch>
        </p:blipFill>
        <p:spPr bwMode="auto">
          <a:xfrm>
            <a:off x="0" y="0"/>
            <a:ext cx="2095500" cy="1145540"/>
          </a:xfrm>
          <a:prstGeom prst="rect">
            <a:avLst/>
          </a:prstGeom>
          <a:noFill/>
        </p:spPr>
      </p:pic>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2487295" y="378460"/>
            <a:ext cx="7752080" cy="705485"/>
          </a:xfrm>
        </p:spPr>
        <p:txBody>
          <a:bodyPr/>
          <a:lstStyle/>
          <a:p>
            <a:pPr algn="ctr"/>
            <a:r>
              <a:rPr lang="en-US" altLang="en-US" b="1">
                <a:latin typeface="Times New Roman" panose="02020603050405020304" pitchFamily="18" charset="0"/>
                <a:cs typeface="Times New Roman" panose="02020603050405020304" pitchFamily="18" charset="0"/>
              </a:rPr>
              <a:t>Training and testing results</a:t>
            </a:r>
          </a:p>
        </p:txBody>
      </p:sp>
      <p:pic>
        <p:nvPicPr>
          <p:cNvPr id="21506" name="Picture 2" descr="Koneru Lakshmaiah Education Foundation, Bachupally Campus Courses ..."/>
          <p:cNvPicPr>
            <a:picLocks noChangeAspect="1" noChangeArrowheads="1"/>
          </p:cNvPicPr>
          <p:nvPr/>
        </p:nvPicPr>
        <p:blipFill>
          <a:blip r:embed="rId4"/>
          <a:srcRect t="16961" b="27101"/>
          <a:stretch>
            <a:fillRect/>
          </a:stretch>
        </p:blipFill>
        <p:spPr bwMode="auto">
          <a:xfrm>
            <a:off x="0" y="0"/>
            <a:ext cx="2095500" cy="1145540"/>
          </a:xfrm>
          <a:prstGeom prst="rect">
            <a:avLst/>
          </a:prstGeom>
          <a:noFill/>
        </p:spPr>
      </p:pic>
      <p:sp>
        <p:nvSpPr>
          <p:cNvPr id="5" name="TextBox 4">
            <a:extLst>
              <a:ext uri="{FF2B5EF4-FFF2-40B4-BE49-F238E27FC236}">
                <a16:creationId xmlns:a16="http://schemas.microsoft.com/office/drawing/2014/main" id="{B2FA6A42-CDFA-0652-6A8E-8A88E2030C0F}"/>
              </a:ext>
            </a:extLst>
          </p:cNvPr>
          <p:cNvSpPr txBox="1"/>
          <p:nvPr/>
        </p:nvSpPr>
        <p:spPr>
          <a:xfrm>
            <a:off x="640080" y="1443840"/>
            <a:ext cx="10671048" cy="3730317"/>
          </a:xfrm>
          <a:prstGeom prst="rect">
            <a:avLst/>
          </a:prstGeom>
          <a:noFill/>
        </p:spPr>
        <p:txBody>
          <a:bodyPr wrap="square">
            <a:spAutoFit/>
          </a:bodyPr>
          <a:lstStyle/>
          <a:p>
            <a:pPr>
              <a:lnSpc>
                <a:spcPct val="150000"/>
              </a:lnSpc>
            </a:pPr>
            <a:r>
              <a:rPr lang="en-IN" sz="2000" dirty="0">
                <a:latin typeface="Times New Roman" panose="02020603050405020304" pitchFamily="18" charset="0"/>
                <a:cs typeface="Times New Roman" panose="02020603050405020304" pitchFamily="18" charset="0"/>
              </a:rPr>
              <a:t>The models were evaluated using accuracy, precision, recall, and F1-score. The Weather dataset achieved moderate performance, with Logistic Regression obtaining the highest accuracy of 67.17%. In contrast, the Accident dataset achieved almost perfect performance, with Logistic Regression reaching 99.75% and Decision Tree, Random Forest, and </a:t>
            </a:r>
            <a:r>
              <a:rPr lang="en-IN" sz="2000" dirty="0" err="1">
                <a:latin typeface="Times New Roman" panose="02020603050405020304" pitchFamily="18" charset="0"/>
                <a:cs typeface="Times New Roman" panose="02020603050405020304" pitchFamily="18" charset="0"/>
              </a:rPr>
              <a:t>XGBoost</a:t>
            </a:r>
            <a:r>
              <a:rPr lang="en-IN" sz="2000" dirty="0">
                <a:latin typeface="Times New Roman" panose="02020603050405020304" pitchFamily="18" charset="0"/>
                <a:cs typeface="Times New Roman" panose="02020603050405020304" pitchFamily="18" charset="0"/>
              </a:rPr>
              <a:t> achieving 100%. Similarly, the Traffic dataset showed excellent performance, with Logistic Regression achieving 99.83% and the remaining three models achieving 100%. The reported tables represent the evaluation/testing performance; separate training metrics are required to directly compare training and testing performance and identify possible overfitting.</a:t>
            </a:r>
          </a:p>
        </p:txBody>
      </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2303780" y="340360"/>
            <a:ext cx="8488680" cy="805815"/>
          </a:xfrm>
        </p:spPr>
        <p:txBody>
          <a:bodyPr>
            <a:normAutofit fontScale="90000"/>
          </a:bodyPr>
          <a:lstStyle/>
          <a:p>
            <a:pPr algn="ctr"/>
            <a:r>
              <a:rPr lang="en-US" altLang="en-US" b="1">
                <a:latin typeface="Times New Roman" panose="02020603050405020304" pitchFamily="18" charset="0"/>
                <a:cs typeface="Times New Roman" panose="02020603050405020304" pitchFamily="18" charset="0"/>
              </a:rPr>
              <a:t>Comparison with relevant existing models from the literature</a:t>
            </a:r>
          </a:p>
        </p:txBody>
      </p:sp>
      <p:pic>
        <p:nvPicPr>
          <p:cNvPr id="21506" name="Picture 2" descr="Koneru Lakshmaiah Education Foundation, Bachupally Campus Courses ..."/>
          <p:cNvPicPr>
            <a:picLocks noChangeAspect="1" noChangeArrowheads="1"/>
          </p:cNvPicPr>
          <p:nvPr/>
        </p:nvPicPr>
        <p:blipFill>
          <a:blip r:embed="rId4"/>
          <a:srcRect t="16961" b="27101"/>
          <a:stretch>
            <a:fillRect/>
          </a:stretch>
        </p:blipFill>
        <p:spPr bwMode="auto">
          <a:xfrm>
            <a:off x="0" y="0"/>
            <a:ext cx="2095500" cy="1145540"/>
          </a:xfrm>
          <a:prstGeom prst="rect">
            <a:avLst/>
          </a:prstGeom>
          <a:noFill/>
        </p:spPr>
      </p:pic>
      <p:graphicFrame>
        <p:nvGraphicFramePr>
          <p:cNvPr id="4" name="Table 3"/>
          <p:cNvGraphicFramePr/>
          <p:nvPr/>
        </p:nvGraphicFramePr>
        <p:xfrm>
          <a:off x="853440" y="1640205"/>
          <a:ext cx="10485120" cy="4453890"/>
        </p:xfrm>
        <a:graphic>
          <a:graphicData uri="http://schemas.openxmlformats.org/drawingml/2006/table">
            <a:tbl>
              <a:tblPr/>
              <a:tblGrid>
                <a:gridCol w="2621280">
                  <a:extLst>
                    <a:ext uri="{9D8B030D-6E8A-4147-A177-3AD203B41FA5}">
                      <a16:colId xmlns:a16="http://schemas.microsoft.com/office/drawing/2014/main" val="20000"/>
                    </a:ext>
                  </a:extLst>
                </a:gridCol>
                <a:gridCol w="2621280">
                  <a:extLst>
                    <a:ext uri="{9D8B030D-6E8A-4147-A177-3AD203B41FA5}">
                      <a16:colId xmlns:a16="http://schemas.microsoft.com/office/drawing/2014/main" val="20001"/>
                    </a:ext>
                  </a:extLst>
                </a:gridCol>
                <a:gridCol w="2621280">
                  <a:extLst>
                    <a:ext uri="{9D8B030D-6E8A-4147-A177-3AD203B41FA5}">
                      <a16:colId xmlns:a16="http://schemas.microsoft.com/office/drawing/2014/main" val="20002"/>
                    </a:ext>
                  </a:extLst>
                </a:gridCol>
                <a:gridCol w="2621280">
                  <a:extLst>
                    <a:ext uri="{9D8B030D-6E8A-4147-A177-3AD203B41FA5}">
                      <a16:colId xmlns:a16="http://schemas.microsoft.com/office/drawing/2014/main" val="20003"/>
                    </a:ext>
                  </a:extLst>
                </a:gridCol>
              </a:tblGrid>
              <a:tr h="335915">
                <a:tc>
                  <a:txBody>
                    <a:bodyPr/>
                    <a:lstStyle/>
                    <a:p>
                      <a:pPr algn="ctr"/>
                      <a:r>
                        <a:rPr sz="1400" b="1">
                          <a:latin typeface="Times New Roman" panose="02020603050405020304" pitchFamily="18" charset="0"/>
                          <a:cs typeface="Times New Roman" panose="02020603050405020304" pitchFamily="18" charset="0"/>
                        </a:rPr>
                        <a:t>Model</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b="1">
                          <a:latin typeface="Times New Roman" panose="02020603050405020304" pitchFamily="18" charset="0"/>
                          <a:cs typeface="Times New Roman" panose="02020603050405020304" pitchFamily="18" charset="0"/>
                        </a:rPr>
                        <a:t>Use in Existing Literature</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b="1">
                          <a:latin typeface="Times New Roman" panose="02020603050405020304" pitchFamily="18" charset="0"/>
                          <a:cs typeface="Times New Roman" panose="02020603050405020304" pitchFamily="18" charset="0"/>
                        </a:rPr>
                        <a:t>Strength</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b="1">
                          <a:latin typeface="Times New Roman" panose="02020603050405020304" pitchFamily="18" charset="0"/>
                          <a:cs typeface="Times New Roman" panose="02020603050405020304" pitchFamily="18" charset="0"/>
                        </a:rPr>
                        <a:t>Limitation Compared with Our Approach</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0"/>
                  </a:ext>
                </a:extLst>
              </a:tr>
              <a:tr h="670560">
                <a:tc>
                  <a:txBody>
                    <a:bodyPr/>
                    <a:lstStyle/>
                    <a:p>
                      <a:pPr algn="ctr"/>
                      <a:r>
                        <a:rPr sz="1400" b="1">
                          <a:latin typeface="Times New Roman" panose="02020603050405020304" pitchFamily="18" charset="0"/>
                          <a:cs typeface="Times New Roman" panose="02020603050405020304" pitchFamily="18" charset="0"/>
                        </a:rPr>
                        <a:t>Decision Tree</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a:latin typeface="Times New Roman" panose="02020603050405020304" pitchFamily="18" charset="0"/>
                          <a:cs typeface="Times New Roman" panose="02020603050405020304" pitchFamily="18" charset="0"/>
                        </a:rPr>
                        <a:t>Accident-risk and severity classification</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a:latin typeface="Times New Roman" panose="02020603050405020304" pitchFamily="18" charset="0"/>
                          <a:cs typeface="Times New Roman" panose="02020603050405020304" pitchFamily="18" charset="0"/>
                        </a:rPr>
                        <a:t>Simple and interpretable; captures non-linear relationships</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a:latin typeface="Times New Roman" panose="02020603050405020304" pitchFamily="18" charset="0"/>
                          <a:cs typeface="Times New Roman" panose="02020603050405020304" pitchFamily="18" charset="0"/>
                        </a:rPr>
                        <a:t>Can be sensitive to data variation and may overfit</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1"/>
                  </a:ext>
                </a:extLst>
              </a:tr>
              <a:tr h="671195">
                <a:tc>
                  <a:txBody>
                    <a:bodyPr/>
                    <a:lstStyle/>
                    <a:p>
                      <a:pPr algn="ctr"/>
                      <a:r>
                        <a:rPr sz="1400" b="1">
                          <a:latin typeface="Times New Roman" panose="02020603050405020304" pitchFamily="18" charset="0"/>
                          <a:cs typeface="Times New Roman" panose="02020603050405020304" pitchFamily="18" charset="0"/>
                        </a:rPr>
                        <a:t>Random Forest</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a:latin typeface="Times New Roman" panose="02020603050405020304" pitchFamily="18" charset="0"/>
                          <a:cs typeface="Times New Roman" panose="02020603050405020304" pitchFamily="18" charset="0"/>
                        </a:rPr>
                        <a:t>Accident severity and risk prediction</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a:latin typeface="Times New Roman" panose="02020603050405020304" pitchFamily="18" charset="0"/>
                          <a:cs typeface="Times New Roman" panose="02020603050405020304" pitchFamily="18" charset="0"/>
                        </a:rPr>
                        <a:t>Robust ensemble model and reduces overfitting</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a:latin typeface="Times New Roman" panose="02020603050405020304" pitchFamily="18" charset="0"/>
                          <a:cs typeface="Times New Roman" panose="02020603050405020304" pitchFamily="18" charset="0"/>
                        </a:rPr>
                        <a:t>Does not naturally capture complex temporal/spatial relationships</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2"/>
                  </a:ext>
                </a:extLst>
              </a:tr>
              <a:tr h="671830">
                <a:tc>
                  <a:txBody>
                    <a:bodyPr/>
                    <a:lstStyle/>
                    <a:p>
                      <a:pPr algn="ctr"/>
                      <a:r>
                        <a:rPr sz="1400" b="1">
                          <a:latin typeface="Times New Roman" panose="02020603050405020304" pitchFamily="18" charset="0"/>
                          <a:cs typeface="Times New Roman" panose="02020603050405020304" pitchFamily="18" charset="0"/>
                        </a:rPr>
                        <a:t>SVM</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a:latin typeface="Times New Roman" panose="02020603050405020304" pitchFamily="18" charset="0"/>
                          <a:cs typeface="Times New Roman" panose="02020603050405020304" pitchFamily="18" charset="0"/>
                        </a:rPr>
                        <a:t>Accident prediction and severity classification</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a:latin typeface="Times New Roman" panose="02020603050405020304" pitchFamily="18" charset="0"/>
                          <a:cs typeface="Times New Roman" panose="02020603050405020304" pitchFamily="18" charset="0"/>
                        </a:rPr>
                        <a:t>Effective for complex classification problems</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a:latin typeface="Times New Roman" panose="02020603050405020304" pitchFamily="18" charset="0"/>
                          <a:cs typeface="Times New Roman" panose="02020603050405020304" pitchFamily="18" charset="0"/>
                        </a:rPr>
                        <a:t>Can become computationally expensive for large datasets</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3"/>
                  </a:ext>
                </a:extLst>
              </a:tr>
              <a:tr h="670560">
                <a:tc>
                  <a:txBody>
                    <a:bodyPr/>
                    <a:lstStyle/>
                    <a:p>
                      <a:pPr algn="ctr"/>
                      <a:r>
                        <a:rPr sz="1400" b="1">
                          <a:latin typeface="Times New Roman" panose="02020603050405020304" pitchFamily="18" charset="0"/>
                          <a:cs typeface="Times New Roman" panose="02020603050405020304" pitchFamily="18" charset="0"/>
                        </a:rPr>
                        <a:t>XGBoost</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a:latin typeface="Times New Roman" panose="02020603050405020304" pitchFamily="18" charset="0"/>
                          <a:cs typeface="Times New Roman" panose="02020603050405020304" pitchFamily="18" charset="0"/>
                        </a:rPr>
                        <a:t>Accident severity, hotspot and risk prediction</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a:latin typeface="Times New Roman" panose="02020603050405020304" pitchFamily="18" charset="0"/>
                          <a:cs typeface="Times New Roman" panose="02020603050405020304" pitchFamily="18" charset="0"/>
                        </a:rPr>
                        <a:t>Strong performance on structured/tabular data</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a:latin typeface="Times New Roman" panose="02020603050405020304" pitchFamily="18" charset="0"/>
                          <a:cs typeface="Times New Roman" panose="02020603050405020304" pitchFamily="18" charset="0"/>
                        </a:rPr>
                        <a:t>Requires careful feature engineering and parameter tuning</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4"/>
                  </a:ext>
                </a:extLst>
              </a:tr>
              <a:tr h="672465">
                <a:tc>
                  <a:txBody>
                    <a:bodyPr/>
                    <a:lstStyle/>
                    <a:p>
                      <a:pPr algn="ctr"/>
                      <a:r>
                        <a:rPr sz="1400" b="1">
                          <a:latin typeface="Times New Roman" panose="02020603050405020304" pitchFamily="18" charset="0"/>
                          <a:cs typeface="Times New Roman" panose="02020603050405020304" pitchFamily="18" charset="0"/>
                        </a:rPr>
                        <a:t>CNN/LSTM/GNN</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a:latin typeface="Times New Roman" panose="02020603050405020304" pitchFamily="18" charset="0"/>
                          <a:cs typeface="Times New Roman" panose="02020603050405020304" pitchFamily="18" charset="0"/>
                        </a:rPr>
                        <a:t>Spatiotemporal traffic and accident-risk prediction</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a:latin typeface="Times New Roman" panose="02020603050405020304" pitchFamily="18" charset="0"/>
                          <a:cs typeface="Times New Roman" panose="02020603050405020304" pitchFamily="18" charset="0"/>
                        </a:rPr>
                        <a:t>Can capture spatial and temporal relationships</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a:latin typeface="Times New Roman" panose="02020603050405020304" pitchFamily="18" charset="0"/>
                          <a:cs typeface="Times New Roman" panose="02020603050405020304" pitchFamily="18" charset="0"/>
                        </a:rPr>
                        <a:t>More complex and computationally demanding</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5"/>
                  </a:ext>
                </a:extLst>
              </a:tr>
              <a:tr h="670560">
                <a:tc>
                  <a:txBody>
                    <a:bodyPr/>
                    <a:lstStyle/>
                    <a:p>
                      <a:pPr algn="ctr"/>
                      <a:r>
                        <a:rPr sz="1400" b="1">
                          <a:latin typeface="Times New Roman" panose="02020603050405020304" pitchFamily="18" charset="0"/>
                          <a:cs typeface="Times New Roman" panose="02020603050405020304" pitchFamily="18" charset="0"/>
                        </a:rPr>
                        <a:t>Proposed Hybrid Models</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a:latin typeface="Times New Roman" panose="02020603050405020304" pitchFamily="18" charset="0"/>
                          <a:cs typeface="Times New Roman" panose="02020603050405020304" pitchFamily="18" charset="0"/>
                        </a:rPr>
                        <a:t>Integrated traffic, accident and weather analysis</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a:latin typeface="Times New Roman" panose="02020603050405020304" pitchFamily="18" charset="0"/>
                          <a:cs typeface="Times New Roman" panose="02020603050405020304" pitchFamily="18" charset="0"/>
                        </a:rPr>
                        <a:t>Combines multiple model predictions and supports multi-source analysis</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a:latin typeface="Times New Roman" panose="02020603050405020304" pitchFamily="18" charset="0"/>
                          <a:cs typeface="Times New Roman" panose="02020603050405020304" pitchFamily="18" charset="0"/>
                        </a:rPr>
                        <a:t>Performance depends on the quality and compatibility of the input datasets</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6"/>
                  </a:ext>
                </a:extLst>
              </a:tr>
            </a:tbl>
          </a:graphicData>
        </a:graphic>
      </p:graphicFrame>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2148840" y="440055"/>
            <a:ext cx="9481820" cy="705485"/>
          </a:xfrm>
        </p:spPr>
        <p:txBody>
          <a:bodyPr>
            <a:normAutofit fontScale="90000"/>
          </a:bodyPr>
          <a:lstStyle/>
          <a:p>
            <a:pPr algn="ctr"/>
            <a:r>
              <a:rPr lang="en-US" altLang="en-US" b="1">
                <a:latin typeface="Times New Roman" panose="02020603050405020304" pitchFamily="18" charset="0"/>
                <a:cs typeface="Times New Roman" panose="02020603050405020304" pitchFamily="18" charset="0"/>
              </a:rPr>
              <a:t>Performance metrics and comparative results</a:t>
            </a:r>
          </a:p>
        </p:txBody>
      </p:sp>
      <p:pic>
        <p:nvPicPr>
          <p:cNvPr id="21506" name="Picture 2" descr="Koneru Lakshmaiah Education Foundation, Bachupally Campus Courses ..."/>
          <p:cNvPicPr>
            <a:picLocks noChangeAspect="1" noChangeArrowheads="1"/>
          </p:cNvPicPr>
          <p:nvPr/>
        </p:nvPicPr>
        <p:blipFill>
          <a:blip r:embed="rId5"/>
          <a:srcRect t="16961" b="27101"/>
          <a:stretch>
            <a:fillRect/>
          </a:stretch>
        </p:blipFill>
        <p:spPr bwMode="auto">
          <a:xfrm>
            <a:off x="0" y="0"/>
            <a:ext cx="2095500" cy="1145540"/>
          </a:xfrm>
          <a:prstGeom prst="rect">
            <a:avLst/>
          </a:prstGeom>
          <a:noFill/>
        </p:spPr>
      </p:pic>
      <p:graphicFrame>
        <p:nvGraphicFramePr>
          <p:cNvPr id="4" name="Table 3"/>
          <p:cNvGraphicFramePr/>
          <p:nvPr>
            <p:custDataLst>
              <p:tags r:id="rId3"/>
            </p:custDataLst>
          </p:nvPr>
        </p:nvGraphicFramePr>
        <p:xfrm>
          <a:off x="853440" y="1720850"/>
          <a:ext cx="10485120" cy="4495800"/>
        </p:xfrm>
        <a:graphic>
          <a:graphicData uri="http://schemas.openxmlformats.org/drawingml/2006/table">
            <a:tbl>
              <a:tblPr/>
              <a:tblGrid>
                <a:gridCol w="1747520">
                  <a:extLst>
                    <a:ext uri="{9D8B030D-6E8A-4147-A177-3AD203B41FA5}">
                      <a16:colId xmlns:a16="http://schemas.microsoft.com/office/drawing/2014/main" val="20000"/>
                    </a:ext>
                  </a:extLst>
                </a:gridCol>
                <a:gridCol w="1747520">
                  <a:extLst>
                    <a:ext uri="{9D8B030D-6E8A-4147-A177-3AD203B41FA5}">
                      <a16:colId xmlns:a16="http://schemas.microsoft.com/office/drawing/2014/main" val="20001"/>
                    </a:ext>
                  </a:extLst>
                </a:gridCol>
                <a:gridCol w="1747520">
                  <a:extLst>
                    <a:ext uri="{9D8B030D-6E8A-4147-A177-3AD203B41FA5}">
                      <a16:colId xmlns:a16="http://schemas.microsoft.com/office/drawing/2014/main" val="20002"/>
                    </a:ext>
                  </a:extLst>
                </a:gridCol>
                <a:gridCol w="1747520">
                  <a:extLst>
                    <a:ext uri="{9D8B030D-6E8A-4147-A177-3AD203B41FA5}">
                      <a16:colId xmlns:a16="http://schemas.microsoft.com/office/drawing/2014/main" val="20003"/>
                    </a:ext>
                  </a:extLst>
                </a:gridCol>
                <a:gridCol w="1747520">
                  <a:extLst>
                    <a:ext uri="{9D8B030D-6E8A-4147-A177-3AD203B41FA5}">
                      <a16:colId xmlns:a16="http://schemas.microsoft.com/office/drawing/2014/main" val="20004"/>
                    </a:ext>
                  </a:extLst>
                </a:gridCol>
                <a:gridCol w="1747520">
                  <a:extLst>
                    <a:ext uri="{9D8B030D-6E8A-4147-A177-3AD203B41FA5}">
                      <a16:colId xmlns:a16="http://schemas.microsoft.com/office/drawing/2014/main" val="20005"/>
                    </a:ext>
                  </a:extLst>
                </a:gridCol>
              </a:tblGrid>
              <a:tr h="449580">
                <a:tc>
                  <a:txBody>
                    <a:bodyPr/>
                    <a:lstStyle/>
                    <a:p>
                      <a:pPr algn="ctr"/>
                      <a:r>
                        <a:rPr sz="1400" b="1">
                          <a:latin typeface="Times New Roman" panose="02020603050405020304" pitchFamily="18" charset="0"/>
                          <a:cs typeface="Times New Roman" panose="02020603050405020304" pitchFamily="18" charset="0"/>
                        </a:rPr>
                        <a:t>Dataset</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b="1">
                          <a:latin typeface="Times New Roman" panose="02020603050405020304" pitchFamily="18" charset="0"/>
                          <a:cs typeface="Times New Roman" panose="02020603050405020304" pitchFamily="18" charset="0"/>
                        </a:rPr>
                        <a:t>Model</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b="1">
                          <a:latin typeface="Times New Roman" panose="02020603050405020304" pitchFamily="18" charset="0"/>
                          <a:cs typeface="Times New Roman" panose="02020603050405020304" pitchFamily="18" charset="0"/>
                        </a:rPr>
                        <a:t>Accuracy</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b="1">
                          <a:latin typeface="Times New Roman" panose="02020603050405020304" pitchFamily="18" charset="0"/>
                          <a:cs typeface="Times New Roman" panose="02020603050405020304" pitchFamily="18" charset="0"/>
                        </a:rPr>
                        <a:t>Precision</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b="1">
                          <a:latin typeface="Times New Roman" panose="02020603050405020304" pitchFamily="18" charset="0"/>
                          <a:cs typeface="Times New Roman" panose="02020603050405020304" pitchFamily="18" charset="0"/>
                        </a:rPr>
                        <a:t>Recall</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b="1">
                          <a:latin typeface="Times New Roman" panose="02020603050405020304" pitchFamily="18" charset="0"/>
                          <a:cs typeface="Times New Roman" panose="02020603050405020304" pitchFamily="18" charset="0"/>
                        </a:rPr>
                        <a:t>F1-Score</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0"/>
                  </a:ext>
                </a:extLst>
              </a:tr>
              <a:tr h="449580">
                <a:tc>
                  <a:txBody>
                    <a:bodyPr/>
                    <a:lstStyle/>
                    <a:p>
                      <a:pPr algn="ctr"/>
                      <a:r>
                        <a:rPr sz="1400" b="1">
                          <a:latin typeface="Times New Roman" panose="02020603050405020304" pitchFamily="18" charset="0"/>
                          <a:cs typeface="Times New Roman" panose="02020603050405020304" pitchFamily="18" charset="0"/>
                        </a:rPr>
                        <a:t>Traffic</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b="1">
                          <a:latin typeface="Times New Roman" panose="02020603050405020304" pitchFamily="18" charset="0"/>
                          <a:cs typeface="Times New Roman" panose="02020603050405020304" pitchFamily="18" charset="0"/>
                        </a:rPr>
                        <a:t>Hybrid Soft Voting</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a:latin typeface="Times New Roman" panose="02020603050405020304" pitchFamily="18" charset="0"/>
                          <a:cs typeface="Times New Roman" panose="02020603050405020304" pitchFamily="18" charset="0"/>
                        </a:rPr>
                        <a:t>0.9931</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a:latin typeface="Times New Roman" panose="02020603050405020304" pitchFamily="18" charset="0"/>
                          <a:cs typeface="Times New Roman" panose="02020603050405020304" pitchFamily="18" charset="0"/>
                        </a:rPr>
                        <a:t>0.9901</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a:latin typeface="Times New Roman" panose="02020603050405020304" pitchFamily="18" charset="0"/>
                          <a:cs typeface="Times New Roman" panose="02020603050405020304" pitchFamily="18" charset="0"/>
                        </a:rPr>
                        <a:t>0.9970</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a:latin typeface="Times New Roman" panose="02020603050405020304" pitchFamily="18" charset="0"/>
                          <a:cs typeface="Times New Roman" panose="02020603050405020304" pitchFamily="18" charset="0"/>
                        </a:rPr>
                        <a:t>0.9935</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1"/>
                  </a:ext>
                </a:extLst>
              </a:tr>
              <a:tr h="449580">
                <a:tc>
                  <a:txBody>
                    <a:bodyPr/>
                    <a:lstStyle/>
                    <a:p>
                      <a:pPr algn="ctr"/>
                      <a:endParaRPr sz="1400" b="1">
                        <a:latin typeface="Times New Roman" panose="02020603050405020304" pitchFamily="18" charset="0"/>
                        <a:cs typeface="Times New Roman" panose="02020603050405020304" pitchFamily="18" charset="0"/>
                      </a:endParaRP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b="1">
                          <a:latin typeface="Times New Roman" panose="02020603050405020304" pitchFamily="18" charset="0"/>
                          <a:cs typeface="Times New Roman" panose="02020603050405020304" pitchFamily="18" charset="0"/>
                        </a:rPr>
                        <a:t>Hybrid Stacking</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a:latin typeface="Times New Roman" panose="02020603050405020304" pitchFamily="18" charset="0"/>
                          <a:cs typeface="Times New Roman" panose="02020603050405020304" pitchFamily="18" charset="0"/>
                        </a:rPr>
                        <a:t>0.9983</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a:latin typeface="Times New Roman" panose="02020603050405020304" pitchFamily="18" charset="0"/>
                          <a:cs typeface="Times New Roman" panose="02020603050405020304" pitchFamily="18" charset="0"/>
                        </a:rPr>
                        <a:t>0.9980</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a:latin typeface="Times New Roman" panose="02020603050405020304" pitchFamily="18" charset="0"/>
                          <a:cs typeface="Times New Roman" panose="02020603050405020304" pitchFamily="18" charset="0"/>
                        </a:rPr>
                        <a:t>0.9993</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a:latin typeface="Times New Roman" panose="02020603050405020304" pitchFamily="18" charset="0"/>
                          <a:cs typeface="Times New Roman" panose="02020603050405020304" pitchFamily="18" charset="0"/>
                        </a:rPr>
                        <a:t>0.9986</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2"/>
                  </a:ext>
                </a:extLst>
              </a:tr>
              <a:tr h="449580">
                <a:tc>
                  <a:txBody>
                    <a:bodyPr/>
                    <a:lstStyle/>
                    <a:p>
                      <a:pPr algn="ctr"/>
                      <a:endParaRPr sz="1400" b="1">
                        <a:latin typeface="Times New Roman" panose="02020603050405020304" pitchFamily="18" charset="0"/>
                        <a:cs typeface="Times New Roman" panose="02020603050405020304" pitchFamily="18" charset="0"/>
                      </a:endParaRP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b="1">
                          <a:latin typeface="Times New Roman" panose="02020603050405020304" pitchFamily="18" charset="0"/>
                          <a:cs typeface="Times New Roman" panose="02020603050405020304" pitchFamily="18" charset="0"/>
                        </a:rPr>
                        <a:t>Hybrid Weighted Vote</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a:latin typeface="Times New Roman" panose="02020603050405020304" pitchFamily="18" charset="0"/>
                          <a:cs typeface="Times New Roman" panose="02020603050405020304" pitchFamily="18" charset="0"/>
                        </a:rPr>
                        <a:t>0.9914</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a:latin typeface="Times New Roman" panose="02020603050405020304" pitchFamily="18" charset="0"/>
                          <a:cs typeface="Times New Roman" panose="02020603050405020304" pitchFamily="18" charset="0"/>
                        </a:rPr>
                        <a:t>0.9864</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a:latin typeface="Times New Roman" panose="02020603050405020304" pitchFamily="18" charset="0"/>
                          <a:cs typeface="Times New Roman" panose="02020603050405020304" pitchFamily="18" charset="0"/>
                        </a:rPr>
                        <a:t>0.9963</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a:latin typeface="Times New Roman" panose="02020603050405020304" pitchFamily="18" charset="0"/>
                          <a:cs typeface="Times New Roman" panose="02020603050405020304" pitchFamily="18" charset="0"/>
                        </a:rPr>
                        <a:t>0.9912</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3"/>
                  </a:ext>
                </a:extLst>
              </a:tr>
              <a:tr h="449580">
                <a:tc>
                  <a:txBody>
                    <a:bodyPr/>
                    <a:lstStyle/>
                    <a:p>
                      <a:pPr algn="ctr"/>
                      <a:r>
                        <a:rPr sz="1400" b="1">
                          <a:latin typeface="Times New Roman" panose="02020603050405020304" pitchFamily="18" charset="0"/>
                          <a:cs typeface="Times New Roman" panose="02020603050405020304" pitchFamily="18" charset="0"/>
                        </a:rPr>
                        <a:t>Accident</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b="1">
                          <a:latin typeface="Times New Roman" panose="02020603050405020304" pitchFamily="18" charset="0"/>
                          <a:cs typeface="Times New Roman" panose="02020603050405020304" pitchFamily="18" charset="0"/>
                        </a:rPr>
                        <a:t>Hybrid Soft Voting</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a:latin typeface="Times New Roman" panose="02020603050405020304" pitchFamily="18" charset="0"/>
                          <a:cs typeface="Times New Roman" panose="02020603050405020304" pitchFamily="18" charset="0"/>
                        </a:rPr>
                        <a:t>0.3167</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a:latin typeface="Times New Roman" panose="02020603050405020304" pitchFamily="18" charset="0"/>
                          <a:cs typeface="Times New Roman" panose="02020603050405020304" pitchFamily="18" charset="0"/>
                        </a:rPr>
                        <a:t>0.3175</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a:latin typeface="Times New Roman" panose="02020603050405020304" pitchFamily="18" charset="0"/>
                          <a:cs typeface="Times New Roman" panose="02020603050405020304" pitchFamily="18" charset="0"/>
                        </a:rPr>
                        <a:t>0.3158</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a:latin typeface="Times New Roman" panose="02020603050405020304" pitchFamily="18" charset="0"/>
                          <a:cs typeface="Times New Roman" panose="02020603050405020304" pitchFamily="18" charset="0"/>
                        </a:rPr>
                        <a:t>0.3163</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4"/>
                  </a:ext>
                </a:extLst>
              </a:tr>
              <a:tr h="449580">
                <a:tc>
                  <a:txBody>
                    <a:bodyPr/>
                    <a:lstStyle/>
                    <a:p>
                      <a:pPr algn="ctr"/>
                      <a:endParaRPr sz="1400" b="1">
                        <a:latin typeface="Times New Roman" panose="02020603050405020304" pitchFamily="18" charset="0"/>
                        <a:cs typeface="Times New Roman" panose="02020603050405020304" pitchFamily="18" charset="0"/>
                      </a:endParaRP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b="1">
                          <a:latin typeface="Times New Roman" panose="02020603050405020304" pitchFamily="18" charset="0"/>
                          <a:cs typeface="Times New Roman" panose="02020603050405020304" pitchFamily="18" charset="0"/>
                        </a:rPr>
                        <a:t>Hybrid Stacking</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a:latin typeface="Times New Roman" panose="02020603050405020304" pitchFamily="18" charset="0"/>
                          <a:cs typeface="Times New Roman" panose="02020603050405020304" pitchFamily="18" charset="0"/>
                        </a:rPr>
                        <a:t>0.3583</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a:latin typeface="Times New Roman" panose="02020603050405020304" pitchFamily="18" charset="0"/>
                          <a:cs typeface="Times New Roman" panose="02020603050405020304" pitchFamily="18" charset="0"/>
                        </a:rPr>
                        <a:t>0.3425</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a:latin typeface="Times New Roman" panose="02020603050405020304" pitchFamily="18" charset="0"/>
                          <a:cs typeface="Times New Roman" panose="02020603050405020304" pitchFamily="18" charset="0"/>
                        </a:rPr>
                        <a:t>0.3546</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a:latin typeface="Times New Roman" panose="02020603050405020304" pitchFamily="18" charset="0"/>
                          <a:cs typeface="Times New Roman" panose="02020603050405020304" pitchFamily="18" charset="0"/>
                        </a:rPr>
                        <a:t>0.3248</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5"/>
                  </a:ext>
                </a:extLst>
              </a:tr>
              <a:tr h="449580">
                <a:tc>
                  <a:txBody>
                    <a:bodyPr/>
                    <a:lstStyle/>
                    <a:p>
                      <a:pPr algn="ctr"/>
                      <a:endParaRPr sz="1400" b="1">
                        <a:latin typeface="Times New Roman" panose="02020603050405020304" pitchFamily="18" charset="0"/>
                        <a:cs typeface="Times New Roman" panose="02020603050405020304" pitchFamily="18" charset="0"/>
                      </a:endParaRP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b="1">
                          <a:latin typeface="Times New Roman" panose="02020603050405020304" pitchFamily="18" charset="0"/>
                          <a:cs typeface="Times New Roman" panose="02020603050405020304" pitchFamily="18" charset="0"/>
                        </a:rPr>
                        <a:t>Hybrid Weighted Vote</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a:latin typeface="Times New Roman" panose="02020603050405020304" pitchFamily="18" charset="0"/>
                          <a:cs typeface="Times New Roman" panose="02020603050405020304" pitchFamily="18" charset="0"/>
                        </a:rPr>
                        <a:t>0.3200</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a:latin typeface="Times New Roman" panose="02020603050405020304" pitchFamily="18" charset="0"/>
                          <a:cs typeface="Times New Roman" panose="02020603050405020304" pitchFamily="18" charset="0"/>
                        </a:rPr>
                        <a:t>0.3191</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a:latin typeface="Times New Roman" panose="02020603050405020304" pitchFamily="18" charset="0"/>
                          <a:cs typeface="Times New Roman" panose="02020603050405020304" pitchFamily="18" charset="0"/>
                        </a:rPr>
                        <a:t>0.3189</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a:latin typeface="Times New Roman" panose="02020603050405020304" pitchFamily="18" charset="0"/>
                          <a:cs typeface="Times New Roman" panose="02020603050405020304" pitchFamily="18" charset="0"/>
                        </a:rPr>
                        <a:t>0.3186</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6"/>
                  </a:ext>
                </a:extLst>
              </a:tr>
              <a:tr h="449580">
                <a:tc>
                  <a:txBody>
                    <a:bodyPr/>
                    <a:lstStyle/>
                    <a:p>
                      <a:pPr algn="ctr"/>
                      <a:r>
                        <a:rPr sz="1400" b="1">
                          <a:latin typeface="Times New Roman" panose="02020603050405020304" pitchFamily="18" charset="0"/>
                          <a:cs typeface="Times New Roman" panose="02020603050405020304" pitchFamily="18" charset="0"/>
                        </a:rPr>
                        <a:t>Weather</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b="1">
                          <a:latin typeface="Times New Roman" panose="02020603050405020304" pitchFamily="18" charset="0"/>
                          <a:cs typeface="Times New Roman" panose="02020603050405020304" pitchFamily="18" charset="0"/>
                        </a:rPr>
                        <a:t>Hybrid Soft Voting</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a:latin typeface="Times New Roman" panose="02020603050405020304" pitchFamily="18" charset="0"/>
                          <a:cs typeface="Times New Roman" panose="02020603050405020304" pitchFamily="18" charset="0"/>
                        </a:rPr>
                        <a:t>0.4703</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a:latin typeface="Times New Roman" panose="02020603050405020304" pitchFamily="18" charset="0"/>
                          <a:cs typeface="Times New Roman" panose="02020603050405020304" pitchFamily="18" charset="0"/>
                        </a:rPr>
                        <a:t>0.4432</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a:latin typeface="Times New Roman" panose="02020603050405020304" pitchFamily="18" charset="0"/>
                          <a:cs typeface="Times New Roman" panose="02020603050405020304" pitchFamily="18" charset="0"/>
                        </a:rPr>
                        <a:t>0.4322</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a:latin typeface="Times New Roman" panose="02020603050405020304" pitchFamily="18" charset="0"/>
                          <a:cs typeface="Times New Roman" panose="02020603050405020304" pitchFamily="18" charset="0"/>
                        </a:rPr>
                        <a:t>0.4329</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7"/>
                  </a:ext>
                </a:extLst>
              </a:tr>
              <a:tr h="449580">
                <a:tc>
                  <a:txBody>
                    <a:bodyPr/>
                    <a:lstStyle/>
                    <a:p>
                      <a:pPr algn="ctr"/>
                      <a:endParaRPr sz="1400" b="1">
                        <a:latin typeface="Times New Roman" panose="02020603050405020304" pitchFamily="18" charset="0"/>
                        <a:cs typeface="Times New Roman" panose="02020603050405020304" pitchFamily="18" charset="0"/>
                      </a:endParaRP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b="1">
                          <a:latin typeface="Times New Roman" panose="02020603050405020304" pitchFamily="18" charset="0"/>
                          <a:cs typeface="Times New Roman" panose="02020603050405020304" pitchFamily="18" charset="0"/>
                        </a:rPr>
                        <a:t>Hybrid Stacking</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a:latin typeface="Times New Roman" panose="02020603050405020304" pitchFamily="18" charset="0"/>
                          <a:cs typeface="Times New Roman" panose="02020603050405020304" pitchFamily="18" charset="0"/>
                        </a:rPr>
                        <a:t>0.4765</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a:latin typeface="Times New Roman" panose="02020603050405020304" pitchFamily="18" charset="0"/>
                          <a:cs typeface="Times New Roman" panose="02020603050405020304" pitchFamily="18" charset="0"/>
                        </a:rPr>
                        <a:t>0.4575</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a:latin typeface="Times New Roman" panose="02020603050405020304" pitchFamily="18" charset="0"/>
                          <a:cs typeface="Times New Roman" panose="02020603050405020304" pitchFamily="18" charset="0"/>
                        </a:rPr>
                        <a:t>0.4272</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a:latin typeface="Times New Roman" panose="02020603050405020304" pitchFamily="18" charset="0"/>
                          <a:cs typeface="Times New Roman" panose="02020603050405020304" pitchFamily="18" charset="0"/>
                        </a:rPr>
                        <a:t>0.4246</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8"/>
                  </a:ext>
                </a:extLst>
              </a:tr>
              <a:tr h="449580">
                <a:tc>
                  <a:txBody>
                    <a:bodyPr/>
                    <a:lstStyle/>
                    <a:p>
                      <a:pPr algn="ctr"/>
                      <a:endParaRPr sz="1400" b="1">
                        <a:latin typeface="Times New Roman" panose="02020603050405020304" pitchFamily="18" charset="0"/>
                        <a:cs typeface="Times New Roman" panose="02020603050405020304" pitchFamily="18" charset="0"/>
                      </a:endParaRP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b="1">
                          <a:latin typeface="Times New Roman" panose="02020603050405020304" pitchFamily="18" charset="0"/>
                          <a:cs typeface="Times New Roman" panose="02020603050405020304" pitchFamily="18" charset="0"/>
                        </a:rPr>
                        <a:t>Hybrid Weighted Vote</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a:latin typeface="Times New Roman" panose="02020603050405020304" pitchFamily="18" charset="0"/>
                          <a:cs typeface="Times New Roman" panose="02020603050405020304" pitchFamily="18" charset="0"/>
                        </a:rPr>
                        <a:t>0.4705</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a:latin typeface="Times New Roman" panose="02020603050405020304" pitchFamily="18" charset="0"/>
                          <a:cs typeface="Times New Roman" panose="02020603050405020304" pitchFamily="18" charset="0"/>
                        </a:rPr>
                        <a:t>0.4441</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a:latin typeface="Times New Roman" panose="02020603050405020304" pitchFamily="18" charset="0"/>
                          <a:cs typeface="Times New Roman" panose="02020603050405020304" pitchFamily="18" charset="0"/>
                        </a:rPr>
                        <a:t>0.4387</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400">
                          <a:latin typeface="Times New Roman" panose="02020603050405020304" pitchFamily="18" charset="0"/>
                          <a:cs typeface="Times New Roman" panose="02020603050405020304" pitchFamily="18" charset="0"/>
                        </a:rPr>
                        <a:t>0.4399</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9"/>
                  </a:ext>
                </a:extLst>
              </a:tr>
            </a:tbl>
          </a:graphicData>
        </a:graphic>
      </p:graphicFrame>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2004060" y="440055"/>
            <a:ext cx="9206230" cy="705485"/>
          </a:xfrm>
        </p:spPr>
        <p:txBody>
          <a:bodyPr>
            <a:normAutofit fontScale="90000"/>
          </a:bodyPr>
          <a:lstStyle/>
          <a:p>
            <a:pPr algn="ctr"/>
            <a:r>
              <a:rPr lang="en-US" altLang="en-US" b="1">
                <a:latin typeface="Times New Roman" panose="02020603050405020304" pitchFamily="18" charset="0"/>
                <a:cs typeface="Times New Roman" panose="02020603050405020304" pitchFamily="18" charset="0"/>
              </a:rPr>
              <a:t>Comparison of multiple hybrid combinations</a:t>
            </a:r>
          </a:p>
        </p:txBody>
      </p:sp>
      <p:sp>
        <p:nvSpPr>
          <p:cNvPr id="3" name="Content Placeholder 2"/>
          <p:cNvSpPr>
            <a:spLocks noGrp="1"/>
          </p:cNvSpPr>
          <p:nvPr>
            <p:ph idx="1"/>
            <p:custDataLst>
              <p:tags r:id="rId3"/>
            </p:custDataLst>
          </p:nvPr>
        </p:nvSpPr>
        <p:spPr>
          <a:xfrm>
            <a:off x="608330" y="2117090"/>
            <a:ext cx="10968990" cy="3676650"/>
          </a:xfrm>
        </p:spPr>
        <p:txBody>
          <a:bodyPr/>
          <a:lstStyle/>
          <a:p>
            <a:pPr marL="0" indent="0" algn="just">
              <a:buNone/>
            </a:pPr>
            <a:r>
              <a:rPr lang="en-US" altLang="en-US">
                <a:solidFill>
                  <a:schemeClr val="tx1"/>
                </a:solidFill>
                <a:latin typeface="Times New Roman" panose="02020603050405020304" pitchFamily="18" charset="0"/>
                <a:cs typeface="Times New Roman" panose="02020603050405020304" pitchFamily="18" charset="0"/>
              </a:rPr>
              <a:t>The proposed system compares multiple hybrid ensemble combinations to identify the most effective approach for different prediction tasks. Three hybrid techniques—Hybrid Soft Voting, Hybrid Stacking, and Hybrid Weighted Voting—are evaluated using Accuracy, Precision, Recall, and F1-Score. Hybrid Stacking achieved the best overall accuracy for the Traffic dataset (99.83%), while it also produced the highest accuracy for the Accident (35.83%) and Weather (47.65%) datasets. Hybrid Weighted Voting performed slightly better in terms of Recall and F1-Score for the Weather dataset. This comparison helps identify the most suitable hybrid combination based on the characteristics of each dataset and prediction task.</a:t>
            </a:r>
          </a:p>
        </p:txBody>
      </p:sp>
      <p:pic>
        <p:nvPicPr>
          <p:cNvPr id="21506" name="Picture 2" descr="Koneru Lakshmaiah Education Foundation, Bachupally Campus Courses ..."/>
          <p:cNvPicPr>
            <a:picLocks noChangeAspect="1" noChangeArrowheads="1"/>
          </p:cNvPicPr>
          <p:nvPr/>
        </p:nvPicPr>
        <p:blipFill>
          <a:blip r:embed="rId5"/>
          <a:srcRect t="16961" b="27101"/>
          <a:stretch>
            <a:fillRect/>
          </a:stretch>
        </p:blipFill>
        <p:spPr bwMode="auto">
          <a:xfrm>
            <a:off x="0" y="0"/>
            <a:ext cx="2095500" cy="1145540"/>
          </a:xfrm>
          <a:prstGeom prst="rect">
            <a:avLst/>
          </a:prstGeom>
          <a:noFill/>
        </p:spPr>
      </p:pic>
    </p:spTree>
    <p:custDataLst>
      <p:tags r:id="rId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2522855" y="636905"/>
            <a:ext cx="8463280" cy="705485"/>
          </a:xfrm>
        </p:spPr>
        <p:txBody>
          <a:bodyPr>
            <a:normAutofit fontScale="90000"/>
          </a:bodyPr>
          <a:lstStyle/>
          <a:p>
            <a:pPr algn="ctr"/>
            <a:r>
              <a:rPr lang="en-US" altLang="en-US" b="1">
                <a:latin typeface="Times New Roman" panose="02020603050405020304" pitchFamily="18" charset="0"/>
                <a:cs typeface="Times New Roman" panose="02020603050405020304" pitchFamily="18" charset="0"/>
              </a:rPr>
              <a:t>Justification for selecting the final hybrid model</a:t>
            </a:r>
          </a:p>
        </p:txBody>
      </p:sp>
      <p:sp>
        <p:nvSpPr>
          <p:cNvPr id="3" name="Content Placeholder 2"/>
          <p:cNvSpPr>
            <a:spLocks noGrp="1"/>
          </p:cNvSpPr>
          <p:nvPr>
            <p:ph idx="1"/>
            <p:custDataLst>
              <p:tags r:id="rId3"/>
            </p:custDataLst>
          </p:nvPr>
        </p:nvSpPr>
        <p:spPr>
          <a:xfrm>
            <a:off x="611505" y="2143760"/>
            <a:ext cx="10968990" cy="3614420"/>
          </a:xfrm>
        </p:spPr>
        <p:txBody>
          <a:bodyPr/>
          <a:lstStyle/>
          <a:p>
            <a:pPr marL="0" indent="0" algn="just">
              <a:buNone/>
            </a:pPr>
            <a:r>
              <a:rPr lang="en-US" altLang="en-US">
                <a:solidFill>
                  <a:schemeClr val="tx1"/>
                </a:solidFill>
                <a:latin typeface="Times New Roman" panose="02020603050405020304" pitchFamily="18" charset="0"/>
                <a:cs typeface="Times New Roman" panose="02020603050405020304" pitchFamily="18" charset="0"/>
              </a:rPr>
              <a:t>Hybrid Stacking was selected as the final model based on its overall performance across the evaluated datasets. It achieved the highest accuracy for the Traffic dataset (99.83%), Accident dataset (35.83%), and Weather dataset (47.65%). It also provided strong Precision, Recall, and F1-Score values, particularly for the Traffic dataset, where it achieved an F1-Score of 99.86%. The model combines the strengths of multiple models and is capable of handling complex patterns in the data. Compared with Hybrid Soft Voting and Hybrid Weighted Voting, Hybrid Stacking showed more consistent performance across the different prediction tasks. Therefore, it was selected as the final hybrid model for the proposed system.</a:t>
            </a:r>
          </a:p>
        </p:txBody>
      </p:sp>
      <p:pic>
        <p:nvPicPr>
          <p:cNvPr id="21506" name="Picture 2" descr="Koneru Lakshmaiah Education Foundation, Bachupally Campus Courses ..."/>
          <p:cNvPicPr>
            <a:picLocks noChangeAspect="1" noChangeArrowheads="1"/>
          </p:cNvPicPr>
          <p:nvPr/>
        </p:nvPicPr>
        <p:blipFill>
          <a:blip r:embed="rId5"/>
          <a:srcRect t="16961" b="27101"/>
          <a:stretch>
            <a:fillRect/>
          </a:stretch>
        </p:blipFill>
        <p:spPr bwMode="auto">
          <a:xfrm>
            <a:off x="0" y="0"/>
            <a:ext cx="2095500" cy="1145540"/>
          </a:xfrm>
          <a:prstGeom prst="rect">
            <a:avLst/>
          </a:prstGeom>
          <a:noFill/>
        </p:spPr>
      </p:pic>
    </p:spTree>
    <p:custDataLst>
      <p:tags r:id="rId1"/>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2317750" y="323215"/>
            <a:ext cx="8024495" cy="705485"/>
          </a:xfrm>
        </p:spPr>
        <p:txBody>
          <a:bodyPr/>
          <a:lstStyle/>
          <a:p>
            <a:pPr algn="ctr"/>
            <a:r>
              <a:rPr lang="en-US" altLang="en-US" b="1">
                <a:latin typeface="Times New Roman" panose="02020603050405020304" pitchFamily="18" charset="0"/>
                <a:cs typeface="Times New Roman" panose="02020603050405020304" pitchFamily="18" charset="0"/>
              </a:rPr>
              <a:t> literature review</a:t>
            </a:r>
          </a:p>
        </p:txBody>
      </p:sp>
      <p:sp>
        <p:nvSpPr>
          <p:cNvPr id="3" name="Content Placeholder 2"/>
          <p:cNvSpPr>
            <a:spLocks noGrp="1"/>
          </p:cNvSpPr>
          <p:nvPr>
            <p:ph idx="1"/>
            <p:custDataLst>
              <p:tags r:id="rId3"/>
            </p:custDataLst>
          </p:nvPr>
        </p:nvSpPr>
        <p:spPr/>
        <p:txBody>
          <a:bodyPr>
            <a:noAutofit/>
          </a:bodyPr>
          <a:lstStyle/>
          <a:p>
            <a:pPr algn="just"/>
            <a:r>
              <a:rPr lang="en-US" altLang="en-US" sz="1500">
                <a:solidFill>
                  <a:schemeClr val="tx1">
                    <a:lumMod val="95000"/>
                    <a:lumOff val="5000"/>
                  </a:schemeClr>
                </a:solidFill>
                <a:latin typeface="Times New Roman" panose="02020603050405020304" pitchFamily="18" charset="0"/>
                <a:cs typeface="Times New Roman" panose="02020603050405020304" pitchFamily="18" charset="0"/>
              </a:rPr>
              <a:t>Traffic Accident Prediction Under Extreme Weather (2024): Uses an optimized SVM to predict accidents under extreme weather. It mainly focuses on expressways.</a:t>
            </a:r>
          </a:p>
          <a:p>
            <a:pPr algn="just"/>
            <a:r>
              <a:rPr lang="en-US" altLang="en-US" sz="1500">
                <a:solidFill>
                  <a:schemeClr val="tx1">
                    <a:lumMod val="95000"/>
                    <a:lumOff val="5000"/>
                  </a:schemeClr>
                </a:solidFill>
                <a:latin typeface="Times New Roman" panose="02020603050405020304" pitchFamily="18" charset="0"/>
                <a:cs typeface="Times New Roman" panose="02020603050405020304" pitchFamily="18" charset="0"/>
              </a:rPr>
              <a:t>Deep Learning for Accident Prediction (2023): Uses CNN and DNN for urban accident prediction and handles imbalanced data. It has limited multi-source integration.</a:t>
            </a:r>
          </a:p>
          <a:p>
            <a:pPr algn="just"/>
            <a:r>
              <a:rPr lang="en-US" altLang="en-US" sz="1500">
                <a:solidFill>
                  <a:schemeClr val="tx1">
                    <a:lumMod val="95000"/>
                    <a:lumOff val="5000"/>
                  </a:schemeClr>
                </a:solidFill>
                <a:latin typeface="Times New Roman" panose="02020603050405020304" pitchFamily="18" charset="0"/>
                <a:cs typeface="Times New Roman" panose="02020603050405020304" pitchFamily="18" charset="0"/>
              </a:rPr>
              <a:t>Vehicle Trajectory-Based Accident Risk Prediction (2025): Uses CNN, LSTM, and GNN with speed, acceleration, and location data. It mainly focuses on vehicle trajectories.</a:t>
            </a:r>
          </a:p>
          <a:p>
            <a:pPr algn="just"/>
            <a:r>
              <a:rPr lang="en-US" altLang="en-US" sz="1500">
                <a:solidFill>
                  <a:schemeClr val="tx1">
                    <a:lumMod val="95000"/>
                    <a:lumOff val="5000"/>
                  </a:schemeClr>
                </a:solidFill>
                <a:latin typeface="Times New Roman" panose="02020603050405020304" pitchFamily="18" charset="0"/>
                <a:cs typeface="Times New Roman" panose="02020603050405020304" pitchFamily="18" charset="0"/>
              </a:rPr>
              <a:t>Accident Fatality Prediction (2024): Compares Logistic Regression, Random Forest, and Decision Tree for accident-fatality prediction. It focuses mainly on fatality classification.</a:t>
            </a:r>
          </a:p>
          <a:p>
            <a:pPr algn="just"/>
            <a:r>
              <a:rPr lang="en-US" altLang="en-US" sz="1500">
                <a:solidFill>
                  <a:schemeClr val="tx1">
                    <a:lumMod val="95000"/>
                    <a:lumOff val="5000"/>
                  </a:schemeClr>
                </a:solidFill>
                <a:latin typeface="Times New Roman" panose="02020603050405020304" pitchFamily="18" charset="0"/>
                <a:cs typeface="Times New Roman" panose="02020603050405020304" pitchFamily="18" charset="0"/>
              </a:rPr>
              <a:t>Road Accident Severity Prediction (2025): Uses Random Forest and Gradient Boosting for accident severity prediction on Indian highways. It is mainly highway-focused.</a:t>
            </a:r>
          </a:p>
          <a:p>
            <a:pPr algn="just"/>
            <a:r>
              <a:rPr lang="en-US" altLang="en-US" sz="1500">
                <a:solidFill>
                  <a:schemeClr val="tx1">
                    <a:lumMod val="95000"/>
                    <a:lumOff val="5000"/>
                  </a:schemeClr>
                </a:solidFill>
                <a:latin typeface="Times New Roman" panose="02020603050405020304" pitchFamily="18" charset="0"/>
                <a:cs typeface="Times New Roman" panose="02020603050405020304" pitchFamily="18" charset="0"/>
              </a:rPr>
              <a:t>Urban Flow Prediction (2020): Reviews machine-learning methods for urban traffic-flow prediction, but does not combine multiple urban data sources.</a:t>
            </a:r>
          </a:p>
        </p:txBody>
      </p:sp>
      <p:pic>
        <p:nvPicPr>
          <p:cNvPr id="21506" name="Picture 2" descr="Koneru Lakshmaiah Education Foundation, Bachupally Campus Courses ..."/>
          <p:cNvPicPr>
            <a:picLocks noChangeAspect="1" noChangeArrowheads="1"/>
          </p:cNvPicPr>
          <p:nvPr/>
        </p:nvPicPr>
        <p:blipFill>
          <a:blip r:embed="rId5"/>
          <a:srcRect t="16961" b="27101"/>
          <a:stretch>
            <a:fillRect/>
          </a:stretch>
        </p:blipFill>
        <p:spPr bwMode="auto">
          <a:xfrm>
            <a:off x="0" y="0"/>
            <a:ext cx="2095500" cy="1145540"/>
          </a:xfrm>
          <a:prstGeom prst="rect">
            <a:avLst/>
          </a:prstGeom>
          <a:noFill/>
        </p:spPr>
      </p:pic>
    </p:spTree>
    <p:custDataLst>
      <p:tags r:id="rId1"/>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2095500" y="628015"/>
            <a:ext cx="9250045" cy="705485"/>
          </a:xfrm>
        </p:spPr>
        <p:txBody>
          <a:bodyPr>
            <a:normAutofit fontScale="90000"/>
          </a:bodyPr>
          <a:lstStyle/>
          <a:p>
            <a:pPr algn="ctr"/>
            <a:r>
              <a:rPr lang="en-US" b="1" dirty="0">
                <a:latin typeface="Times New Roman" panose="02020603050405020304" pitchFamily="18" charset="0"/>
                <a:cs typeface="Times New Roman" panose="02020603050405020304" pitchFamily="18" charset="0"/>
                <a:sym typeface="+mn-ea"/>
              </a:rPr>
              <a:t>Literature-based novelty verification</a:t>
            </a:r>
            <a:br>
              <a:rPr lang="en-US" b="1" dirty="0">
                <a:latin typeface="Times New Roman" panose="02020603050405020304" pitchFamily="18" charset="0"/>
                <a:cs typeface="Times New Roman" panose="02020603050405020304" pitchFamily="18" charset="0"/>
              </a:rPr>
            </a:br>
            <a:endParaRPr lang="en-US"/>
          </a:p>
        </p:txBody>
      </p:sp>
      <p:sp>
        <p:nvSpPr>
          <p:cNvPr id="3" name="Content Placeholder 2"/>
          <p:cNvSpPr>
            <a:spLocks noGrp="1"/>
          </p:cNvSpPr>
          <p:nvPr>
            <p:ph idx="1"/>
            <p:custDataLst>
              <p:tags r:id="rId3"/>
            </p:custDataLst>
          </p:nvPr>
        </p:nvSpPr>
        <p:spPr>
          <a:xfrm>
            <a:off x="608330" y="1821180"/>
            <a:ext cx="10968990" cy="4401820"/>
          </a:xfrm>
        </p:spPr>
        <p:txBody>
          <a:bodyPr>
            <a:noAutofit/>
          </a:bodyPr>
          <a:lstStyle/>
          <a:p>
            <a:pPr algn="just"/>
            <a:r>
              <a:rPr lang="en-US" altLang="en-US" sz="1500">
                <a:solidFill>
                  <a:schemeClr val="tx1">
                    <a:lumMod val="95000"/>
                    <a:lumOff val="5000"/>
                  </a:schemeClr>
                </a:solidFill>
                <a:latin typeface="Times New Roman" panose="02020603050405020304" pitchFamily="18" charset="0"/>
                <a:cs typeface="Times New Roman" panose="02020603050405020304" pitchFamily="18" charset="0"/>
              </a:rPr>
              <a:t>Multi-Source Integration: Existing studies mainly focus on individual datasets or specific problems. Our project integrates GPS, traffic, weather, and accident data in one framework.</a:t>
            </a:r>
          </a:p>
          <a:p>
            <a:pPr algn="just"/>
            <a:r>
              <a:rPr lang="en-US" altLang="en-US" sz="1500">
                <a:solidFill>
                  <a:schemeClr val="tx1">
                    <a:lumMod val="95000"/>
                    <a:lumOff val="5000"/>
                  </a:schemeClr>
                </a:solidFill>
                <a:latin typeface="Times New Roman" panose="02020603050405020304" pitchFamily="18" charset="0"/>
                <a:cs typeface="Times New Roman" panose="02020603050405020304" pitchFamily="18" charset="0"/>
              </a:rPr>
              <a:t>Comprehensive Urban Mobility Analysis: Unlike studies focusing only on traffic flow or accident prediction, the project combines mobility patterns, traffic conditions, weather factors, and accident analysis.</a:t>
            </a:r>
          </a:p>
          <a:p>
            <a:pPr algn="just"/>
            <a:r>
              <a:rPr lang="en-US" altLang="en-US" sz="1500">
                <a:solidFill>
                  <a:schemeClr val="tx1">
                    <a:lumMod val="95000"/>
                    <a:lumOff val="5000"/>
                  </a:schemeClr>
                </a:solidFill>
                <a:latin typeface="Times New Roman" panose="02020603050405020304" pitchFamily="18" charset="0"/>
                <a:cs typeface="Times New Roman" panose="02020603050405020304" pitchFamily="18" charset="0"/>
              </a:rPr>
              <a:t>Comparative ML Analysis: The project compares multiple machine-learning approaches such as Decision Tree, Random Forest, XGBoost, and Logistic Regression for accident-risk prediction.</a:t>
            </a:r>
          </a:p>
          <a:p>
            <a:pPr algn="just"/>
            <a:r>
              <a:rPr lang="en-US" altLang="en-US" sz="1500">
                <a:solidFill>
                  <a:schemeClr val="tx1">
                    <a:lumMod val="95000"/>
                    <a:lumOff val="5000"/>
                  </a:schemeClr>
                </a:solidFill>
                <a:latin typeface="Times New Roman" panose="02020603050405020304" pitchFamily="18" charset="0"/>
                <a:cs typeface="Times New Roman" panose="02020603050405020304" pitchFamily="18" charset="0"/>
              </a:rPr>
              <a:t>Geospatial Insights: The project provides GPS-based route visualization and accident hotspot analysis, extending prediction into spatial mobility insights.</a:t>
            </a:r>
          </a:p>
          <a:p>
            <a:pPr algn="just"/>
            <a:r>
              <a:rPr lang="en-US" altLang="en-US" sz="1500">
                <a:solidFill>
                  <a:schemeClr val="tx1">
                    <a:lumMod val="95000"/>
                    <a:lumOff val="5000"/>
                  </a:schemeClr>
                </a:solidFill>
                <a:latin typeface="Times New Roman" panose="02020603050405020304" pitchFamily="18" charset="0"/>
                <a:cs typeface="Times New Roman" panose="02020603050405020304" pitchFamily="18" charset="0"/>
              </a:rPr>
              <a:t>Integrated Dashboard: Existing studies generally present individual analytical results, whereas this project combines predictions, mobility analysis, maps, traffic, weather, and accident insights in an interactive dashboard.</a:t>
            </a:r>
          </a:p>
        </p:txBody>
      </p:sp>
      <p:pic>
        <p:nvPicPr>
          <p:cNvPr id="21506" name="Picture 2" descr="Koneru Lakshmaiah Education Foundation, Bachupally Campus Courses ..."/>
          <p:cNvPicPr>
            <a:picLocks noChangeAspect="1" noChangeArrowheads="1"/>
          </p:cNvPicPr>
          <p:nvPr/>
        </p:nvPicPr>
        <p:blipFill>
          <a:blip r:embed="rId5"/>
          <a:srcRect t="16961" b="27101"/>
          <a:stretch>
            <a:fillRect/>
          </a:stretch>
        </p:blipFill>
        <p:spPr bwMode="auto">
          <a:xfrm>
            <a:off x="0" y="0"/>
            <a:ext cx="2095500" cy="1145540"/>
          </a:xfrm>
          <a:prstGeom prst="rect">
            <a:avLst/>
          </a:prstGeom>
          <a:noFill/>
        </p:spPr>
      </p:pic>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custDataLst>
              <p:tags r:id="rId2"/>
            </p:custDataLst>
          </p:nvPr>
        </p:nvSpPr>
        <p:spPr>
          <a:xfrm>
            <a:off x="545465" y="1814830"/>
            <a:ext cx="10968990" cy="3228975"/>
          </a:xfrm>
        </p:spPr>
        <p:txBody>
          <a:bodyPr/>
          <a:lstStyle/>
          <a:p>
            <a:pPr marL="0" indent="0" algn="ctr">
              <a:buNone/>
            </a:pPr>
            <a:r>
              <a:rPr lang="en-US" sz="6000" b="1">
                <a:solidFill>
                  <a:schemeClr val="tx1">
                    <a:lumMod val="95000"/>
                    <a:lumOff val="5000"/>
                  </a:schemeClr>
                </a:solidFill>
                <a:latin typeface="Times New Roman" panose="02020603050405020304" pitchFamily="18" charset="0"/>
                <a:cs typeface="Times New Roman" panose="02020603050405020304" pitchFamily="18" charset="0"/>
              </a:rPr>
              <a:t>THANK </a:t>
            </a:r>
          </a:p>
          <a:p>
            <a:pPr marL="0" indent="0" algn="ctr">
              <a:buNone/>
            </a:pPr>
            <a:r>
              <a:rPr lang="en-US" sz="6000" b="1">
                <a:solidFill>
                  <a:schemeClr val="tx1">
                    <a:lumMod val="95000"/>
                    <a:lumOff val="5000"/>
                  </a:schemeClr>
                </a:solidFill>
                <a:latin typeface="Times New Roman" panose="02020603050405020304" pitchFamily="18" charset="0"/>
                <a:cs typeface="Times New Roman" panose="02020603050405020304" pitchFamily="18" charset="0"/>
              </a:rPr>
              <a:t>YOU</a:t>
            </a:r>
          </a:p>
        </p:txBody>
      </p:sp>
      <p:pic>
        <p:nvPicPr>
          <p:cNvPr id="21506" name="Picture 2" descr="Koneru Lakshmaiah Education Foundation, Bachupally Campus Courses ..."/>
          <p:cNvPicPr>
            <a:picLocks noChangeAspect="1" noChangeArrowheads="1"/>
          </p:cNvPicPr>
          <p:nvPr/>
        </p:nvPicPr>
        <p:blipFill>
          <a:blip r:embed="rId4"/>
          <a:srcRect t="16961" b="27101"/>
          <a:stretch>
            <a:fillRect/>
          </a:stretch>
        </p:blipFill>
        <p:spPr bwMode="auto">
          <a:xfrm>
            <a:off x="0" y="0"/>
            <a:ext cx="2095500" cy="1145540"/>
          </a:xfrm>
          <a:prstGeom prst="rect">
            <a:avLst/>
          </a:prstGeom>
          <a:noFill/>
        </p:spPr>
      </p:pic>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9.xml><?xml version="1.0" encoding="utf-8"?>
<p:tagLst xmlns:a="http://schemas.openxmlformats.org/drawingml/2006/main" xmlns:r="http://schemas.openxmlformats.org/officeDocument/2006/relationships" xmlns:p="http://schemas.openxmlformats.org/presentationml/2006/main">
  <p:tag name="TABLE_ENDDRAG_ORIGIN_RECT" val="825*342"/>
  <p:tag name="TABLE_ENDDRAG_RECT" val="67*135*825*342"/>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TotalTime>
  <Words>3217</Words>
  <Application>Microsoft Office PowerPoint</Application>
  <PresentationFormat>Widescreen</PresentationFormat>
  <Paragraphs>280</Paragraphs>
  <Slides>32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Goudy Old Style</vt:lpstr>
      <vt:lpstr>Times New Roman</vt:lpstr>
      <vt:lpstr>Wingdings</vt:lpstr>
      <vt:lpstr>WPS</vt:lpstr>
      <vt:lpstr>Intelligent Urban Mobility Analytics Using GPS and Traffic Data​</vt:lpstr>
      <vt:lpstr>Problem Statement</vt:lpstr>
      <vt:lpstr>Objectives</vt:lpstr>
      <vt:lpstr>Literature Survey </vt:lpstr>
      <vt:lpstr>Literature Survey</vt:lpstr>
      <vt:lpstr>       Research Gap Identification</vt:lpstr>
      <vt:lpstr>Innovation</vt:lpstr>
      <vt:lpstr> Feasibility</vt:lpstr>
      <vt:lpstr>Project plan</vt:lpstr>
      <vt:lpstr>Methodology</vt:lpstr>
      <vt:lpstr>PowerPoint Presentation</vt:lpstr>
      <vt:lpstr>PowerPoint Presentation</vt:lpstr>
      <vt:lpstr>System Design</vt:lpstr>
      <vt:lpstr>Modern Tools &amp; Technologies</vt:lpstr>
      <vt:lpstr>Implementation</vt:lpstr>
      <vt:lpstr>PowerPoint Presentation</vt:lpstr>
      <vt:lpstr>PowerPoint Presentation</vt:lpstr>
      <vt:lpstr>PowerPoint Presentation</vt:lpstr>
      <vt:lpstr>PowerPoint Presentation</vt:lpstr>
      <vt:lpstr>PowerPoint Presentation</vt:lpstr>
      <vt:lpstr>Results</vt:lpstr>
      <vt:lpstr>Performance Evaluation</vt:lpstr>
      <vt:lpstr>Implementation of the proposed hybrid model</vt:lpstr>
      <vt:lpstr>Experiments Using the Prescribed Datasets</vt:lpstr>
      <vt:lpstr>Training and testing results</vt:lpstr>
      <vt:lpstr>Comparison with relevant existing models from the literature</vt:lpstr>
      <vt:lpstr>Performance metrics and comparative results</vt:lpstr>
      <vt:lpstr>Comparison of multiple hybrid combinations</vt:lpstr>
      <vt:lpstr>Justification for selecting the final hybrid model</vt:lpstr>
      <vt:lpstr> literature review</vt:lpstr>
      <vt:lpstr>Literature-based novelty verification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Intelligent Urban Mobility Analytics Using GPS and Traffic Data</dc:title>
  <dc:creator>mpsre</dc:creator>
  <cp:lastModifiedBy>Poojitha Rani</cp:lastModifiedBy>
  <cp:revision>7</cp:revision>
  <dcterms:created xsi:type="dcterms:W3CDTF">2026-10-05T05:42:00Z</dcterms:created>
  <dcterms:modified xsi:type="dcterms:W3CDTF">2026-10-12T06:14:34Z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0C6A25CDCE4940BABB5ACFD21A1E864E_13</vt:lpwstr>
  </property>
</Properties>
</file>