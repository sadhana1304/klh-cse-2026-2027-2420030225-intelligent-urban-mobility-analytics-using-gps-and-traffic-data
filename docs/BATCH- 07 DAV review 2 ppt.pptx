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3"/>
    <p:sldId id="258" r:id="rId4"/>
    <p:sldId id="282" r:id="rId5"/>
    <p:sldId id="259" r:id="rId6"/>
    <p:sldId id="275" r:id="rId7"/>
    <p:sldId id="276" r:id="rId9"/>
    <p:sldId id="277" r:id="rId10"/>
    <p:sldId id="280" r:id="rId11"/>
    <p:sldId id="281" r:id="rId12"/>
    <p:sldId id="278" r:id="rId13"/>
    <p:sldId id="279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58" d="100"/>
          <a:sy n="58" d="100"/>
        </p:scale>
        <p:origin x="1520" y="68"/>
      </p:cViewPr>
      <p:guideLst>
        <p:guide orient="horz" pos="2174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3F5B-065E-43CE-B3FD-98C48A6F94D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02565" y="1814732"/>
            <a:ext cx="751935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800" b="1" dirty="0">
                <a:solidFill>
                  <a:srgbClr val="000000"/>
                </a:solidFill>
                <a:latin typeface="Goudy Old Style" panose="02020502050305020303"/>
                <a:ea typeface="Segoe UI" panose="020B0502040204020203"/>
                <a:cs typeface="Segoe UI" panose="020B0502040204020203"/>
              </a:rPr>
              <a:t>Intelligent Urban Mobility Analytics Using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Goudy Old Style" panose="02020502050305020303"/>
                <a:ea typeface="Segoe UI" panose="020B0502040204020203"/>
                <a:cs typeface="Segoe UI" panose="020B0502040204020203"/>
              </a:rPr>
              <a:t> </a:t>
            </a:r>
            <a:r>
              <a:rPr lang="en-US" sz="4800" b="1" dirty="0">
                <a:solidFill>
                  <a:srgbClr val="000000"/>
                </a:solidFill>
                <a:latin typeface="Goudy Old Style" panose="02020502050305020303"/>
                <a:ea typeface="Segoe UI" panose="020B0502040204020203"/>
                <a:cs typeface="Segoe UI" panose="020B0502040204020203"/>
              </a:rPr>
              <a:t>GPS and</a:t>
            </a:r>
            <a:r>
              <a:rPr lang="en-US" sz="4800" b="1" i="0" u="none" strike="noStrike" baseline="0" dirty="0">
                <a:solidFill>
                  <a:srgbClr val="000000"/>
                </a:solidFill>
                <a:latin typeface="Goudy Old Style" panose="02020502050305020303"/>
                <a:ea typeface="Segoe UI" panose="020B0502040204020203"/>
                <a:cs typeface="Segoe UI" panose="020B0502040204020203"/>
              </a:rPr>
              <a:t> Traffic Data</a:t>
            </a:r>
            <a:r>
              <a:rPr sz="5400" b="0" i="0" dirty="0">
                <a:solidFill>
                  <a:srgbClr val="000000"/>
                </a:solidFill>
                <a:latin typeface="Goudy Old Style" panose="02020502050305020303"/>
                <a:ea typeface="Goudy Old Style" panose="02020502050305020303"/>
                <a:cs typeface="Goudy Old Style" panose="02020502050305020303"/>
              </a:rPr>
              <a:t>​</a:t>
            </a:r>
            <a:endParaRPr lang="en-US" sz="5400" dirty="0"/>
          </a:p>
          <a:p>
            <a:pPr algn="ctr"/>
            <a:endParaRPr lang="en-US" dirty="0"/>
          </a:p>
        </p:txBody>
      </p:sp>
      <p:pic>
        <p:nvPicPr>
          <p:cNvPr id="21506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39736" y="0"/>
            <a:ext cx="2095500" cy="204787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39736" y="4895557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– 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2420030066 -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P.Likhith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2420030225 - Sanivarapu Sadhana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2420030336 -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M.Pavani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2420030780 -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Bharghav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145" y="0"/>
            <a:ext cx="5621655" cy="1143000"/>
          </a:xfrm>
        </p:spPr>
        <p:txBody>
          <a:bodyPr>
            <a:normAutofit/>
          </a:bodyPr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895" y="1033780"/>
            <a:ext cx="8792210" cy="530849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1500" b="1" dirty="0"/>
              <a:t>1. Data Collection</a:t>
            </a:r>
            <a:endParaRPr lang="en-IN" sz="1500" b="1" dirty="0"/>
          </a:p>
          <a:p>
            <a:pPr lvl="0"/>
            <a:r>
              <a:rPr lang="en-IN" sz="1500" dirty="0"/>
              <a:t>Collected </a:t>
            </a:r>
            <a:r>
              <a:rPr lang="en-IN" sz="1500" b="1" dirty="0"/>
              <a:t>Traffic, Weather, Accident, and GPS</a:t>
            </a:r>
            <a:r>
              <a:rPr lang="en-IN" sz="1500" dirty="0"/>
              <a:t> datasets from publicly available sources. </a:t>
            </a:r>
            <a:endParaRPr lang="en-IN" sz="1500" dirty="0"/>
          </a:p>
          <a:p>
            <a:pPr lvl="0"/>
            <a:r>
              <a:rPr lang="en-IN" sz="1500" dirty="0"/>
              <a:t>Gathered data related to urban mobility, transportation, weather conditions, and road accidents. </a:t>
            </a:r>
            <a:endParaRPr lang="en-IN" sz="1500" dirty="0"/>
          </a:p>
          <a:p>
            <a:pPr lvl="0"/>
            <a:r>
              <a:rPr lang="en-IN" sz="1500" dirty="0"/>
              <a:t>Stored the datasets in structured formats such as </a:t>
            </a:r>
            <a:r>
              <a:rPr lang="en-IN" sz="1500" b="1" dirty="0"/>
              <a:t>Excel and CSV</a:t>
            </a:r>
            <a:r>
              <a:rPr lang="en-IN" sz="1500" dirty="0"/>
              <a:t>. </a:t>
            </a:r>
            <a:endParaRPr lang="en-IN" sz="1500" dirty="0"/>
          </a:p>
          <a:p>
            <a:pPr lvl="0"/>
            <a:r>
              <a:rPr lang="en-IN" sz="1500" dirty="0"/>
              <a:t>Used these datasets as the base input for further analysis and machine-learning prediction. </a:t>
            </a:r>
            <a:endParaRPr lang="en-IN" sz="1500" dirty="0"/>
          </a:p>
          <a:p>
            <a:r>
              <a:rPr lang="en-IN" sz="1500" b="1" dirty="0"/>
              <a:t>2. Data Preprocessing</a:t>
            </a:r>
            <a:endParaRPr lang="en-IN" sz="1500" b="1" dirty="0"/>
          </a:p>
          <a:p>
            <a:pPr lvl="0"/>
            <a:r>
              <a:rPr lang="en-IN" sz="1500" dirty="0"/>
              <a:t>Checked the datasets for </a:t>
            </a:r>
            <a:r>
              <a:rPr lang="en-IN" sz="1500" b="1" dirty="0"/>
              <a:t>missing values, empty rows, duplicates, and inconsistent data</a:t>
            </a:r>
            <a:r>
              <a:rPr lang="en-IN" sz="1500" dirty="0"/>
              <a:t>. </a:t>
            </a:r>
            <a:endParaRPr lang="en-IN" sz="1500" dirty="0"/>
          </a:p>
          <a:p>
            <a:pPr lvl="0"/>
            <a:r>
              <a:rPr lang="en-IN" sz="1500" dirty="0"/>
              <a:t>Removed unnecessary rows and columns that did not contribute to the analysis. </a:t>
            </a:r>
            <a:endParaRPr lang="en-IN" sz="1500" dirty="0"/>
          </a:p>
          <a:p>
            <a:pPr lvl="0"/>
            <a:r>
              <a:rPr lang="en-IN" sz="1500" dirty="0"/>
              <a:t>Converted required attributes into appropriate </a:t>
            </a:r>
            <a:r>
              <a:rPr lang="en-IN" sz="1500" b="1" dirty="0"/>
              <a:t>numerical/data formats</a:t>
            </a:r>
            <a:r>
              <a:rPr lang="en-IN" sz="1500" dirty="0"/>
              <a:t>. </a:t>
            </a:r>
            <a:endParaRPr lang="en-IN" sz="1500" dirty="0"/>
          </a:p>
          <a:p>
            <a:pPr lvl="0"/>
            <a:r>
              <a:rPr lang="en-IN" sz="1500" dirty="0"/>
              <a:t>Handled missing numerical values and prepared clean datasets for machine learning. </a:t>
            </a:r>
            <a:endParaRPr lang="en-IN" sz="1500" dirty="0"/>
          </a:p>
          <a:p>
            <a:r>
              <a:rPr lang="en-IN" sz="1500" b="1" dirty="0"/>
              <a:t>3. Feature Selection</a:t>
            </a:r>
            <a:endParaRPr lang="en-IN" sz="1500" b="1" dirty="0"/>
          </a:p>
          <a:p>
            <a:pPr lvl="0"/>
            <a:r>
              <a:rPr lang="en-IN" sz="1500" dirty="0"/>
              <a:t>Identified the features that are most relevant to the prediction task. </a:t>
            </a:r>
            <a:endParaRPr lang="en-IN" sz="1500" dirty="0"/>
          </a:p>
          <a:p>
            <a:pPr lvl="0"/>
            <a:r>
              <a:rPr lang="en-IN" sz="1500" dirty="0"/>
              <a:t>Removed unnecessary or irrelevant attributes from the original datasets. </a:t>
            </a:r>
            <a:endParaRPr lang="en-IN" sz="1500" dirty="0"/>
          </a:p>
          <a:p>
            <a:pPr lvl="0"/>
            <a:r>
              <a:rPr lang="en-IN" sz="1500" dirty="0"/>
              <a:t>Created separate selected-feature datasets for </a:t>
            </a:r>
            <a:r>
              <a:rPr lang="en-IN" sz="1500" b="1" dirty="0"/>
              <a:t>Traffic, Weather, Accident, and GPS</a:t>
            </a:r>
            <a:r>
              <a:rPr lang="en-IN" sz="1500" dirty="0"/>
              <a:t>. </a:t>
            </a:r>
            <a:endParaRPr lang="en-IN" sz="1500" dirty="0"/>
          </a:p>
          <a:p>
            <a:pPr lvl="0"/>
            <a:r>
              <a:rPr lang="en-IN" sz="1500" dirty="0"/>
              <a:t>Used the selected features as input variables for the Random Forest model. </a:t>
            </a:r>
            <a:endParaRPr lang="en-IN" sz="1500" dirty="0"/>
          </a:p>
          <a:p>
            <a:r>
              <a:rPr lang="en-IN" sz="1500" b="1" dirty="0"/>
              <a:t>4. Target Variable Preparation</a:t>
            </a:r>
            <a:endParaRPr lang="en-IN" sz="1500" b="1" dirty="0"/>
          </a:p>
          <a:p>
            <a:pPr lvl="0"/>
            <a:r>
              <a:rPr lang="en-IN" sz="1500" dirty="0"/>
              <a:t>Identified the </a:t>
            </a:r>
            <a:r>
              <a:rPr lang="en-IN" sz="1500" b="1" dirty="0"/>
              <a:t>target/output column</a:t>
            </a:r>
            <a:r>
              <a:rPr lang="en-IN" sz="1500" dirty="0"/>
              <a:t> that the model needs to predict. </a:t>
            </a:r>
            <a:endParaRPr lang="en-IN" sz="1500" dirty="0"/>
          </a:p>
          <a:p>
            <a:pPr lvl="0"/>
            <a:r>
              <a:rPr lang="en-IN" sz="1500" dirty="0"/>
              <a:t>Separated the input features (</a:t>
            </a:r>
            <a:r>
              <a:rPr lang="en-IN" sz="1500" b="1" dirty="0"/>
              <a:t>X</a:t>
            </a:r>
            <a:r>
              <a:rPr lang="en-IN" sz="1500" dirty="0"/>
              <a:t>) from the target variable (</a:t>
            </a:r>
            <a:r>
              <a:rPr lang="en-IN" sz="1500" b="1" dirty="0"/>
              <a:t>y</a:t>
            </a:r>
            <a:r>
              <a:rPr lang="en-IN" sz="1500" dirty="0"/>
              <a:t>). </a:t>
            </a:r>
            <a:endParaRPr lang="en-IN" sz="1500" dirty="0"/>
          </a:p>
          <a:p>
            <a:pPr lvl="0"/>
            <a:r>
              <a:rPr lang="en-IN" sz="1500" dirty="0"/>
              <a:t>Converted categorical target values into numerical labels using </a:t>
            </a:r>
            <a:r>
              <a:rPr lang="en-IN" sz="1500" b="1" dirty="0"/>
              <a:t>Label Encoding</a:t>
            </a:r>
            <a:r>
              <a:rPr lang="en-IN" sz="1500" dirty="0"/>
              <a:t>. </a:t>
            </a:r>
            <a:endParaRPr lang="en-IN" sz="1500" dirty="0"/>
          </a:p>
          <a:p>
            <a:pPr lvl="0"/>
            <a:r>
              <a:rPr lang="en-IN" sz="1500" dirty="0"/>
              <a:t>Ensured that the target contains appropriate classes for classification. </a:t>
            </a:r>
            <a:endParaRPr lang="en-IN" sz="1500" dirty="0"/>
          </a:p>
          <a:p>
            <a:pPr lvl="0"/>
            <a:endParaRPr lang="en-IN" sz="1500" dirty="0"/>
          </a:p>
          <a:p>
            <a:pPr algn="just">
              <a:lnSpc>
                <a:spcPct val="100000"/>
              </a:lnSpc>
              <a:buNone/>
              <a:defRPr sz="2200"/>
            </a:pP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0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8806"/>
            <a:ext cx="8229600" cy="4947358"/>
          </a:xfrm>
        </p:spPr>
        <p:txBody>
          <a:bodyPr>
            <a:noAutofit/>
          </a:bodyPr>
          <a:lstStyle/>
          <a:p>
            <a:r>
              <a:rPr lang="en-IN" sz="1500" b="1" dirty="0"/>
              <a:t>5. Machine Learning</a:t>
            </a:r>
            <a:endParaRPr lang="en-IN" sz="1500" b="1" dirty="0"/>
          </a:p>
          <a:p>
            <a:pPr lvl="0"/>
            <a:r>
              <a:rPr lang="en-IN" sz="1500" dirty="0"/>
              <a:t>Implemented the </a:t>
            </a:r>
            <a:r>
              <a:rPr lang="en-IN" sz="1500" b="1" dirty="0"/>
              <a:t>Random Forest Classifier</a:t>
            </a:r>
            <a:r>
              <a:rPr lang="en-IN" sz="1500" dirty="0"/>
              <a:t> for the prediction tasks. </a:t>
            </a:r>
            <a:endParaRPr lang="en-IN" sz="1500" dirty="0"/>
          </a:p>
          <a:p>
            <a:pPr lvl="0"/>
            <a:r>
              <a:rPr lang="en-IN" sz="1500" dirty="0"/>
              <a:t>Trained the model using the selected features from the prepared datasets. </a:t>
            </a:r>
            <a:endParaRPr lang="en-IN" sz="1500" dirty="0"/>
          </a:p>
          <a:p>
            <a:pPr lvl="0"/>
            <a:r>
              <a:rPr lang="en-IN" sz="1500" dirty="0"/>
              <a:t>Used multiple decision trees within Random Forest to perform classification. </a:t>
            </a:r>
            <a:endParaRPr lang="en-IN" sz="1500" dirty="0"/>
          </a:p>
          <a:p>
            <a:pPr lvl="0"/>
            <a:r>
              <a:rPr lang="en-IN" sz="1500" dirty="0"/>
              <a:t>Created separate prediction modules for </a:t>
            </a:r>
            <a:r>
              <a:rPr lang="en-IN" sz="1500" b="1" dirty="0"/>
              <a:t>Traffic, Weather, Accident, and GPS</a:t>
            </a:r>
            <a:r>
              <a:rPr lang="en-IN" sz="1500" dirty="0"/>
              <a:t>. </a:t>
            </a:r>
            <a:endParaRPr lang="en-IN" sz="1500" dirty="0"/>
          </a:p>
          <a:p>
            <a:r>
              <a:rPr lang="en-IN" sz="1500" b="1" dirty="0"/>
              <a:t>6. Model Evaluation</a:t>
            </a:r>
            <a:endParaRPr lang="en-IN" sz="1500" b="1" dirty="0"/>
          </a:p>
          <a:p>
            <a:pPr lvl="0"/>
            <a:r>
              <a:rPr lang="en-IN" sz="1500" dirty="0"/>
              <a:t>Evaluated the classification model using standard performance metrics. </a:t>
            </a:r>
            <a:endParaRPr lang="en-IN" sz="1500" dirty="0"/>
          </a:p>
          <a:p>
            <a:pPr lvl="0"/>
            <a:r>
              <a:rPr lang="en-IN" sz="1500" dirty="0"/>
              <a:t>Calculated </a:t>
            </a:r>
            <a:r>
              <a:rPr lang="en-IN" sz="1500" b="1" dirty="0"/>
              <a:t>Accuracy</a:t>
            </a:r>
            <a:r>
              <a:rPr lang="en-IN" sz="1500" dirty="0"/>
              <a:t> to measure overall correct predictions. </a:t>
            </a:r>
            <a:endParaRPr lang="en-IN" sz="1500" dirty="0"/>
          </a:p>
          <a:p>
            <a:pPr lvl="0"/>
            <a:r>
              <a:rPr lang="en-IN" sz="1500" dirty="0"/>
              <a:t>Calculated </a:t>
            </a:r>
            <a:r>
              <a:rPr lang="en-IN" sz="1500" b="1" dirty="0"/>
              <a:t>Precision, Recall, and F1-score</a:t>
            </a:r>
            <a:r>
              <a:rPr lang="en-IN" sz="1500" dirty="0"/>
              <a:t> to evaluate classification performance. </a:t>
            </a:r>
            <a:endParaRPr lang="en-IN" sz="1500" dirty="0"/>
          </a:p>
          <a:p>
            <a:pPr lvl="0"/>
            <a:r>
              <a:rPr lang="en-IN" sz="1500" dirty="0"/>
              <a:t>Used these metrics to understand how effectively the model predicts the target classes. </a:t>
            </a:r>
            <a:endParaRPr lang="en-IN" sz="1500" dirty="0"/>
          </a:p>
          <a:p>
            <a:r>
              <a:rPr lang="en-IN" sz="1500" b="1" dirty="0"/>
              <a:t>7. Prediction</a:t>
            </a:r>
            <a:endParaRPr lang="en-IN" sz="1500" b="1" dirty="0"/>
          </a:p>
          <a:p>
            <a:pPr lvl="0"/>
            <a:r>
              <a:rPr lang="en-IN" sz="1500" dirty="0"/>
              <a:t>Allowed users to enter values for the selected features through the dashboard. </a:t>
            </a:r>
            <a:endParaRPr lang="en-IN" sz="1500" dirty="0"/>
          </a:p>
          <a:p>
            <a:pPr lvl="0"/>
            <a:r>
              <a:rPr lang="en-IN" sz="1500" dirty="0"/>
              <a:t>Passed the entered values to the trained Random Forest model. </a:t>
            </a:r>
            <a:endParaRPr lang="en-IN" sz="1500" dirty="0"/>
          </a:p>
          <a:p>
            <a:pPr lvl="0"/>
            <a:r>
              <a:rPr lang="en-IN" sz="1500" dirty="0"/>
              <a:t>Generated the predicted class for Traffic, Weather, Accident, or GPS. </a:t>
            </a:r>
            <a:endParaRPr lang="en-IN" sz="1500" dirty="0"/>
          </a:p>
          <a:p>
            <a:pPr lvl="0"/>
            <a:r>
              <a:rPr lang="en-IN" sz="1500" dirty="0"/>
              <a:t>Displayed the prediction and, where available, the </a:t>
            </a:r>
            <a:r>
              <a:rPr lang="en-IN" sz="1500" b="1" dirty="0"/>
              <a:t>prediction confidence/probabilities</a:t>
            </a:r>
            <a:r>
              <a:rPr lang="en-IN" sz="1500" dirty="0"/>
              <a:t>. </a:t>
            </a:r>
            <a:endParaRPr lang="en-IN" sz="1500" dirty="0"/>
          </a:p>
          <a:p>
            <a:r>
              <a:rPr lang="en-IN" sz="1500" b="1" dirty="0"/>
              <a:t>8. Dashboard Development</a:t>
            </a:r>
            <a:endParaRPr lang="en-IN" sz="1500" b="1" dirty="0"/>
          </a:p>
          <a:p>
            <a:pPr lvl="0"/>
            <a:r>
              <a:rPr lang="en-IN" sz="1500" dirty="0"/>
              <a:t>Developed an interactive dashboard using </a:t>
            </a:r>
            <a:r>
              <a:rPr lang="en-IN" sz="1500" b="1" dirty="0" err="1"/>
              <a:t>Streamlit</a:t>
            </a:r>
            <a:r>
              <a:rPr lang="en-IN" sz="1500" dirty="0"/>
              <a:t>. </a:t>
            </a:r>
            <a:endParaRPr lang="en-IN" sz="1500" dirty="0"/>
          </a:p>
          <a:p>
            <a:pPr lvl="0"/>
            <a:r>
              <a:rPr lang="en-IN" sz="1500" dirty="0"/>
              <a:t>Created separate sections for </a:t>
            </a:r>
            <a:r>
              <a:rPr lang="en-IN" sz="1500" b="1" dirty="0"/>
              <a:t>Traffic, Weather, Accident, and GPS Prediction</a:t>
            </a:r>
            <a:r>
              <a:rPr lang="en-IN" sz="1500" dirty="0"/>
              <a:t>. </a:t>
            </a:r>
            <a:endParaRPr lang="en-IN" sz="1500" dirty="0"/>
          </a:p>
          <a:p>
            <a:pPr lvl="0"/>
            <a:r>
              <a:rPr lang="en-IN" sz="1500" dirty="0"/>
              <a:t>Provided input fields so users can enter feature values interactively. </a:t>
            </a:r>
            <a:endParaRPr lang="en-IN" sz="1500" dirty="0"/>
          </a:p>
          <a:p>
            <a:endParaRPr lang="en-IN" sz="15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8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206220" cy="11788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6920" y="124460"/>
            <a:ext cx="5851525" cy="1017905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839" y="1142561"/>
            <a:ext cx="8677454" cy="49766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  <a:defRPr sz="2200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920605" y="36614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5" y="124460"/>
            <a:ext cx="1485265" cy="810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ChatGPT Image Sep 21, 2026, 09_20_27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1143000"/>
            <a:ext cx="8743315" cy="5622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165" y="274955"/>
            <a:ext cx="6985635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Modern Tools &amp; Technologies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76835" y="1346200"/>
          <a:ext cx="9025255" cy="538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565"/>
                <a:gridCol w="2743200"/>
                <a:gridCol w="3158490"/>
              </a:tblGrid>
              <a:tr h="519430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Tool / Technology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Purpose in the Project</a:t>
                      </a:r>
                      <a:endParaRPr lang="en-US" altLang="en-US"/>
                    </a:p>
                  </a:txBody>
                  <a:tcPr/>
                </a:tc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  <a:endParaRPr lang="en-US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Python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Core language for data analysis, preprocessing, ML, and project implementation</a:t>
                      </a:r>
                      <a:endParaRPr lang="en-US" altLang="en-US" sz="1200"/>
                    </a:p>
                  </a:txBody>
                  <a:tcPr/>
                </a:tc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Development Environment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Jupyter Notebook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Interactive data analysis, experimentation, and model development</a:t>
                      </a:r>
                      <a:endParaRPr lang="en-US" altLang="en-US" sz="1200"/>
                    </a:p>
                  </a:txBody>
                  <a:tcPr/>
                </a:tc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Data Processing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Pandas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Data loading, cleaning, transformation, and analysis</a:t>
                      </a:r>
                      <a:endParaRPr lang="en-US" altLang="en-US" sz="1200"/>
                    </a:p>
                  </a:txBody>
                  <a:tcPr/>
                </a:tc>
              </a:tr>
              <a:tr h="87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Data Visualization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Matplotlib,Seaborn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Creating charts, statistical plots, correlation analysis, and heatmaps to visualize and understand traffic and mobility patterns.</a:t>
                      </a:r>
                      <a:endParaRPr lang="en-US" altLang="en-US" sz="1200"/>
                    </a:p>
                  </a:txBody>
                  <a:tcPr/>
                </a:tc>
              </a:tr>
              <a:tr h="87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Machine Learning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Scikit-learn ,XGBoost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Developing, comparing, evaluating, and improving machine learning models for accident-risk prediction.</a:t>
                      </a:r>
                      <a:endParaRPr lang="en-US" altLang="en-US" sz="1200"/>
                    </a:p>
                  </a:txBody>
                  <a:tcPr/>
                </a:tc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Data Storage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CSV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Storing and managing GPS, weather, traffic, and accident datasets</a:t>
                      </a:r>
                      <a:endParaRPr lang="en-US" altLang="en-US" sz="1200"/>
                    </a:p>
                  </a:txBody>
                  <a:tcPr/>
                </a:tc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Dashboard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Streamlit</a:t>
                      </a:r>
                      <a:endParaRPr lang="en-US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Creating an interactive dashboard for mobility analysis and prediction</a:t>
                      </a:r>
                      <a:endParaRPr lang="en-US" altLang="en-US" sz="12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8434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7320" y="88265"/>
            <a:ext cx="1379220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490" y="274955"/>
            <a:ext cx="654431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</a:t>
            </a:r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"/>
          <a:srcRect t="8107"/>
          <a:stretch>
            <a:fillRect/>
          </a:stretch>
        </p:blipFill>
        <p:spPr>
          <a:xfrm>
            <a:off x="457200" y="2054860"/>
            <a:ext cx="8229600" cy="396621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203200"/>
            <a:ext cx="1633855" cy="848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"/>
          <a:srcRect t="10596"/>
          <a:stretch>
            <a:fillRect/>
          </a:stretch>
        </p:blipFill>
        <p:spPr>
          <a:xfrm>
            <a:off x="358775" y="1686560"/>
            <a:ext cx="8229600" cy="37560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11125"/>
            <a:ext cx="1650365" cy="941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5" y="375285"/>
            <a:ext cx="1650365" cy="94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435" y="1600200"/>
            <a:ext cx="777049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814195"/>
            <a:ext cx="8229600" cy="409702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0" y="281940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3425" y="111125"/>
            <a:ext cx="5805805" cy="10083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335" y="1539875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Cleaned GPS, weather, traffic, and accident data by handling missing and invalid records.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EDA Findings: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mobility patterns, traffic conditions, accident trends, and important correlations.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Created useful features from speed, travel time, weather, traffic, and location data.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Selected relevant features and reduced redundant data using correlation analysis.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Modeling: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Compared Decision Tree, Random Forest, XGBoost, and Logistic Regression for accident-risk prediction.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Outcome: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→ EDA → Features → ML Prediction → XAI → Dashboard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11125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985" y="274955"/>
            <a:ext cx="6774815" cy="1143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0360"/>
            <a:ext cx="8229600" cy="5019040"/>
          </a:xfrm>
        </p:spPr>
        <p:txBody>
          <a:bodyPr>
            <a:normAutofit fontScale="47500" lnSpcReduction="10000"/>
          </a:bodyPr>
          <a:lstStyle/>
          <a:p>
            <a:pPr marL="0" indent="0">
              <a:buNone/>
            </a:pPr>
            <a:r>
              <a:rPr lang="en-US" altLang="en-US" sz="375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US" altLang="en-US" sz="37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Evaluated Decision Tree, Random Forest, XGBoost, and Logistic Regression models.</a:t>
            </a: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altLang="en-US" sz="37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Used Accuracy, Precision, Recall, F1-Score, and ROC-AUC to measure model performance.</a:t>
            </a: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  <a:endParaRPr lang="en-US" altLang="en-US" sz="37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Compared the models based on their prediction performance and reliability.</a:t>
            </a: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 b="1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</a:t>
            </a:r>
            <a:endParaRPr lang="en-US" altLang="en-US" sz="37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Analysed confusion matrices to identify correct classifications and misclassified traffic conditions.</a:t>
            </a: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</a:t>
            </a:r>
            <a:endParaRPr lang="en-US" altLang="en-US" sz="37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Examined important traffic-related features to understand their contribution to the model's predictions.</a:t>
            </a: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 b="1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Outcome:</a:t>
            </a:r>
            <a:endParaRPr lang="en-US" altLang="en-US" sz="37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ML Models → Performance Metrics → Model Comparison → Explainable Predictions</a:t>
            </a:r>
            <a:endParaRPr lang="en-US" altLang="en-US" sz="37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336550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307347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6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13314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5575" y="0"/>
            <a:ext cx="2095500" cy="2047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4904</Words>
  <Application>WPS Presentation</Application>
  <PresentationFormat>On-screen Show (4:3)</PresentationFormat>
  <Paragraphs>179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Goudy Old Style</vt:lpstr>
      <vt:lpstr>Segoe UI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Methodology</vt:lpstr>
      <vt:lpstr>PowerPoint 演示文稿</vt:lpstr>
      <vt:lpstr>System Design</vt:lpstr>
      <vt:lpstr>Modern Tools &amp; Technologies</vt:lpstr>
      <vt:lpstr>Implementation</vt:lpstr>
      <vt:lpstr>PowerPoint 演示文稿</vt:lpstr>
      <vt:lpstr>PowerPoint 演示文稿</vt:lpstr>
      <vt:lpstr>PowerPoint 演示文稿</vt:lpstr>
      <vt:lpstr>Results</vt:lpstr>
      <vt:lpstr>Performance Evaluation</vt:lpstr>
      <vt:lpstr>  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dc:description>generated using python-pptx</dc:description>
  <cp:lastModifiedBy>mpsre</cp:lastModifiedBy>
  <cp:revision>268</cp:revision>
  <dcterms:created xsi:type="dcterms:W3CDTF">2013-01-27T09:14:00Z</dcterms:created>
  <dcterms:modified xsi:type="dcterms:W3CDTF">2026-09-21T03:53:09Z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50FF473BF09A46E4A6349F12E3C3BC65_13</vt:lpwstr>
  </property>
</Properties>
</file>